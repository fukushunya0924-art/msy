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26" Type="http://schemas.openxmlformats.org/officeDocument/2006/relationships/image" Target="../media/image50.png"/><Relationship Id="rId3" Type="http://schemas.openxmlformats.org/officeDocument/2006/relationships/image" Target="../media/image27.png"/><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image" Target="../media/image49.png"/><Relationship Id="rId2" Type="http://schemas.openxmlformats.org/officeDocument/2006/relationships/image" Target="../media/image26.png"/><Relationship Id="rId16" Type="http://schemas.openxmlformats.org/officeDocument/2006/relationships/image" Target="../media/image40.png"/><Relationship Id="rId20" Type="http://schemas.openxmlformats.org/officeDocument/2006/relationships/image" Target="../media/image44.png"/><Relationship Id="rId29"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png"/><Relationship Id="rId24" Type="http://schemas.openxmlformats.org/officeDocument/2006/relationships/image" Target="../media/image48.png"/><Relationship Id="rId5" Type="http://schemas.openxmlformats.org/officeDocument/2006/relationships/image" Target="../media/image29.png"/><Relationship Id="rId15" Type="http://schemas.openxmlformats.org/officeDocument/2006/relationships/image" Target="../media/image39.png"/><Relationship Id="rId23" Type="http://schemas.openxmlformats.org/officeDocument/2006/relationships/image" Target="../media/image47.png"/><Relationship Id="rId28" Type="http://schemas.openxmlformats.org/officeDocument/2006/relationships/image" Target="../media/image52.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 Id="rId27" Type="http://schemas.openxmlformats.org/officeDocument/2006/relationships/image" Target="../media/image51.png"/></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654"/>
        </a:solidFill>
        <a:effectLst/>
      </p:bgPr>
    </p:bg>
    <p:spTree>
      <p:nvGrpSpPr>
        <p:cNvPr id="1" name=""/>
        <p:cNvGrpSpPr/>
        <p:nvPr/>
      </p:nvGrpSpPr>
      <p:grpSpPr>
        <a:xfrm>
          <a:off x="0" y="0"/>
          <a:ext cx="0" cy="0"/>
          <a:chOff x="0" y="0"/>
          <a:chExt cx="0" cy="0"/>
        </a:xfrm>
      </p:grpSpPr>
      <p:sp>
        <p:nvSpPr>
          <p:cNvPr id="2" name="TextBox 1"/>
          <p:cNvSpPr txBox="1"/>
          <p:nvPr/>
        </p:nvSpPr>
        <p:spPr>
          <a:xfrm>
            <a:off x="11048695" y="6291072"/>
            <a:ext cx="640080" cy="274320"/>
          </a:xfrm>
          <a:prstGeom prst="rect">
            <a:avLst/>
          </a:prstGeom>
          <a:noFill/>
        </p:spPr>
        <p:txBody>
          <a:bodyPr wrap="none" lIns="0" tIns="0" rIns="0" bIns="0">
            <a:spAutoFit/>
          </a:bodyPr>
          <a:lstStyle/>
          <a:p>
            <a:pPr algn="r"/>
            <a:r>
              <a:rPr sz="1100" b="0">
                <a:solidFill>
                  <a:srgbClr val="8FA6C0"/>
                </a:solidFill>
                <a:latin typeface="Meiryo"/>
                <a:ea typeface="Meiryo"/>
                <a:cs typeface="Meiryo"/>
              </a:rPr>
              <a:t>1</a:t>
            </a:r>
          </a:p>
        </p:txBody>
      </p:sp>
      <p:sp>
        <p:nvSpPr>
          <p:cNvPr id="3" name="TextBox 2"/>
          <p:cNvSpPr txBox="1"/>
          <p:nvPr/>
        </p:nvSpPr>
        <p:spPr>
          <a:xfrm>
            <a:off x="914400" y="1783080"/>
            <a:ext cx="10362895" cy="1371600"/>
          </a:xfrm>
          <a:prstGeom prst="rect">
            <a:avLst/>
          </a:prstGeom>
          <a:noFill/>
        </p:spPr>
        <p:txBody>
          <a:bodyPr wrap="square" lIns="0" tIns="0" rIns="0" bIns="0" anchor="t">
            <a:spAutoFit/>
          </a:bodyPr>
          <a:lstStyle/>
          <a:p>
            <a:pPr algn="ctr">
              <a:lnSpc>
                <a:spcPct val="128000"/>
              </a:lnSpc>
              <a:spcAft>
                <a:spcPts val="600"/>
              </a:spcAft>
            </a:pPr>
            <a:r>
              <a:rPr sz="3200" b="1">
                <a:solidFill>
                  <a:srgbClr val="FFFFFF"/>
                </a:solidFill>
                <a:latin typeface="Meiryo"/>
                <a:ea typeface="Meiryo"/>
                <a:cs typeface="Meiryo"/>
              </a:rPr>
              <a:t>多種資源動態モデルを用いた
レジーム別最大持続生産量（MSY）の推定</a:t>
            </a:r>
          </a:p>
        </p:txBody>
      </p:sp>
      <p:sp>
        <p:nvSpPr>
          <p:cNvPr id="4" name="TextBox 3"/>
          <p:cNvSpPr txBox="1"/>
          <p:nvPr/>
        </p:nvSpPr>
        <p:spPr>
          <a:xfrm>
            <a:off x="914400" y="4160520"/>
            <a:ext cx="10362895" cy="1005840"/>
          </a:xfrm>
          <a:prstGeom prst="rect">
            <a:avLst/>
          </a:prstGeom>
          <a:noFill/>
        </p:spPr>
        <p:txBody>
          <a:bodyPr wrap="square" lIns="0" tIns="0" rIns="0" bIns="0" anchor="t">
            <a:spAutoFit/>
          </a:bodyPr>
          <a:lstStyle/>
          <a:p>
            <a:pPr algn="ctr">
              <a:lnSpc>
                <a:spcPct val="132000"/>
              </a:lnSpc>
              <a:spcAft>
                <a:spcPts val="1000"/>
              </a:spcAft>
            </a:pPr>
            <a:r>
              <a:rPr sz="2000" b="0">
                <a:solidFill>
                  <a:srgbClr val="FFFFFF"/>
                </a:solidFill>
                <a:latin typeface="Meiryo"/>
                <a:ea typeface="Meiryo"/>
                <a:cs typeface="Meiryo"/>
              </a:rPr>
              <a:t>福岡 駿也（名古屋大学）</a:t>
            </a:r>
          </a:p>
          <a:p>
            <a:pPr algn="ctr">
              <a:lnSpc>
                <a:spcPct val="132000"/>
              </a:lnSpc>
              <a:spcAft>
                <a:spcPts val="1000"/>
              </a:spcAft>
            </a:pPr>
            <a:r>
              <a:rPr sz="1500" b="0">
                <a:solidFill>
                  <a:srgbClr val="C9D6E4"/>
                </a:solidFill>
                <a:latin typeface="Meiryo"/>
                <a:ea typeface="Meiryo"/>
                <a:cs typeface="Meiryo"/>
              </a:rPr>
              <a:t>日本数理生物学会 2026年大会　2026年9月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黒潮の流れ方が変わると、近海の魚のとれ方も変わる</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a:t>
            </a:r>
          </a:p>
        </p:txBody>
      </p:sp>
      <p:sp>
        <p:nvSpPr>
          <p:cNvPr id="4" name="TextBox 3"/>
          <p:cNvSpPr txBox="1"/>
          <p:nvPr/>
        </p:nvSpPr>
        <p:spPr>
          <a:xfrm>
            <a:off x="566928" y="1170432"/>
            <a:ext cx="11057839" cy="457200"/>
          </a:xfrm>
          <a:prstGeom prst="rect">
            <a:avLst/>
          </a:prstGeom>
          <a:noFill/>
        </p:spPr>
        <p:txBody>
          <a:bodyPr wrap="square" lIns="0" tIns="0" rIns="0" bIns="0" anchor="t">
            <a:spAutoFit/>
          </a:bodyPr>
          <a:lstStyle/>
          <a:p>
            <a:pPr algn="l">
              <a:lnSpc>
                <a:spcPct val="132000"/>
              </a:lnSpc>
              <a:spcAft>
                <a:spcPts val="600"/>
              </a:spcAft>
            </a:pPr>
            <a:r>
              <a:rPr sz="1700" b="0">
                <a:solidFill>
                  <a:srgbClr val="222222"/>
                </a:solidFill>
                <a:latin typeface="Meiryo"/>
                <a:ea typeface="Meiryo"/>
                <a:cs typeface="Meiryo"/>
              </a:rPr>
              <a:t>本研究は、黒潮が大きく蛇行する時期とそうでない時期に分けて、4魚種の増減を同じ式で説明する。</a:t>
            </a:r>
          </a:p>
        </p:txBody>
      </p:sp>
      <p:pic>
        <p:nvPicPr>
          <p:cNvPr id="5" name="Picture 4" descr="01_資源量の移り変わり.png"/>
          <p:cNvPicPr>
            <a:picLocks noChangeAspect="1"/>
          </p:cNvPicPr>
          <p:nvPr/>
        </p:nvPicPr>
        <p:blipFill>
          <a:blip r:embed="rId2"/>
          <a:stretch>
            <a:fillRect/>
          </a:stretch>
        </p:blipFill>
        <p:spPr>
          <a:xfrm>
            <a:off x="566928" y="1874519"/>
            <a:ext cx="11055096" cy="2788920"/>
          </a:xfrm>
          <a:prstGeom prst="rect">
            <a:avLst/>
          </a:prstGeom>
        </p:spPr>
      </p:pic>
      <p:sp>
        <p:nvSpPr>
          <p:cNvPr id="6" name="figlabel"/>
          <p:cNvSpPr txBox="1"/>
          <p:nvPr/>
        </p:nvSpPr>
        <p:spPr>
          <a:xfrm>
            <a:off x="1847488" y="2004273"/>
            <a:ext cx="56007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マアジ</a:t>
            </a:r>
          </a:p>
        </p:txBody>
      </p:sp>
      <p:sp>
        <p:nvSpPr>
          <p:cNvPr id="7" name="figlabel"/>
          <p:cNvSpPr txBox="1"/>
          <p:nvPr/>
        </p:nvSpPr>
        <p:spPr>
          <a:xfrm>
            <a:off x="4363924" y="2004273"/>
            <a:ext cx="107442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ウルメイワシ</a:t>
            </a:r>
          </a:p>
        </p:txBody>
      </p:sp>
      <p:sp>
        <p:nvSpPr>
          <p:cNvPr id="8" name="figlabel"/>
          <p:cNvSpPr txBox="1"/>
          <p:nvPr/>
        </p:nvSpPr>
        <p:spPr>
          <a:xfrm>
            <a:off x="7480435" y="2004273"/>
            <a:ext cx="38862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ブリ</a:t>
            </a:r>
          </a:p>
        </p:txBody>
      </p:sp>
      <p:sp>
        <p:nvSpPr>
          <p:cNvPr id="9" name="figlabel"/>
          <p:cNvSpPr txBox="1"/>
          <p:nvPr/>
        </p:nvSpPr>
        <p:spPr>
          <a:xfrm>
            <a:off x="10168321" y="2004273"/>
            <a:ext cx="56007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サワラ</a:t>
            </a:r>
          </a:p>
        </p:txBody>
      </p:sp>
      <p:sp>
        <p:nvSpPr>
          <p:cNvPr id="10" name="figlabel"/>
          <p:cNvSpPr txBox="1"/>
          <p:nvPr/>
        </p:nvSpPr>
        <p:spPr>
          <a:xfrm>
            <a:off x="1592345" y="2386683"/>
            <a:ext cx="712470" cy="191642"/>
          </a:xfrm>
          <a:prstGeom prst="rect">
            <a:avLst/>
          </a:prstGeom>
          <a:noFill/>
        </p:spPr>
        <p:txBody>
          <a:bodyPr wrap="none" lIns="0" tIns="0" rIns="0" bIns="0" anchor="ctr">
            <a:spAutoFit/>
          </a:bodyPr>
          <a:lstStyle/>
          <a:p>
            <a:pPr algn="ctr">
              <a:lnSpc>
                <a:spcPct val="120000"/>
              </a:lnSpc>
              <a:spcAft>
                <a:spcPts val="0"/>
              </a:spcAft>
            </a:pPr>
            <a:r>
              <a:rPr sz="1050" b="0">
                <a:solidFill>
                  <a:srgbClr val="6E6E6E"/>
                </a:solidFill>
                <a:latin typeface="Meiryo"/>
                <a:ea typeface="Meiryo"/>
                <a:cs typeface="Meiryo"/>
              </a:rPr>
              <a:t>大蛇行なし</a:t>
            </a:r>
          </a:p>
        </p:txBody>
      </p:sp>
      <p:sp>
        <p:nvSpPr>
          <p:cNvPr id="11" name="figlabel"/>
          <p:cNvSpPr txBox="1"/>
          <p:nvPr/>
        </p:nvSpPr>
        <p:spPr>
          <a:xfrm>
            <a:off x="2709880" y="2386683"/>
            <a:ext cx="445770" cy="191642"/>
          </a:xfrm>
          <a:prstGeom prst="rect">
            <a:avLst/>
          </a:prstGeom>
          <a:noFill/>
        </p:spPr>
        <p:txBody>
          <a:bodyPr wrap="none" lIns="0" tIns="0" rIns="0" bIns="0" anchor="ctr">
            <a:spAutoFit/>
          </a:bodyPr>
          <a:lstStyle/>
          <a:p>
            <a:pPr algn="ctr">
              <a:lnSpc>
                <a:spcPct val="120000"/>
              </a:lnSpc>
              <a:spcAft>
                <a:spcPts val="0"/>
              </a:spcAft>
            </a:pPr>
            <a:r>
              <a:rPr sz="1050" b="0">
                <a:solidFill>
                  <a:srgbClr val="C0561A"/>
                </a:solidFill>
                <a:latin typeface="Meiryo"/>
                <a:ea typeface="Meiryo"/>
                <a:cs typeface="Meiryo"/>
              </a:rPr>
              <a:t>大蛇行</a:t>
            </a:r>
          </a:p>
        </p:txBody>
      </p:sp>
      <p:sp>
        <p:nvSpPr>
          <p:cNvPr id="12" name="figlabel"/>
          <p:cNvSpPr txBox="1"/>
          <p:nvPr/>
        </p:nvSpPr>
        <p:spPr>
          <a:xfrm>
            <a:off x="2470023" y="4461751"/>
            <a:ext cx="7248905" cy="208153"/>
          </a:xfrm>
          <a:prstGeom prst="rect">
            <a:avLst/>
          </a:prstGeom>
          <a:noFill/>
        </p:spPr>
        <p:txBody>
          <a:bodyPr wrap="none" lIns="0" tIns="0" rIns="0" bIns="0" anchor="ctr">
            <a:spAutoFit/>
          </a:bodyPr>
          <a:lstStyle/>
          <a:p>
            <a:pPr algn="ctr">
              <a:lnSpc>
                <a:spcPct val="120000"/>
              </a:lnSpc>
              <a:spcAft>
                <a:spcPts val="0"/>
              </a:spcAft>
            </a:pPr>
            <a:r>
              <a:rPr sz="1150" b="0">
                <a:solidFill>
                  <a:srgbClr val="6E6E6E"/>
                </a:solidFill>
                <a:latin typeface="Meiryo"/>
                <a:ea typeface="Meiryo"/>
                <a:cs typeface="Meiryo"/>
              </a:rPr>
              <a:t>縦軸＝資源量（千トン）　／　青い帯＝大蛇行なし（2006〜2016年）　／　橙の帯＝大蛇行（2017〜2024年）</a:t>
            </a:r>
          </a:p>
        </p:txBody>
      </p:sp>
      <p:sp>
        <p:nvSpPr>
          <p:cNvPr id="13" name="TextBox 12"/>
          <p:cNvSpPr txBox="1"/>
          <p:nvPr/>
        </p:nvSpPr>
        <p:spPr>
          <a:xfrm>
            <a:off x="566928" y="5212080"/>
            <a:ext cx="10326319" cy="457200"/>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※「大蛇行が原因で魚が減った」とは言わない。時期で分けて比べるだけにとどめる。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MSY（とっていい量の上限）の「山」を作っているのは何か</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3</a:t>
            </a:r>
          </a:p>
        </p:txBody>
      </p:sp>
      <p:sp>
        <p:nvSpPr>
          <p:cNvPr id="4" name="TextBox 3"/>
          <p:cNvSpPr txBox="1"/>
          <p:nvPr/>
        </p:nvSpPr>
        <p:spPr>
          <a:xfrm>
            <a:off x="566928" y="1170432"/>
            <a:ext cx="11057839" cy="457200"/>
          </a:xfrm>
          <a:prstGeom prst="rect">
            <a:avLst/>
          </a:prstGeom>
          <a:noFill/>
        </p:spPr>
        <p:txBody>
          <a:bodyPr wrap="square" lIns="0" tIns="0" rIns="0" bIns="0" anchor="t">
            <a:spAutoFit/>
          </a:bodyPr>
          <a:lstStyle/>
          <a:p>
            <a:pPr algn="l">
              <a:lnSpc>
                <a:spcPct val="132000"/>
              </a:lnSpc>
              <a:spcAft>
                <a:spcPts val="600"/>
              </a:spcAft>
            </a:pPr>
            <a:r>
              <a:rPr sz="1700" b="0">
                <a:solidFill>
                  <a:srgbClr val="222222"/>
                </a:solidFill>
                <a:latin typeface="Meiryo"/>
                <a:ea typeface="Meiryo"/>
                <a:cs typeface="Meiryo"/>
              </a:rPr>
              <a:t>魚が1種だけのモデルでは、とるほど増えにくくなる「混み合いの効果」が山を作る。</a:t>
            </a:r>
          </a:p>
        </p:txBody>
      </p:sp>
      <p:pic>
        <p:nvPicPr>
          <p:cNvPr id="5" name="Picture 4" descr="02_山ができる.png"/>
          <p:cNvPicPr>
            <a:picLocks noChangeAspect="1"/>
          </p:cNvPicPr>
          <p:nvPr/>
        </p:nvPicPr>
        <p:blipFill>
          <a:blip r:embed="rId2"/>
          <a:stretch>
            <a:fillRect/>
          </a:stretch>
        </p:blipFill>
        <p:spPr>
          <a:xfrm>
            <a:off x="566928" y="1737360"/>
            <a:ext cx="5212080" cy="3063240"/>
          </a:xfrm>
          <a:prstGeom prst="rect">
            <a:avLst/>
          </a:prstGeom>
        </p:spPr>
      </p:pic>
      <p:sp>
        <p:nvSpPr>
          <p:cNvPr id="6" name="figlabel"/>
          <p:cNvSpPr txBox="1"/>
          <p:nvPr/>
        </p:nvSpPr>
        <p:spPr>
          <a:xfrm>
            <a:off x="2225649" y="1781068"/>
            <a:ext cx="2363723" cy="241173"/>
          </a:xfrm>
          <a:prstGeom prst="rect">
            <a:avLst/>
          </a:prstGeom>
          <a:noFill/>
        </p:spPr>
        <p:txBody>
          <a:bodyPr wrap="none" lIns="0" tIns="0" rIns="0" bIns="0" anchor="ctr">
            <a:spAutoFit/>
          </a:bodyPr>
          <a:lstStyle/>
          <a:p>
            <a:pPr algn="ctr">
              <a:lnSpc>
                <a:spcPct val="120000"/>
              </a:lnSpc>
              <a:spcAft>
                <a:spcPts val="0"/>
              </a:spcAft>
            </a:pPr>
            <a:r>
              <a:rPr sz="1350" b="0">
                <a:solidFill>
                  <a:srgbClr val="1F4E79"/>
                </a:solidFill>
                <a:latin typeface="Meiryo"/>
                <a:ea typeface="Meiryo"/>
                <a:cs typeface="Meiryo"/>
              </a:rPr>
              <a:t>1種だけのモデル：山ができる</a:t>
            </a:r>
          </a:p>
        </p:txBody>
      </p:sp>
      <p:sp>
        <p:nvSpPr>
          <p:cNvPr id="7" name="figlabel"/>
          <p:cNvSpPr txBox="1"/>
          <p:nvPr/>
        </p:nvSpPr>
        <p:spPr>
          <a:xfrm>
            <a:off x="1970379" y="4524908"/>
            <a:ext cx="2874263"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漁獲率 f（1年に資源量の何割をとるか）</a:t>
            </a:r>
          </a:p>
        </p:txBody>
      </p:sp>
      <p:sp>
        <p:nvSpPr>
          <p:cNvPr id="8" name="figlabel"/>
          <p:cNvSpPr txBox="1"/>
          <p:nvPr/>
        </p:nvSpPr>
        <p:spPr>
          <a:xfrm>
            <a:off x="1300788" y="2131366"/>
            <a:ext cx="997965" cy="208153"/>
          </a:xfrm>
          <a:prstGeom prst="rect">
            <a:avLst/>
          </a:prstGeom>
          <a:noFill/>
        </p:spPr>
        <p:txBody>
          <a:bodyPr wrap="none" lIns="0" tIns="0" rIns="0" bIns="0" anchor="ctr">
            <a:spAutoFit/>
          </a:bodyPr>
          <a:lstStyle/>
          <a:p>
            <a:pPr algn="l">
              <a:lnSpc>
                <a:spcPct val="120000"/>
              </a:lnSpc>
              <a:spcAft>
                <a:spcPts val="0"/>
              </a:spcAft>
            </a:pPr>
            <a:r>
              <a:rPr sz="1150" b="0">
                <a:solidFill>
                  <a:srgbClr val="6E6E6E"/>
                </a:solidFill>
                <a:latin typeface="Meiryo"/>
                <a:ea typeface="Meiryo"/>
                <a:cs typeface="Meiryo"/>
              </a:rPr>
              <a:t>1年にとれる量</a:t>
            </a:r>
          </a:p>
        </p:txBody>
      </p:sp>
      <p:sp>
        <p:nvSpPr>
          <p:cNvPr id="9" name="figlabel"/>
          <p:cNvSpPr txBox="1"/>
          <p:nvPr/>
        </p:nvSpPr>
        <p:spPr>
          <a:xfrm>
            <a:off x="4242845" y="2811465"/>
            <a:ext cx="839470" cy="431038"/>
          </a:xfrm>
          <a:prstGeom prst="rect">
            <a:avLst/>
          </a:prstGeom>
          <a:noFill/>
        </p:spPr>
        <p:txBody>
          <a:bodyPr wrap="none" lIns="0" tIns="0" rIns="0" bIns="0" anchor="ctr">
            <a:spAutoFit/>
          </a:bodyPr>
          <a:lstStyle/>
          <a:p>
            <a:pPr algn="ctr">
              <a:lnSpc>
                <a:spcPct val="120000"/>
              </a:lnSpc>
              <a:spcAft>
                <a:spcPts val="0"/>
              </a:spcAft>
            </a:pPr>
            <a:r>
              <a:rPr sz="1250" b="0">
                <a:solidFill>
                  <a:srgbClr val="C0561A"/>
                </a:solidFill>
                <a:latin typeface="Meiryo"/>
                <a:ea typeface="Meiryo"/>
                <a:cs typeface="Meiryo"/>
              </a:rPr>
              <a:t>ここが最大</a:t>
            </a:r>
          </a:p>
          <a:p>
            <a:pPr algn="ctr">
              <a:lnSpc>
                <a:spcPct val="120000"/>
              </a:lnSpc>
              <a:spcAft>
                <a:spcPts val="0"/>
              </a:spcAft>
            </a:pPr>
            <a:r>
              <a:rPr sz="1250" b="0">
                <a:solidFill>
                  <a:srgbClr val="C0561A"/>
                </a:solidFill>
                <a:latin typeface="Meiryo"/>
                <a:ea typeface="Meiryo"/>
                <a:cs typeface="Meiryo"/>
              </a:rPr>
              <a:t>（MSY）</a:t>
            </a:r>
          </a:p>
        </p:txBody>
      </p:sp>
      <p:sp>
        <p:nvSpPr>
          <p:cNvPr id="10" name="TextBox 9"/>
          <p:cNvSpPr txBox="1"/>
          <p:nvPr/>
        </p:nvSpPr>
        <p:spPr>
          <a:xfrm>
            <a:off x="6172200" y="1783080"/>
            <a:ext cx="5440680" cy="365760"/>
          </a:xfrm>
          <a:prstGeom prst="rect">
            <a:avLst/>
          </a:prstGeom>
          <a:noFill/>
        </p:spPr>
        <p:txBody>
          <a:bodyPr wrap="square" lIns="0" tIns="0" rIns="0" bIns="0" anchor="t">
            <a:spAutoFit/>
          </a:bodyPr>
          <a:lstStyle/>
          <a:p>
            <a:pPr algn="l">
              <a:lnSpc>
                <a:spcPct val="132000"/>
              </a:lnSpc>
              <a:spcAft>
                <a:spcPts val="600"/>
              </a:spcAft>
            </a:pPr>
            <a:r>
              <a:rPr sz="1800" b="1">
                <a:solidFill>
                  <a:srgbClr val="1F4E79"/>
                </a:solidFill>
                <a:latin typeface="Meiryo"/>
                <a:ea typeface="Meiryo"/>
                <a:cs typeface="Meiryo"/>
              </a:rPr>
              <a:t>山ができる理由</a:t>
            </a:r>
          </a:p>
        </p:txBody>
      </p:sp>
      <p:sp>
        <p:nvSpPr>
          <p:cNvPr id="11" name="TextBox 10"/>
          <p:cNvSpPr txBox="1"/>
          <p:nvPr/>
        </p:nvSpPr>
        <p:spPr>
          <a:xfrm>
            <a:off x="6172200" y="2286000"/>
            <a:ext cx="5440680" cy="640080"/>
          </a:xfrm>
          <a:prstGeom prst="rect">
            <a:avLst/>
          </a:prstGeom>
          <a:noFill/>
        </p:spPr>
        <p:txBody>
          <a:bodyPr wrap="square" lIns="0" tIns="0" rIns="0" bIns="0" anchor="t">
            <a:spAutoFit/>
          </a:bodyPr>
          <a:lstStyle/>
          <a:p>
            <a:pPr algn="l">
              <a:lnSpc>
                <a:spcPct val="132000"/>
              </a:lnSpc>
              <a:spcAft>
                <a:spcPts val="600"/>
              </a:spcAft>
            </a:pPr>
            <a:r>
              <a:rPr sz="1550" b="0">
                <a:solidFill>
                  <a:srgbClr val="222222"/>
                </a:solidFill>
                <a:latin typeface="Meiryo"/>
                <a:ea typeface="Meiryo"/>
                <a:cs typeface="Meiryo"/>
              </a:rPr>
              <a:t>とればとるほど魚が減り、増えにくくなる。この効果が式に入っていると、</a:t>
            </a:r>
          </a:p>
        </p:txBody>
      </p:sp>
      <mc:AlternateContent xmlns:mc="http://schemas.openxmlformats.org/markup-compatibility/2006">
        <mc:Choice xmlns:a14="http://schemas.microsoft.com/office/drawing/2010/main" Requires="a14">
          <p:sp>
            <p:nvSpPr>
              <p:cNvPr id="12" name="TextBox 11"/>
              <p:cNvSpPr txBox="1"/>
              <p:nvPr/>
            </p:nvSpPr>
            <p:spPr>
              <a:xfrm>
                <a:off x="6355080" y="3017520"/>
                <a:ext cx="5257800" cy="1280160"/>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𝐵</m:t>
                          </m:r>
                        </m:e>
                        <m:sup>
                          <m:r>
                            <a:rPr lang="en-US" sz="1600" b="0" i="0" dirty="0">
                              <a:solidFill>
                                <a:srgbClr val="222222"/>
                              </a:solidFill>
                              <a:latin typeface="Cambria Math" panose="02040503050406030204" pitchFamily="18" charset="0"/>
                            </a:rPr>
                            <m:t>∗</m:t>
                          </m:r>
                        </m:sup>
                      </m:sSup>
                      <m:d>
                        <m:dPr>
                          <m:ctrlPr>
                            <a:rPr lang="en-US" sz="1600" b="0" i="1" dirty="0">
                              <a:solidFill>
                                <a:srgbClr val="222222"/>
                              </a:solidFill>
                              <a:latin typeface="Cambria Math" panose="02040503050406030204" pitchFamily="18" charset="0"/>
                            </a:rPr>
                          </m:ctrlPr>
                        </m:dPr>
                        <m:e>
                          <m:r>
                            <a:rPr lang="en-US" sz="1600" b="0" i="1" dirty="0">
                              <a:solidFill>
                                <a:srgbClr val="222222"/>
                              </a:solidFill>
                              <a:latin typeface="Cambria Math" panose="02040503050406030204" pitchFamily="18" charset="0"/>
                            </a:rPr>
                            <m:t>𝑓</m:t>
                          </m:r>
                        </m:e>
                      </m:d>
                      <m:r>
                        <a:rPr lang="en-US" sz="1600" b="0" i="0" dirty="0">
                          <a:solidFill>
                            <a:srgbClr val="222222"/>
                          </a:solidFill>
                          <a:latin typeface="Cambria Math" panose="02040503050406030204" pitchFamily="18" charset="0"/>
                        </a:rPr>
                        <m:t> = </m:t>
                      </m:r>
                      <m:r>
                        <a:rPr lang="en-US" sz="1600" b="0" i="1" dirty="0">
                          <a:solidFill>
                            <a:srgbClr val="222222"/>
                          </a:solidFill>
                          <a:latin typeface="Cambria Math" panose="02040503050406030204" pitchFamily="18" charset="0"/>
                        </a:rPr>
                        <m:t>𝐾</m:t>
                      </m:r>
                      <m:d>
                        <m:dPr>
                          <m:ctrlPr>
                            <a:rPr lang="en-US" sz="1600" b="0" i="1" dirty="0">
                              <a:solidFill>
                                <a:srgbClr val="222222"/>
                              </a:solidFill>
                              <a:latin typeface="Cambria Math" panose="02040503050406030204" pitchFamily="18" charset="0"/>
                            </a:rPr>
                          </m:ctrlPr>
                        </m:dPr>
                        <m:e>
                          <m:r>
                            <a:rPr lang="en-US" sz="1600" b="0" i="0" dirty="0">
                              <a:solidFill>
                                <a:srgbClr val="222222"/>
                              </a:solidFill>
                              <a:latin typeface="Cambria Math" panose="02040503050406030204" pitchFamily="18" charset="0"/>
                            </a:rPr>
                            <m:t>1 − </m:t>
                          </m:r>
                          <m:f>
                            <m:fPr>
                              <m:ctrlPr>
                                <a:rPr lang="en-US" sz="1600" b="0" i="1" dirty="0">
                                  <a:solidFill>
                                    <a:srgbClr val="222222"/>
                                  </a:solidFill>
                                  <a:latin typeface="Cambria Math" panose="02040503050406030204" pitchFamily="18" charset="0"/>
                                </a:rPr>
                              </m:ctrlPr>
                            </m:fPr>
                            <m:num>
                              <m:r>
                                <a:rPr lang="en-US" sz="1600" b="0" i="1" dirty="0">
                                  <a:solidFill>
                                    <a:srgbClr val="222222"/>
                                  </a:solidFill>
                                  <a:latin typeface="Cambria Math" panose="02040503050406030204" pitchFamily="18" charset="0"/>
                                </a:rPr>
                                <m:t>𝑓</m:t>
                              </m:r>
                            </m:num>
                            <m:den>
                              <m:r>
                                <a:rPr lang="en-US" sz="1600" b="0" i="1" dirty="0">
                                  <a:solidFill>
                                    <a:srgbClr val="222222"/>
                                  </a:solidFill>
                                  <a:latin typeface="Cambria Math" panose="02040503050406030204" pitchFamily="18" charset="0"/>
                                </a:rPr>
                                <m:t>𝑟</m:t>
                              </m:r>
                            </m:den>
                          </m:f>
                        </m:e>
                      </m:d>
                    </m:oMath>
                  </m:oMathPara>
                </a14:m>
                <a:endParaRPr lang="en-US" sz="1600" dirty="0"/>
              </a:p>
              <a:p>
                <a:pPr marL="0" indent="0">
                  <a:spcAft>
                    <a:spcPts val="700"/>
                  </a:spcAft>
                </a:pPr>
                <a14:m>
                  <m:oMathPara xmlns:m="http://schemas.openxmlformats.org/officeDocument/2006/math">
                    <m:oMathParaPr>
                      <m:jc m:val="left"/>
                    </m:oMathParaPr>
                    <m:oMath xmlns:m="http://schemas.openxmlformats.org/officeDocument/2006/math">
                      <m:r>
                        <a:rPr lang="en-US" sz="1600" b="0" i="1" dirty="0">
                          <a:solidFill>
                            <a:srgbClr val="222222"/>
                          </a:solidFill>
                          <a:latin typeface="Cambria Math" panose="02040503050406030204" pitchFamily="18" charset="0"/>
                        </a:rPr>
                        <m:t>𝑌</m:t>
                      </m:r>
                      <m:d>
                        <m:dPr>
                          <m:ctrlPr>
                            <a:rPr lang="en-US" sz="1600" b="0" i="1" dirty="0">
                              <a:solidFill>
                                <a:srgbClr val="222222"/>
                              </a:solidFill>
                              <a:latin typeface="Cambria Math" panose="02040503050406030204" pitchFamily="18" charset="0"/>
                            </a:rPr>
                          </m:ctrlPr>
                        </m:dPr>
                        <m:e>
                          <m:r>
                            <a:rPr lang="en-US" sz="1600" b="0" i="1" dirty="0">
                              <a:solidFill>
                                <a:srgbClr val="222222"/>
                              </a:solidFill>
                              <a:latin typeface="Cambria Math" panose="02040503050406030204" pitchFamily="18" charset="0"/>
                            </a:rPr>
                            <m:t>𝑓</m:t>
                          </m:r>
                        </m:e>
                      </m:d>
                      <m:r>
                        <a:rPr lang="en-US" sz="1600" b="0" i="0" dirty="0">
                          <a:solidFill>
                            <a:srgbClr val="222222"/>
                          </a:solidFill>
                          <a:latin typeface="Cambria Math" panose="02040503050406030204" pitchFamily="18" charset="0"/>
                        </a:rPr>
                        <m:t> = </m:t>
                      </m:r>
                      <m:r>
                        <a:rPr lang="en-US" sz="1600" b="0" i="1" dirty="0">
                          <a:solidFill>
                            <a:srgbClr val="222222"/>
                          </a:solidFill>
                          <a:latin typeface="Cambria Math" panose="02040503050406030204" pitchFamily="18" charset="0"/>
                        </a:rPr>
                        <m:t>𝐾𝑓</m:t>
                      </m:r>
                      <m:r>
                        <a:rPr lang="en-US" sz="1600" b="0" i="0" dirty="0">
                          <a:solidFill>
                            <a:srgbClr val="222222"/>
                          </a:solidFill>
                          <a:latin typeface="Cambria Math" panose="02040503050406030204" pitchFamily="18" charset="0"/>
                        </a:rPr>
                        <m:t> − </m:t>
                      </m:r>
                      <m:f>
                        <m:fPr>
                          <m:ctrlPr>
                            <a:rPr lang="en-US" sz="1600" b="0" i="1" dirty="0">
                              <a:solidFill>
                                <a:srgbClr val="222222"/>
                              </a:solidFill>
                              <a:latin typeface="Cambria Math" panose="02040503050406030204" pitchFamily="18" charset="0"/>
                            </a:rPr>
                          </m:ctrlPr>
                        </m:fPr>
                        <m:num>
                          <m:r>
                            <a:rPr lang="en-US" sz="1600" b="0" i="1" dirty="0">
                              <a:solidFill>
                                <a:srgbClr val="222222"/>
                              </a:solidFill>
                              <a:latin typeface="Cambria Math" panose="02040503050406030204" pitchFamily="18" charset="0"/>
                            </a:rPr>
                            <m:t>𝐾</m:t>
                          </m:r>
                        </m:num>
                        <m:den>
                          <m:r>
                            <a:rPr lang="en-US" sz="1600" b="0" i="1" dirty="0">
                              <a:solidFill>
                                <a:srgbClr val="222222"/>
                              </a:solidFill>
                              <a:latin typeface="Cambria Math" panose="02040503050406030204" pitchFamily="18" charset="0"/>
                            </a:rPr>
                            <m:t>𝑟</m:t>
                          </m:r>
                        </m:den>
                      </m:f>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𝑓</m:t>
                          </m:r>
                        </m:e>
                        <m:sup>
                          <m:r>
                            <a:rPr lang="en-US" sz="1600" b="0" i="0" dirty="0">
                              <a:solidFill>
                                <a:srgbClr val="222222"/>
                              </a:solidFill>
                              <a:latin typeface="Cambria Math" panose="02040503050406030204" pitchFamily="18" charset="0"/>
                            </a:rPr>
                            <m:t>2</m:t>
                          </m:r>
                        </m:sup>
                      </m:sSup>
                    </m:oMath>
                  </m:oMathPara>
                </a14:m>
                <a:endParaRPr lang="en-US" sz="1600" dirty="0"/>
              </a:p>
            </p:txBody>
          </p:sp>
        </mc:Choice>
        <mc:Fallback>
          <p:sp>
            <p:nvSpPr>
              <p:cNvPr id="12" name="TextBox 11"/>
              <p:cNvSpPr txBox="1">
                <a:spLocks noRot="1" noChangeAspect="1" noMove="1" noResize="1" noEditPoints="1" noAdjustHandles="1" noChangeArrowheads="1" noChangeShapeType="1" noTextEdit="1"/>
              </p:cNvSpPr>
              <p:nvPr/>
            </p:nvSpPr>
            <p:spPr>
              <a:xfrm>
                <a:off x="6355080" y="3017520"/>
                <a:ext cx="5257800" cy="1280160"/>
              </a:xfrm>
              <a:prstGeom prst="rect">
                <a:avLst/>
              </a:prstGeom>
              <a:blipFill>
                <a:blip r:embed="rId3"/>
                <a:stretch>
                  <a:fillRect l="-1446" t="-980"/>
                </a:stretch>
              </a:blipFill>
            </p:spPr>
            <p:txBody>
              <a:bodyPr/>
              <a:lstStyle/>
              <a:p>
                <a:r>
                  <a:rPr lang="ja-JP" altLang="en-US">
                    <a:noFill/>
                  </a:rPr>
                  <a:t> </a:t>
                </a:r>
              </a:p>
            </p:txBody>
          </p:sp>
        </mc:Fallback>
      </mc:AlternateContent>
      <p:sp>
        <p:nvSpPr>
          <p:cNvPr id="13" name="Rectangle 12"/>
          <p:cNvSpPr/>
          <p:nvPr/>
        </p:nvSpPr>
        <p:spPr>
          <a:xfrm>
            <a:off x="6172200" y="4434840"/>
            <a:ext cx="5440680" cy="56692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327648" y="4553712"/>
            <a:ext cx="5129784" cy="365760"/>
          </a:xfrm>
          <a:prstGeom prst="rect">
            <a:avLst/>
          </a:prstGeom>
          <a:noFill/>
        </p:spPr>
        <p:txBody>
          <a:bodyPr wrap="square" lIns="0" tIns="0" rIns="0" bIns="0" anchor="t">
            <a:spAutoFit/>
          </a:bodyPr>
          <a:lstStyle/>
          <a:p>
            <a:pPr algn="l">
              <a:lnSpc>
                <a:spcPct val="132000"/>
              </a:lnSpc>
              <a:spcAft>
                <a:spcPts val="600"/>
              </a:spcAft>
            </a:pPr>
            <a:r>
              <a:rPr sz="1550" b="1">
                <a:solidFill>
                  <a:srgbClr val="C0561A"/>
                </a:solidFill>
                <a:latin typeface="Meiryo"/>
                <a:ea typeface="Meiryo"/>
                <a:cs typeface="Meiryo"/>
              </a:rPr>
              <a:t>2乗の項があるから山になる</a:t>
            </a:r>
          </a:p>
        </p:txBody>
      </p:sp>
      <p:sp>
        <p:nvSpPr>
          <p:cNvPr id="15" name="Rectangle 14"/>
          <p:cNvSpPr/>
          <p:nvPr/>
        </p:nvSpPr>
        <p:spPr>
          <a:xfrm>
            <a:off x="566928" y="5285232"/>
            <a:ext cx="11057839" cy="868680"/>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68096" y="5413248"/>
            <a:ext cx="10655503" cy="658368"/>
          </a:xfrm>
          <a:prstGeom prst="rect">
            <a:avLst/>
          </a:prstGeom>
          <a:noFill/>
        </p:spPr>
        <p:txBody>
          <a:bodyPr wrap="square" lIns="0" tIns="0" rIns="0" bIns="0" anchor="t">
            <a:spAutoFit/>
          </a:bodyPr>
          <a:lstStyle/>
          <a:p>
            <a:pPr algn="l">
              <a:lnSpc>
                <a:spcPct val="132000"/>
              </a:lnSpc>
              <a:spcAft>
                <a:spcPts val="400"/>
              </a:spcAft>
            </a:pPr>
            <a:r>
              <a:rPr sz="1800" b="1">
                <a:solidFill>
                  <a:srgbClr val="C0561A"/>
                </a:solidFill>
                <a:latin typeface="Meiryo"/>
                <a:ea typeface="Meiryo"/>
                <a:cs typeface="Meiryo"/>
              </a:rPr>
              <a:t>問い：混み合いの効果を入れない多種のモデルでは、MSY はどう決まるのか。</a:t>
            </a:r>
          </a:p>
          <a:p>
            <a:pPr algn="l">
              <a:lnSpc>
                <a:spcPct val="132000"/>
              </a:lnSpc>
              <a:spcAft>
                <a:spcPts val="400"/>
              </a:spcAft>
            </a:pPr>
            <a:r>
              <a:rPr sz="1600" b="0">
                <a:solidFill>
                  <a:srgbClr val="222222"/>
                </a:solidFill>
                <a:latin typeface="Meiryo"/>
                <a:ea typeface="Meiryo"/>
                <a:cs typeface="Meiryo"/>
              </a:rPr>
              <a:t>本発表の答え：内側には決まらない。報告される値は、探索範囲の上限そのものになる。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餌の魚2種と、それを食べる魚2種</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4</a:t>
            </a:r>
          </a:p>
        </p:txBody>
      </p:sp>
      <p:sp>
        <p:nvSpPr>
          <p:cNvPr id="4" name="Rectangle 3"/>
          <p:cNvSpPr/>
          <p:nvPr/>
        </p:nvSpPr>
        <p:spPr>
          <a:xfrm>
            <a:off x="1417320" y="1554480"/>
            <a:ext cx="1920240" cy="47548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417320" y="1673352"/>
            <a:ext cx="1920240" cy="274320"/>
          </a:xfrm>
          <a:prstGeom prst="rect">
            <a:avLst/>
          </a:prstGeom>
          <a:noFill/>
        </p:spPr>
        <p:txBody>
          <a:bodyPr wrap="square" lIns="0" tIns="0" rIns="0" bIns="0" anchor="t">
            <a:spAutoFit/>
          </a:bodyPr>
          <a:lstStyle/>
          <a:p>
            <a:pPr algn="ctr">
              <a:lnSpc>
                <a:spcPct val="132000"/>
              </a:lnSpc>
              <a:spcAft>
                <a:spcPts val="600"/>
              </a:spcAft>
            </a:pPr>
            <a:r>
              <a:rPr sz="1400" b="0">
                <a:solidFill>
                  <a:srgbClr val="222222"/>
                </a:solidFill>
                <a:latin typeface="Meiryo"/>
                <a:ea typeface="Meiryo"/>
                <a:cs typeface="Meiryo"/>
              </a:rPr>
              <a:t>ブリ  y1</a:t>
            </a:r>
          </a:p>
        </p:txBody>
      </p:sp>
      <p:sp>
        <p:nvSpPr>
          <p:cNvPr id="6" name="Rectangle 5"/>
          <p:cNvSpPr/>
          <p:nvPr/>
        </p:nvSpPr>
        <p:spPr>
          <a:xfrm>
            <a:off x="3794760" y="1554480"/>
            <a:ext cx="1920240" cy="47548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3794760" y="1673352"/>
            <a:ext cx="1920240" cy="274320"/>
          </a:xfrm>
          <a:prstGeom prst="rect">
            <a:avLst/>
          </a:prstGeom>
          <a:noFill/>
        </p:spPr>
        <p:txBody>
          <a:bodyPr wrap="square" lIns="0" tIns="0" rIns="0" bIns="0" anchor="t">
            <a:spAutoFit/>
          </a:bodyPr>
          <a:lstStyle/>
          <a:p>
            <a:pPr algn="ctr">
              <a:lnSpc>
                <a:spcPct val="132000"/>
              </a:lnSpc>
              <a:spcAft>
                <a:spcPts val="600"/>
              </a:spcAft>
            </a:pPr>
            <a:r>
              <a:rPr sz="1400" b="0">
                <a:solidFill>
                  <a:srgbClr val="222222"/>
                </a:solidFill>
                <a:latin typeface="Meiryo"/>
                <a:ea typeface="Meiryo"/>
                <a:cs typeface="Meiryo"/>
              </a:rPr>
              <a:t>サワラ  y2</a:t>
            </a:r>
          </a:p>
        </p:txBody>
      </p:sp>
      <p:sp>
        <p:nvSpPr>
          <p:cNvPr id="8" name="Rectangle 7"/>
          <p:cNvSpPr/>
          <p:nvPr/>
        </p:nvSpPr>
        <p:spPr>
          <a:xfrm>
            <a:off x="1417320" y="3200400"/>
            <a:ext cx="1920240" cy="475488"/>
          </a:xfrm>
          <a:prstGeom prst="rect">
            <a:avLst/>
          </a:prstGeom>
          <a:solidFill>
            <a:srgbClr val="F2F5F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417320" y="3319272"/>
            <a:ext cx="1920240" cy="274320"/>
          </a:xfrm>
          <a:prstGeom prst="rect">
            <a:avLst/>
          </a:prstGeom>
          <a:noFill/>
        </p:spPr>
        <p:txBody>
          <a:bodyPr wrap="square" lIns="0" tIns="0" rIns="0" bIns="0" anchor="t">
            <a:spAutoFit/>
          </a:bodyPr>
          <a:lstStyle/>
          <a:p>
            <a:pPr algn="ctr">
              <a:lnSpc>
                <a:spcPct val="132000"/>
              </a:lnSpc>
              <a:spcAft>
                <a:spcPts val="600"/>
              </a:spcAft>
            </a:pPr>
            <a:r>
              <a:rPr sz="1400" b="0">
                <a:solidFill>
                  <a:srgbClr val="222222"/>
                </a:solidFill>
                <a:latin typeface="Meiryo"/>
                <a:ea typeface="Meiryo"/>
                <a:cs typeface="Meiryo"/>
              </a:rPr>
              <a:t>マアジ  x1</a:t>
            </a:r>
          </a:p>
        </p:txBody>
      </p:sp>
      <p:sp>
        <p:nvSpPr>
          <p:cNvPr id="10" name="Rectangle 9"/>
          <p:cNvSpPr/>
          <p:nvPr/>
        </p:nvSpPr>
        <p:spPr>
          <a:xfrm>
            <a:off x="3794760" y="3200400"/>
            <a:ext cx="1920240" cy="475488"/>
          </a:xfrm>
          <a:prstGeom prst="rect">
            <a:avLst/>
          </a:prstGeom>
          <a:solidFill>
            <a:srgbClr val="F2F5F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794760" y="3319272"/>
            <a:ext cx="1920240" cy="274320"/>
          </a:xfrm>
          <a:prstGeom prst="rect">
            <a:avLst/>
          </a:prstGeom>
          <a:noFill/>
        </p:spPr>
        <p:txBody>
          <a:bodyPr wrap="square" lIns="0" tIns="0" rIns="0" bIns="0" anchor="t">
            <a:spAutoFit/>
          </a:bodyPr>
          <a:lstStyle/>
          <a:p>
            <a:pPr algn="ctr">
              <a:lnSpc>
                <a:spcPct val="132000"/>
              </a:lnSpc>
              <a:spcAft>
                <a:spcPts val="600"/>
              </a:spcAft>
            </a:pPr>
            <a:r>
              <a:rPr sz="1400" b="0">
                <a:solidFill>
                  <a:srgbClr val="222222"/>
                </a:solidFill>
                <a:latin typeface="Meiryo"/>
                <a:ea typeface="Meiryo"/>
                <a:cs typeface="Meiryo"/>
              </a:rPr>
              <a:t>ウルメイワシ  x2</a:t>
            </a:r>
          </a:p>
        </p:txBody>
      </p:sp>
      <p:cxnSp>
        <p:nvCxnSpPr>
          <p:cNvPr id="12" name="Connector 11"/>
          <p:cNvCxnSpPr/>
          <p:nvPr/>
        </p:nvCxnSpPr>
        <p:spPr>
          <a:xfrm flipV="1">
            <a:off x="2377440" y="2029968"/>
            <a:ext cx="0" cy="1170432"/>
          </a:xfrm>
          <a:prstGeom prst="line">
            <a:avLst/>
          </a:prstGeom>
          <a:ln w="1905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377440" y="2029968"/>
            <a:ext cx="2377440" cy="1170432"/>
          </a:xfrm>
          <a:prstGeom prst="line">
            <a:avLst/>
          </a:prstGeom>
          <a:ln w="1905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377440" y="2029968"/>
            <a:ext cx="2377440" cy="1170432"/>
          </a:xfrm>
          <a:prstGeom prst="line">
            <a:avLst/>
          </a:prstGeom>
          <a:ln w="1905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754880" y="2029968"/>
            <a:ext cx="0" cy="1170432"/>
          </a:xfrm>
          <a:prstGeom prst="line">
            <a:avLst/>
          </a:prstGeom>
          <a:ln w="1905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1645920"/>
            <a:ext cx="822960" cy="274320"/>
          </a:xfrm>
          <a:prstGeom prst="rect">
            <a:avLst/>
          </a:prstGeom>
          <a:noFill/>
        </p:spPr>
        <p:txBody>
          <a:bodyPr wrap="square" lIns="0" tIns="0" rIns="0" bIns="0" anchor="t">
            <a:spAutoFit/>
          </a:bodyPr>
          <a:lstStyle/>
          <a:p>
            <a:pPr algn="l">
              <a:lnSpc>
                <a:spcPct val="132000"/>
              </a:lnSpc>
              <a:spcAft>
                <a:spcPts val="600"/>
              </a:spcAft>
            </a:pPr>
            <a:r>
              <a:rPr sz="1150" b="0">
                <a:solidFill>
                  <a:srgbClr val="C0561A"/>
                </a:solidFill>
                <a:latin typeface="Meiryo"/>
                <a:ea typeface="Meiryo"/>
                <a:cs typeface="Meiryo"/>
              </a:rPr>
              <a:t>食べる魚</a:t>
            </a:r>
          </a:p>
        </p:txBody>
      </p:sp>
      <p:sp>
        <p:nvSpPr>
          <p:cNvPr id="17" name="TextBox 16"/>
          <p:cNvSpPr txBox="1"/>
          <p:nvPr/>
        </p:nvSpPr>
        <p:spPr>
          <a:xfrm>
            <a:off x="566928" y="3291840"/>
            <a:ext cx="822960" cy="274320"/>
          </a:xfrm>
          <a:prstGeom prst="rect">
            <a:avLst/>
          </a:prstGeom>
          <a:noFill/>
        </p:spPr>
        <p:txBody>
          <a:bodyPr wrap="square" lIns="0" tIns="0" rIns="0" bIns="0" anchor="t">
            <a:spAutoFit/>
          </a:bodyPr>
          <a:lstStyle/>
          <a:p>
            <a:pPr algn="l">
              <a:lnSpc>
                <a:spcPct val="132000"/>
              </a:lnSpc>
              <a:spcAft>
                <a:spcPts val="600"/>
              </a:spcAft>
            </a:pPr>
            <a:r>
              <a:rPr sz="1150" b="0">
                <a:solidFill>
                  <a:srgbClr val="1F4E79"/>
                </a:solidFill>
                <a:latin typeface="Meiryo"/>
                <a:ea typeface="Meiryo"/>
                <a:cs typeface="Meiryo"/>
              </a:rPr>
              <a:t>餌の魚</a:t>
            </a:r>
          </a:p>
        </p:txBody>
      </p:sp>
      <p:sp>
        <p:nvSpPr>
          <p:cNvPr id="18" name="TextBox 17"/>
          <p:cNvSpPr txBox="1"/>
          <p:nvPr/>
        </p:nvSpPr>
        <p:spPr>
          <a:xfrm>
            <a:off x="566928" y="3913632"/>
            <a:ext cx="5212080" cy="274320"/>
          </a:xfrm>
          <a:prstGeom prst="rect">
            <a:avLst/>
          </a:prstGeom>
          <a:noFill/>
        </p:spPr>
        <p:txBody>
          <a:bodyPr wrap="square" lIns="0" tIns="0" rIns="0" bIns="0" anchor="t">
            <a:spAutoFit/>
          </a:bodyPr>
          <a:lstStyle/>
          <a:p>
            <a:pPr algn="l">
              <a:lnSpc>
                <a:spcPct val="132000"/>
              </a:lnSpc>
              <a:spcAft>
                <a:spcPts val="600"/>
              </a:spcAft>
            </a:pPr>
            <a:r>
              <a:rPr sz="1200" b="0">
                <a:solidFill>
                  <a:srgbClr val="6E6E6E"/>
                </a:solidFill>
                <a:latin typeface="Meiryo"/>
                <a:ea typeface="Meiryo"/>
                <a:cs typeface="Meiryo"/>
              </a:rPr>
              <a:t>矢印＝食べる関係（4本すべてを式に入れる）</a:t>
            </a:r>
          </a:p>
        </p:txBody>
      </p:sp>
      <p:sp>
        <p:nvSpPr>
          <p:cNvPr id="19" name="TextBox 18"/>
          <p:cNvSpPr txBox="1"/>
          <p:nvPr/>
        </p:nvSpPr>
        <p:spPr>
          <a:xfrm>
            <a:off x="566928" y="4261104"/>
            <a:ext cx="5212080" cy="274320"/>
          </a:xfrm>
          <a:prstGeom prst="rect">
            <a:avLst/>
          </a:prstGeom>
          <a:noFill/>
        </p:spPr>
        <p:txBody>
          <a:bodyPr wrap="square" lIns="0" tIns="0" rIns="0" bIns="0" anchor="t">
            <a:spAutoFit/>
          </a:bodyPr>
          <a:lstStyle/>
          <a:p>
            <a:pPr algn="l">
              <a:lnSpc>
                <a:spcPct val="132000"/>
              </a:lnSpc>
              <a:spcAft>
                <a:spcPts val="600"/>
              </a:spcAft>
            </a:pPr>
            <a:r>
              <a:rPr sz="1300" b="0">
                <a:solidFill>
                  <a:srgbClr val="C0561A"/>
                </a:solidFill>
                <a:latin typeface="Meiryo"/>
                <a:ea typeface="Meiryo"/>
                <a:cs typeface="Meiryo"/>
              </a:rPr>
              <a:t>同じ段の魚どうしの取り合いは、式に入れていない</a:t>
            </a:r>
          </a:p>
        </p:txBody>
      </p:sp>
      <p:graphicFrame>
        <p:nvGraphicFramePr>
          <p:cNvPr id="20" name="Table 19"/>
          <p:cNvGraphicFramePr>
            <a:graphicFrameLocks noGrp="1"/>
          </p:cNvGraphicFramePr>
          <p:nvPr/>
        </p:nvGraphicFramePr>
        <p:xfrm>
          <a:off x="5989320" y="1417320"/>
          <a:ext cx="5632703" cy="2066544"/>
        </p:xfrm>
        <a:graphic>
          <a:graphicData uri="http://schemas.openxmlformats.org/drawingml/2006/table">
            <a:tbl>
              <a:tblPr firstRow="1">
                <a:tableStyleId>{5C22544A-7EE6-4342-B048-85BDC9FD1C3A}</a:tableStyleId>
              </a:tblPr>
              <a:tblGrid>
                <a:gridCol w="1691640">
                  <a:extLst>
                    <a:ext uri="{9D8B030D-6E8A-4147-A177-3AD203B41FA5}">
                      <a16:colId xmlns:a16="http://schemas.microsoft.com/office/drawing/2014/main" val="20000"/>
                    </a:ext>
                  </a:extLst>
                </a:gridCol>
                <a:gridCol w="3941063">
                  <a:extLst>
                    <a:ext uri="{9D8B030D-6E8A-4147-A177-3AD203B41FA5}">
                      <a16:colId xmlns:a16="http://schemas.microsoft.com/office/drawing/2014/main" val="20001"/>
                    </a:ext>
                  </a:extLst>
                </a:gridCol>
              </a:tblGrid>
              <a:tr h="384048">
                <a:tc>
                  <a:txBody>
                    <a:bodyPr/>
                    <a:lstStyle/>
                    <a:p>
                      <a:pPr algn="l"/>
                      <a:r>
                        <a:rPr sz="1400" b="1">
                          <a:solidFill>
                            <a:srgbClr val="FFFFFF"/>
                          </a:solidFill>
                          <a:latin typeface="Meiryo"/>
                          <a:ea typeface="Meiryo"/>
                          <a:cs typeface="Meiryo"/>
                        </a:rPr>
                        <a:t>魚種</a:t>
                      </a:r>
                    </a:p>
                  </a:txBody>
                  <a:tcPr marR="73152" marT="27432" marB="27432" anchor="ctr">
                    <a:solidFill>
                      <a:srgbClr val="1F4E79"/>
                    </a:solidFill>
                  </a:tcPr>
                </a:tc>
                <a:tc>
                  <a:txBody>
                    <a:bodyPr/>
                    <a:lstStyle/>
                    <a:p>
                      <a:pPr algn="l"/>
                      <a:r>
                        <a:rPr sz="1400" b="1">
                          <a:solidFill>
                            <a:srgbClr val="FFFFFF"/>
                          </a:solidFill>
                          <a:latin typeface="Meiryo"/>
                          <a:ea typeface="Meiryo"/>
                          <a:cs typeface="Meiryo"/>
                        </a:rPr>
                        <a:t>資源量と漁獲量の出どころ</a:t>
                      </a:r>
                    </a:p>
                  </a:txBody>
                  <a:tcPr marR="73152" marT="27432" marB="27432" anchor="ctr">
                    <a:solidFill>
                      <a:srgbClr val="1F4E79"/>
                    </a:solidFill>
                  </a:tcPr>
                </a:tc>
                <a:extLst>
                  <a:ext uri="{0D108BD9-81ED-4DB2-BD59-A6C34878D82A}">
                    <a16:rowId xmlns:a16="http://schemas.microsoft.com/office/drawing/2014/main" val="10000"/>
                  </a:ext>
                </a:extLst>
              </a:tr>
              <a:tr h="420624">
                <a:tc>
                  <a:txBody>
                    <a:bodyPr/>
                    <a:lstStyle/>
                    <a:p>
                      <a:pPr algn="l"/>
                      <a:r>
                        <a:rPr sz="1400" b="0">
                          <a:solidFill>
                            <a:srgbClr val="222222"/>
                          </a:solidFill>
                          <a:latin typeface="Meiryo"/>
                          <a:ea typeface="Meiryo"/>
                          <a:cs typeface="Meiryo"/>
                        </a:rPr>
                        <a:t>マアジ</a:t>
                      </a:r>
                    </a:p>
                  </a:txBody>
                  <a:tcPr marR="73152" marT="27432" marB="27432" anchor="ctr">
                    <a:solidFill>
                      <a:srgbClr val="FFFFFF"/>
                    </a:solidFill>
                  </a:tcPr>
                </a:tc>
                <a:tc>
                  <a:txBody>
                    <a:bodyPr/>
                    <a:lstStyle/>
                    <a:p>
                      <a:pPr algn="l"/>
                      <a:r>
                        <a:rPr sz="1400" b="0">
                          <a:solidFill>
                            <a:srgbClr val="222222"/>
                          </a:solidFill>
                          <a:latin typeface="Meiryo"/>
                          <a:ea typeface="Meiryo"/>
                          <a:cs typeface="Meiryo"/>
                        </a:rPr>
                        <a:t>水産研究・教育機構（1982〜2024年）</a:t>
                      </a:r>
                    </a:p>
                  </a:txBody>
                  <a:tcPr marR="73152" marT="27432" marB="27432" anchor="ctr">
                    <a:solidFill>
                      <a:srgbClr val="FFFFFF"/>
                    </a:solidFill>
                  </a:tcPr>
                </a:tc>
                <a:extLst>
                  <a:ext uri="{0D108BD9-81ED-4DB2-BD59-A6C34878D82A}">
                    <a16:rowId xmlns:a16="http://schemas.microsoft.com/office/drawing/2014/main" val="10001"/>
                  </a:ext>
                </a:extLst>
              </a:tr>
              <a:tr h="420624">
                <a:tc>
                  <a:txBody>
                    <a:bodyPr/>
                    <a:lstStyle/>
                    <a:p>
                      <a:pPr algn="l"/>
                      <a:r>
                        <a:rPr sz="1400" b="0">
                          <a:solidFill>
                            <a:srgbClr val="222222"/>
                          </a:solidFill>
                          <a:latin typeface="Meiryo"/>
                          <a:ea typeface="Meiryo"/>
                          <a:cs typeface="Meiryo"/>
                        </a:rPr>
                        <a:t>ウルメイワシ</a:t>
                      </a:r>
                    </a:p>
                  </a:txBody>
                  <a:tcPr marR="73152" marT="27432" marB="27432" anchor="ctr">
                    <a:solidFill>
                      <a:srgbClr val="F2F5F9"/>
                    </a:solidFill>
                  </a:tcPr>
                </a:tc>
                <a:tc>
                  <a:txBody>
                    <a:bodyPr/>
                    <a:lstStyle/>
                    <a:p>
                      <a:pPr algn="l"/>
                      <a:r>
                        <a:rPr sz="1400" b="0">
                          <a:solidFill>
                            <a:srgbClr val="222222"/>
                          </a:solidFill>
                          <a:latin typeface="Meiryo"/>
                          <a:ea typeface="Meiryo"/>
                          <a:cs typeface="Meiryo"/>
                        </a:rPr>
                        <a:t>資源量の目安 ＋ 太平洋側12県の漁獲量</a:t>
                      </a:r>
                    </a:p>
                  </a:txBody>
                  <a:tcPr marR="73152" marT="27432" marB="27432" anchor="ctr">
                    <a:solidFill>
                      <a:srgbClr val="F2F5F9"/>
                    </a:solidFill>
                  </a:tcPr>
                </a:tc>
                <a:extLst>
                  <a:ext uri="{0D108BD9-81ED-4DB2-BD59-A6C34878D82A}">
                    <a16:rowId xmlns:a16="http://schemas.microsoft.com/office/drawing/2014/main" val="10002"/>
                  </a:ext>
                </a:extLst>
              </a:tr>
              <a:tr h="420624">
                <a:tc>
                  <a:txBody>
                    <a:bodyPr/>
                    <a:lstStyle/>
                    <a:p>
                      <a:pPr algn="l"/>
                      <a:r>
                        <a:rPr sz="1400" b="0">
                          <a:solidFill>
                            <a:srgbClr val="222222"/>
                          </a:solidFill>
                          <a:latin typeface="Meiryo"/>
                          <a:ea typeface="Meiryo"/>
                          <a:cs typeface="Meiryo"/>
                        </a:rPr>
                        <a:t>ブリ</a:t>
                      </a:r>
                    </a:p>
                  </a:txBody>
                  <a:tcPr marR="73152" marT="27432" marB="27432" anchor="ctr">
                    <a:solidFill>
                      <a:srgbClr val="FFFFFF"/>
                    </a:solidFill>
                  </a:tcPr>
                </a:tc>
                <a:tc>
                  <a:txBody>
                    <a:bodyPr/>
                    <a:lstStyle/>
                    <a:p>
                      <a:pPr algn="l"/>
                      <a:r>
                        <a:rPr sz="1400" b="0">
                          <a:solidFill>
                            <a:srgbClr val="222222"/>
                          </a:solidFill>
                          <a:latin typeface="Meiryo"/>
                          <a:ea typeface="Meiryo"/>
                          <a:cs typeface="Meiryo"/>
                        </a:rPr>
                        <a:t>水産研究・教育機構（1994〜2024年）</a:t>
                      </a:r>
                    </a:p>
                  </a:txBody>
                  <a:tcPr marR="73152" marT="27432" marB="27432" anchor="ctr">
                    <a:solidFill>
                      <a:srgbClr val="FFFFFF"/>
                    </a:solidFill>
                  </a:tcPr>
                </a:tc>
                <a:extLst>
                  <a:ext uri="{0D108BD9-81ED-4DB2-BD59-A6C34878D82A}">
                    <a16:rowId xmlns:a16="http://schemas.microsoft.com/office/drawing/2014/main" val="10003"/>
                  </a:ext>
                </a:extLst>
              </a:tr>
              <a:tr h="420624">
                <a:tc>
                  <a:txBody>
                    <a:bodyPr/>
                    <a:lstStyle/>
                    <a:p>
                      <a:pPr algn="l"/>
                      <a:r>
                        <a:rPr sz="1400" b="0">
                          <a:solidFill>
                            <a:srgbClr val="222222"/>
                          </a:solidFill>
                          <a:latin typeface="Meiryo"/>
                          <a:ea typeface="Meiryo"/>
                          <a:cs typeface="Meiryo"/>
                        </a:rPr>
                        <a:t>サワラ</a:t>
                      </a:r>
                    </a:p>
                  </a:txBody>
                  <a:tcPr marR="73152" marT="27432" marB="27432" anchor="ctr">
                    <a:solidFill>
                      <a:srgbClr val="F2F5F9"/>
                    </a:solidFill>
                  </a:tcPr>
                </a:tc>
                <a:tc>
                  <a:txBody>
                    <a:bodyPr/>
                    <a:lstStyle/>
                    <a:p>
                      <a:pPr algn="l"/>
                      <a:r>
                        <a:rPr sz="1400" b="0">
                          <a:solidFill>
                            <a:srgbClr val="222222"/>
                          </a:solidFill>
                          <a:latin typeface="Meiryo"/>
                          <a:ea typeface="Meiryo"/>
                          <a:cs typeface="Meiryo"/>
                        </a:rPr>
                        <a:t>水産研究・教育機構（1987〜2024年）</a:t>
                      </a:r>
                    </a:p>
                  </a:txBody>
                  <a:tcPr marR="73152" marT="27432" marB="27432" anchor="ctr">
                    <a:solidFill>
                      <a:srgbClr val="F2F5F9"/>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5989320" y="3584448"/>
            <a:ext cx="5632704" cy="320040"/>
          </a:xfrm>
          <a:prstGeom prst="rect">
            <a:avLst/>
          </a:prstGeom>
          <a:noFill/>
        </p:spPr>
        <p:txBody>
          <a:bodyPr wrap="square" lIns="0" tIns="0" rIns="0" bIns="0" anchor="t">
            <a:spAutoFit/>
          </a:bodyPr>
          <a:lstStyle/>
          <a:p>
            <a:pPr algn="l">
              <a:lnSpc>
                <a:spcPct val="132000"/>
              </a:lnSpc>
              <a:spcAft>
                <a:spcPts val="600"/>
              </a:spcAft>
            </a:pPr>
            <a:r>
              <a:rPr sz="1300" b="0">
                <a:solidFill>
                  <a:srgbClr val="6E6E6E"/>
                </a:solidFill>
                <a:latin typeface="Meiryo"/>
                <a:ea typeface="Meiryo"/>
                <a:cs typeface="Meiryo"/>
              </a:rPr>
              <a:t>※いずれも太平洋系群。資源量と漁獲量の年ごとの値を使う。</a:t>
            </a:r>
          </a:p>
        </p:txBody>
      </p:sp>
      <p:sp>
        <p:nvSpPr>
          <p:cNvPr id="22" name="TextBox 21"/>
          <p:cNvSpPr txBox="1"/>
          <p:nvPr/>
        </p:nvSpPr>
        <p:spPr>
          <a:xfrm>
            <a:off x="5989320" y="4096512"/>
            <a:ext cx="5632704" cy="1371600"/>
          </a:xfrm>
          <a:prstGeom prst="rect">
            <a:avLst/>
          </a:prstGeom>
          <a:noFill/>
        </p:spPr>
        <p:txBody>
          <a:bodyPr wrap="square" lIns="0" tIns="0" rIns="0" bIns="0" anchor="t">
            <a:spAutoFit/>
          </a:bodyPr>
          <a:lstStyle/>
          <a:p>
            <a:pPr algn="l">
              <a:lnSpc>
                <a:spcPct val="132000"/>
              </a:lnSpc>
              <a:spcAft>
                <a:spcPts val="500"/>
              </a:spcAft>
            </a:pPr>
            <a:r>
              <a:rPr sz="1600" b="0">
                <a:solidFill>
                  <a:srgbClr val="222222"/>
                </a:solidFill>
                <a:latin typeface="Meiryo"/>
                <a:ea typeface="Meiryo"/>
                <a:cs typeface="Meiryo"/>
              </a:rPr>
              <a:t>4種そろう期間は 1994〜2024年（31年分）</a:t>
            </a:r>
          </a:p>
          <a:p>
            <a:pPr algn="l">
              <a:lnSpc>
                <a:spcPct val="132000"/>
              </a:lnSpc>
              <a:spcAft>
                <a:spcPts val="500"/>
              </a:spcAft>
            </a:pPr>
            <a:r>
              <a:rPr sz="1600" b="0">
                <a:solidFill>
                  <a:srgbClr val="222222"/>
                </a:solidFill>
                <a:latin typeface="Meiryo"/>
                <a:ea typeface="Meiryo"/>
                <a:cs typeface="Meiryo"/>
              </a:rPr>
              <a:t>大蛇行なし：2006〜2016年（11年）</a:t>
            </a:r>
          </a:p>
          <a:p>
            <a:pPr algn="l">
              <a:lnSpc>
                <a:spcPct val="132000"/>
              </a:lnSpc>
              <a:spcAft>
                <a:spcPts val="500"/>
              </a:spcAft>
            </a:pPr>
            <a:r>
              <a:rPr sz="1600" b="0">
                <a:solidFill>
                  <a:srgbClr val="222222"/>
                </a:solidFill>
                <a:latin typeface="Meiryo"/>
                <a:ea typeface="Meiryo"/>
                <a:cs typeface="Meiryo"/>
              </a:rPr>
              <a:t>大蛇行：2017〜2024年（8年）</a:t>
            </a:r>
          </a:p>
        </p:txBody>
      </p:sp>
      <p:sp>
        <p:nvSpPr>
          <p:cNvPr id="23" name="Rectangle 22"/>
          <p:cNvSpPr/>
          <p:nvPr/>
        </p:nvSpPr>
        <p:spPr>
          <a:xfrm>
            <a:off x="566928" y="5504688"/>
            <a:ext cx="11057839" cy="71323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768096" y="5650992"/>
            <a:ext cx="10655503" cy="457200"/>
          </a:xfrm>
          <a:prstGeom prst="rect">
            <a:avLst/>
          </a:prstGeom>
          <a:noFill/>
        </p:spPr>
        <p:txBody>
          <a:bodyPr wrap="square" lIns="0" tIns="0" rIns="0" bIns="0" anchor="t">
            <a:spAutoFit/>
          </a:bodyPr>
          <a:lstStyle/>
          <a:p>
            <a:pPr algn="l">
              <a:lnSpc>
                <a:spcPct val="132000"/>
              </a:lnSpc>
              <a:spcAft>
                <a:spcPts val="600"/>
              </a:spcAft>
            </a:pPr>
            <a:r>
              <a:rPr sz="1600" b="0">
                <a:solidFill>
                  <a:srgbClr val="222222"/>
                </a:solidFill>
                <a:latin typeface="Meiryo"/>
                <a:ea typeface="Meiryo"/>
                <a:cs typeface="Meiryo"/>
              </a:rPr>
              <a:t>漁獲率 f ＝ 漁獲量 ÷ 資源量。推定する値ではなく、データから直接計算できる既知の値（上限 0.95）。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4種をつないだ式：混み合いの効果は入れていない</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5</a:t>
            </a:r>
          </a:p>
        </p:txBody>
      </p:sp>
      <p:sp>
        <p:nvSpPr>
          <p:cNvPr id="4" name="Rectangle 3"/>
          <p:cNvSpPr/>
          <p:nvPr/>
        </p:nvSpPr>
        <p:spPr>
          <a:xfrm>
            <a:off x="566928" y="1207008"/>
            <a:ext cx="6263640" cy="19659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768096" y="1316736"/>
            <a:ext cx="5852160" cy="274320"/>
          </a:xfrm>
          <a:prstGeom prst="rect">
            <a:avLst/>
          </a:prstGeom>
          <a:noFill/>
        </p:spPr>
        <p:txBody>
          <a:bodyPr wrap="square" lIns="0" tIns="0" rIns="0" bIns="0" anchor="t">
            <a:spAutoFit/>
          </a:bodyPr>
          <a:lstStyle/>
          <a:p>
            <a:pPr algn="l">
              <a:lnSpc>
                <a:spcPct val="132000"/>
              </a:lnSpc>
              <a:spcAft>
                <a:spcPts val="600"/>
              </a:spcAft>
            </a:pPr>
            <a:r>
              <a:rPr sz="1400" b="1">
                <a:solidFill>
                  <a:srgbClr val="1F4E79"/>
                </a:solidFill>
                <a:latin typeface="Meiryo"/>
                <a:ea typeface="Meiryo"/>
                <a:cs typeface="Meiryo"/>
              </a:rPr>
              <a:t>餌の魚</a:t>
            </a:r>
          </a:p>
        </p:txBody>
      </p:sp>
      <mc:AlternateContent xmlns:mc="http://schemas.openxmlformats.org/markup-compatibility/2006">
        <mc:Choice xmlns:a14="http://schemas.microsoft.com/office/drawing/2010/main" Requires="a14">
          <p:sp>
            <p:nvSpPr>
              <p:cNvPr id="6" name="TextBox 5"/>
              <p:cNvSpPr txBox="1"/>
              <p:nvPr/>
            </p:nvSpPr>
            <p:spPr>
              <a:xfrm>
                <a:off x="768096" y="1591056"/>
                <a:ext cx="5852160" cy="56692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𝑑</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1" dirty="0">
                                  <a:solidFill>
                                    <a:srgbClr val="222222"/>
                                  </a:solidFill>
                                  <a:latin typeface="Cambria Math" panose="02040503050406030204" pitchFamily="18" charset="0"/>
                                </a:rPr>
                                <m:t>𝑖</m:t>
                              </m:r>
                            </m:sub>
                          </m:sSub>
                        </m:num>
                        <m:den>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den>
                      </m:f>
                      <m:r>
                        <a:rPr lang="en-US" sz="1500" b="0" i="0" dirty="0">
                          <a:solidFill>
                            <a:srgbClr val="222222"/>
                          </a:solidFill>
                          <a:latin typeface="Cambria Math" panose="02040503050406030204" pitchFamily="18" charset="0"/>
                        </a:rPr>
                        <m:t> = </m:t>
                      </m:r>
                      <m:d>
                        <m:dPr>
                          <m:ctrlPr>
                            <a:rPr lang="en-US" sz="1500" b="0" i="1" dirty="0">
                              <a:solidFill>
                                <a:srgbClr val="222222"/>
                              </a:solidFill>
                              <a:latin typeface="Cambria Math" panose="02040503050406030204" pitchFamily="18" charset="0"/>
                            </a:rPr>
                          </m:ctrlPr>
                        </m:d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𝑟</m:t>
                              </m:r>
                            </m:e>
                            <m:sub>
                              <m:r>
                                <a:rPr lang="en-US" sz="1500" b="0" i="1" dirty="0">
                                  <a:solidFill>
                                    <a:srgbClr val="222222"/>
                                  </a:solidFill>
                                  <a:latin typeface="Cambria Math" panose="02040503050406030204" pitchFamily="18" charset="0"/>
                                </a:rPr>
                                <m:t>𝑥𝑖</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1" dirty="0">
                                  <a:solidFill>
                                    <a:srgbClr val="222222"/>
                                  </a:solidFill>
                                  <a:latin typeface="Cambria Math" panose="02040503050406030204" pitchFamily="18" charset="0"/>
                                </a:rPr>
                                <m:t>𝑥𝑖</m:t>
                              </m:r>
                            </m:sub>
                          </m:sSub>
                        </m:e>
                      </m:d>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1" dirty="0">
                              <a:solidFill>
                                <a:srgbClr val="222222"/>
                              </a:solidFill>
                              <a:latin typeface="Cambria Math" panose="02040503050406030204" pitchFamily="18" charset="0"/>
                            </a:rPr>
                            <m:t>𝑖</m:t>
                          </m:r>
                        </m:sub>
                      </m:sSub>
                      <m:r>
                        <a:rPr lang="en-US" sz="1500" b="0" i="0" dirty="0">
                          <a:solidFill>
                            <a:srgbClr val="222222"/>
                          </a:solidFill>
                          <a:latin typeface="Cambria Math" panose="02040503050406030204" pitchFamily="18" charset="0"/>
                        </a:rPr>
                        <m:t> − </m:t>
                      </m:r>
                      <m:nary>
                        <m:naryPr>
                          <m:chr m:val="∑"/>
                          <m:limLoc m:val="subSup"/>
                          <m:ctrlPr>
                            <a:rPr lang="en-US" sz="1500" b="0" i="1" dirty="0">
                              <a:solidFill>
                                <a:srgbClr val="222222"/>
                              </a:solidFill>
                              <a:latin typeface="Cambria Math" panose="02040503050406030204" pitchFamily="18" charset="0"/>
                            </a:rPr>
                          </m:ctrlPr>
                        </m:naryPr>
                        <m:sub>
                          <m:r>
                            <a:rPr lang="en-US" sz="1500" b="0" i="1" dirty="0">
                              <a:solidFill>
                                <a:srgbClr val="222222"/>
                              </a:solidFill>
                              <a:latin typeface="Cambria Math" panose="02040503050406030204" pitchFamily="18" charset="0"/>
                            </a:rPr>
                            <m:t>𝑗</m:t>
                          </m:r>
                        </m:sub>
                        <m:sup/>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𝑖𝑗</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1" dirty="0">
                                  <a:solidFill>
                                    <a:srgbClr val="222222"/>
                                  </a:solidFill>
                                  <a:latin typeface="Cambria Math" panose="02040503050406030204" pitchFamily="18" charset="0"/>
                                </a:rPr>
                                <m:t>𝑖</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1" dirty="0">
                                  <a:solidFill>
                                    <a:srgbClr val="222222"/>
                                  </a:solidFill>
                                  <a:latin typeface="Cambria Math" panose="02040503050406030204" pitchFamily="18" charset="0"/>
                                </a:rPr>
                                <m:t>𝑗</m:t>
                              </m:r>
                            </m:sub>
                          </m:sSub>
                        </m:e>
                      </m:nary>
                    </m:oMath>
                  </m:oMathPara>
                </a14:m>
                <a:endParaRPr lang="en-US" sz="1500" dirty="0"/>
              </a:p>
            </p:txBody>
          </p:sp>
        </mc:Choice>
        <mc:Fallback>
          <p:sp>
            <p:nvSpPr>
              <p:cNvPr id="6" name="TextBox 5"/>
              <p:cNvSpPr txBox="1">
                <a:spLocks noRot="1" noChangeAspect="1" noMove="1" noResize="1" noEditPoints="1" noAdjustHandles="1" noChangeArrowheads="1" noChangeShapeType="1" noTextEdit="1"/>
              </p:cNvSpPr>
              <p:nvPr/>
            </p:nvSpPr>
            <p:spPr>
              <a:xfrm>
                <a:off x="768096" y="1591056"/>
                <a:ext cx="5852160" cy="566928"/>
              </a:xfrm>
              <a:prstGeom prst="rect">
                <a:avLst/>
              </a:prstGeom>
              <a:blipFill>
                <a:blip r:embed="rId2"/>
                <a:stretch>
                  <a:fillRect l="-1082" t="-144444" b="-208889"/>
                </a:stretch>
              </a:blipFill>
            </p:spPr>
            <p:txBody>
              <a:bodyPr/>
              <a:lstStyle/>
              <a:p>
                <a:r>
                  <a:rPr lang="ja-JP" altLang="en-US">
                    <a:noFill/>
                  </a:rPr>
                  <a:t> </a:t>
                </a:r>
              </a:p>
            </p:txBody>
          </p:sp>
        </mc:Fallback>
      </mc:AlternateContent>
      <p:sp>
        <p:nvSpPr>
          <p:cNvPr id="7" name="TextBox 6"/>
          <p:cNvSpPr txBox="1"/>
          <p:nvPr/>
        </p:nvSpPr>
        <p:spPr>
          <a:xfrm>
            <a:off x="768096" y="2212848"/>
            <a:ext cx="5852160" cy="274320"/>
          </a:xfrm>
          <a:prstGeom prst="rect">
            <a:avLst/>
          </a:prstGeom>
          <a:noFill/>
        </p:spPr>
        <p:txBody>
          <a:bodyPr wrap="square" lIns="0" tIns="0" rIns="0" bIns="0" anchor="t">
            <a:spAutoFit/>
          </a:bodyPr>
          <a:lstStyle/>
          <a:p>
            <a:pPr algn="l">
              <a:lnSpc>
                <a:spcPct val="132000"/>
              </a:lnSpc>
              <a:spcAft>
                <a:spcPts val="600"/>
              </a:spcAft>
            </a:pPr>
            <a:r>
              <a:rPr sz="1400" b="1">
                <a:solidFill>
                  <a:srgbClr val="C0561A"/>
                </a:solidFill>
                <a:latin typeface="Meiryo"/>
                <a:ea typeface="Meiryo"/>
                <a:cs typeface="Meiryo"/>
              </a:rPr>
              <a:t>食べる魚</a:t>
            </a:r>
          </a:p>
        </p:txBody>
      </p:sp>
      <mc:AlternateContent xmlns:mc="http://schemas.openxmlformats.org/markup-compatibility/2006">
        <mc:Choice xmlns:a14="http://schemas.microsoft.com/office/drawing/2010/main" Requires="a14">
          <p:sp>
            <p:nvSpPr>
              <p:cNvPr id="8" name="TextBox 7"/>
              <p:cNvSpPr txBox="1"/>
              <p:nvPr/>
            </p:nvSpPr>
            <p:spPr>
              <a:xfrm>
                <a:off x="768096" y="2487168"/>
                <a:ext cx="5852160" cy="56692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𝑑</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1" dirty="0">
                                  <a:solidFill>
                                    <a:srgbClr val="222222"/>
                                  </a:solidFill>
                                  <a:latin typeface="Cambria Math" panose="02040503050406030204" pitchFamily="18" charset="0"/>
                                </a:rPr>
                                <m:t>𝑗</m:t>
                              </m:r>
                            </m:sub>
                          </m:sSub>
                        </m:num>
                        <m:den>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den>
                      </m:f>
                      <m:r>
                        <a:rPr lang="en-US" sz="1500" b="0" i="0" dirty="0">
                          <a:solidFill>
                            <a:srgbClr val="222222"/>
                          </a:solidFill>
                          <a:latin typeface="Cambria Math" panose="02040503050406030204" pitchFamily="18" charset="0"/>
                        </a:rPr>
                        <m:t> = −</m:t>
                      </m:r>
                      <m:d>
                        <m:dPr>
                          <m:ctrlPr>
                            <a:rPr lang="en-US" sz="1500" b="0" i="1" dirty="0">
                              <a:solidFill>
                                <a:srgbClr val="222222"/>
                              </a:solidFill>
                              <a:latin typeface="Cambria Math" panose="02040503050406030204" pitchFamily="18" charset="0"/>
                            </a:rPr>
                          </m:ctrlPr>
                        </m:d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𝑟</m:t>
                              </m:r>
                            </m:e>
                            <m:sub>
                              <m:r>
                                <a:rPr lang="en-US" sz="1500" b="0" i="1" dirty="0">
                                  <a:solidFill>
                                    <a:srgbClr val="222222"/>
                                  </a:solidFill>
                                  <a:latin typeface="Cambria Math" panose="02040503050406030204" pitchFamily="18" charset="0"/>
                                </a:rPr>
                                <m:t>𝑦𝑗</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1" dirty="0">
                                  <a:solidFill>
                                    <a:srgbClr val="222222"/>
                                  </a:solidFill>
                                  <a:latin typeface="Cambria Math" panose="02040503050406030204" pitchFamily="18" charset="0"/>
                                </a:rPr>
                                <m:t>𝑦𝑗</m:t>
                              </m:r>
                            </m:sub>
                          </m:sSub>
                        </m:e>
                      </m:d>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1" dirty="0">
                              <a:solidFill>
                                <a:srgbClr val="222222"/>
                              </a:solidFill>
                              <a:latin typeface="Cambria Math" panose="02040503050406030204" pitchFamily="18" charset="0"/>
                            </a:rPr>
                            <m:t>𝑗</m:t>
                          </m:r>
                        </m:sub>
                      </m:sSub>
                      <m:r>
                        <a:rPr lang="en-US" sz="1500" b="0" i="0" dirty="0">
                          <a:solidFill>
                            <a:srgbClr val="222222"/>
                          </a:solidFill>
                          <a:latin typeface="Cambria Math" panose="02040503050406030204" pitchFamily="18" charset="0"/>
                        </a:rPr>
                        <m:t> + </m:t>
                      </m:r>
                      <m:nary>
                        <m:naryPr>
                          <m:chr m:val="∑"/>
                          <m:limLoc m:val="subSup"/>
                          <m:ctrlPr>
                            <a:rPr lang="en-US" sz="1500" b="0" i="1" dirty="0">
                              <a:solidFill>
                                <a:srgbClr val="222222"/>
                              </a:solidFill>
                              <a:latin typeface="Cambria Math" panose="02040503050406030204" pitchFamily="18" charset="0"/>
                            </a:rPr>
                          </m:ctrlPr>
                        </m:naryPr>
                        <m:sub>
                          <m:r>
                            <a:rPr lang="en-US" sz="1500" b="0" i="1" dirty="0">
                              <a:solidFill>
                                <a:srgbClr val="222222"/>
                              </a:solidFill>
                              <a:latin typeface="Cambria Math" panose="02040503050406030204" pitchFamily="18" charset="0"/>
                            </a:rPr>
                            <m:t>𝑖</m:t>
                          </m:r>
                        </m:sub>
                        <m:sup/>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𝑐</m:t>
                              </m:r>
                            </m:e>
                            <m:sub>
                              <m:r>
                                <a:rPr lang="en-US" sz="1500" b="0" i="1" dirty="0">
                                  <a:solidFill>
                                    <a:srgbClr val="222222"/>
                                  </a:solidFill>
                                  <a:latin typeface="Cambria Math" panose="02040503050406030204" pitchFamily="18" charset="0"/>
                                </a:rPr>
                                <m:t>𝑖𝑗</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𝑖𝑗</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1" dirty="0">
                                  <a:solidFill>
                                    <a:srgbClr val="222222"/>
                                  </a:solidFill>
                                  <a:latin typeface="Cambria Math" panose="02040503050406030204" pitchFamily="18" charset="0"/>
                                </a:rPr>
                                <m:t>𝑖</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1" dirty="0">
                                  <a:solidFill>
                                    <a:srgbClr val="222222"/>
                                  </a:solidFill>
                                  <a:latin typeface="Cambria Math" panose="02040503050406030204" pitchFamily="18" charset="0"/>
                                </a:rPr>
                                <m:t>𝑗</m:t>
                              </m:r>
                            </m:sub>
                          </m:sSub>
                        </m:e>
                      </m:nary>
                    </m:oMath>
                  </m:oMathPara>
                </a14:m>
                <a:endParaRPr lang="en-US" sz="1500" dirty="0"/>
              </a:p>
            </p:txBody>
          </p:sp>
        </mc:Choice>
        <mc:Fallback>
          <p:sp>
            <p:nvSpPr>
              <p:cNvPr id="8" name="TextBox 7"/>
              <p:cNvSpPr txBox="1">
                <a:spLocks noRot="1" noChangeAspect="1" noMove="1" noResize="1" noEditPoints="1" noAdjustHandles="1" noChangeArrowheads="1" noChangeShapeType="1" noTextEdit="1"/>
              </p:cNvSpPr>
              <p:nvPr/>
            </p:nvSpPr>
            <p:spPr>
              <a:xfrm>
                <a:off x="768096" y="2487168"/>
                <a:ext cx="5852160" cy="566928"/>
              </a:xfrm>
              <a:prstGeom prst="rect">
                <a:avLst/>
              </a:prstGeom>
              <a:blipFill>
                <a:blip r:embed="rId3"/>
                <a:stretch>
                  <a:fillRect l="-1299" t="-141304" b="-204348"/>
                </a:stretch>
              </a:blipFill>
            </p:spPr>
            <p:txBody>
              <a:bodyPr/>
              <a:lstStyle/>
              <a:p>
                <a:r>
                  <a:rPr lang="ja-JP" altLang="en-US">
                    <a:noFill/>
                  </a:rPr>
                  <a:t> </a:t>
                </a:r>
              </a:p>
            </p:txBody>
          </p:sp>
        </mc:Fallback>
      </mc:AlternateContent>
      <p:sp>
        <p:nvSpPr>
          <p:cNvPr id="9" name="TextBox 8"/>
          <p:cNvSpPr txBox="1"/>
          <p:nvPr/>
        </p:nvSpPr>
        <p:spPr>
          <a:xfrm>
            <a:off x="566928" y="3273552"/>
            <a:ext cx="6263640" cy="1005840"/>
          </a:xfrm>
          <a:prstGeom prst="rect">
            <a:avLst/>
          </a:prstGeom>
          <a:noFill/>
        </p:spPr>
        <p:txBody>
          <a:bodyPr wrap="square" lIns="0" tIns="0" rIns="0" bIns="0" anchor="t">
            <a:spAutoFit/>
          </a:bodyPr>
          <a:lstStyle/>
          <a:p>
            <a:pPr algn="l">
              <a:lnSpc>
                <a:spcPct val="132000"/>
              </a:lnSpc>
              <a:spcAft>
                <a:spcPts val="500"/>
              </a:spcAft>
            </a:pPr>
            <a:r>
              <a:rPr sz="1450" b="0">
                <a:solidFill>
                  <a:srgbClr val="222222"/>
                </a:solidFill>
                <a:latin typeface="Meiryo"/>
                <a:ea typeface="Meiryo"/>
                <a:cs typeface="Meiryo"/>
              </a:rPr>
              <a:t>r_x：餌の魚がもともと増える速さ　　r_y：食べる魚が自然に減る速さ</a:t>
            </a:r>
          </a:p>
          <a:p>
            <a:pPr algn="l">
              <a:lnSpc>
                <a:spcPct val="132000"/>
              </a:lnSpc>
              <a:spcAft>
                <a:spcPts val="500"/>
              </a:spcAft>
            </a:pPr>
            <a:r>
              <a:rPr sz="1450" b="0">
                <a:solidFill>
                  <a:srgbClr val="222222"/>
                </a:solidFill>
                <a:latin typeface="Meiryo"/>
                <a:ea typeface="Meiryo"/>
                <a:cs typeface="Meiryo"/>
              </a:rPr>
              <a:t>λ：食べられる強さ　　c：変換の割合（食べた分が体になる割合）</a:t>
            </a:r>
          </a:p>
          <a:p>
            <a:pPr algn="l">
              <a:lnSpc>
                <a:spcPct val="132000"/>
              </a:lnSpc>
              <a:spcAft>
                <a:spcPts val="500"/>
              </a:spcAft>
            </a:pPr>
            <a:r>
              <a:rPr sz="1450" b="0">
                <a:solidFill>
                  <a:srgbClr val="222222"/>
                </a:solidFill>
                <a:latin typeface="Meiryo"/>
                <a:ea typeface="Meiryo"/>
                <a:cs typeface="Meiryo"/>
              </a:rPr>
              <a:t>f：漁獲率（データから計算した既知の値）</a:t>
            </a:r>
          </a:p>
        </p:txBody>
      </p:sp>
      <p:sp>
        <p:nvSpPr>
          <p:cNvPr id="10" name="TextBox 9"/>
          <p:cNvSpPr txBox="1"/>
          <p:nvPr/>
        </p:nvSpPr>
        <p:spPr>
          <a:xfrm>
            <a:off x="566928" y="4261104"/>
            <a:ext cx="6263640" cy="274320"/>
          </a:xfrm>
          <a:prstGeom prst="rect">
            <a:avLst/>
          </a:prstGeom>
          <a:noFill/>
        </p:spPr>
        <p:txBody>
          <a:bodyPr wrap="square" lIns="0" tIns="0" rIns="0" bIns="0" anchor="t">
            <a:spAutoFit/>
          </a:bodyPr>
          <a:lstStyle/>
          <a:p>
            <a:pPr algn="l">
              <a:lnSpc>
                <a:spcPct val="132000"/>
              </a:lnSpc>
              <a:spcAft>
                <a:spcPts val="600"/>
              </a:spcAft>
            </a:pPr>
            <a:r>
              <a:rPr sz="1500" b="1">
                <a:solidFill>
                  <a:srgbClr val="1F4E79"/>
                </a:solidFill>
                <a:latin typeface="Meiryo"/>
                <a:ea typeface="Meiryo"/>
                <a:cs typeface="Meiryo"/>
              </a:rPr>
              <a:t>まとめて書くと</a:t>
            </a:r>
          </a:p>
        </p:txBody>
      </p:sp>
      <mc:AlternateContent xmlns:mc="http://schemas.openxmlformats.org/markup-compatibility/2006">
        <mc:Choice xmlns:a14="http://schemas.microsoft.com/office/drawing/2010/main" Requires="a14">
          <p:sp>
            <p:nvSpPr>
              <p:cNvPr id="11" name="TextBox 10"/>
              <p:cNvSpPr txBox="1"/>
              <p:nvPr/>
            </p:nvSpPr>
            <p:spPr>
              <a:xfrm>
                <a:off x="566928" y="4626864"/>
                <a:ext cx="6263640" cy="56692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𝑑</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𝐵</m:t>
                              </m:r>
                            </m:e>
                            <m:sub>
                              <m:r>
                                <a:rPr lang="en-US" sz="1500" b="0" i="1" dirty="0">
                                  <a:solidFill>
                                    <a:srgbClr val="222222"/>
                                  </a:solidFill>
                                  <a:latin typeface="Cambria Math" panose="02040503050406030204" pitchFamily="18" charset="0"/>
                                </a:rPr>
                                <m:t>𝑖</m:t>
                              </m:r>
                            </m:sub>
                          </m:sSub>
                        </m:num>
                        <m:den>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den>
                      </m:f>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𝐵</m:t>
                          </m:r>
                        </m:e>
                        <m:sub>
                          <m:r>
                            <a:rPr lang="en-US" sz="1500" b="0" i="1" dirty="0">
                              <a:solidFill>
                                <a:srgbClr val="222222"/>
                              </a:solidFill>
                              <a:latin typeface="Cambria Math" panose="02040503050406030204" pitchFamily="18" charset="0"/>
                            </a:rPr>
                            <m:t>𝑖</m:t>
                          </m:r>
                        </m:sub>
                      </m:sSub>
                      <m:d>
                        <m:dPr>
                          <m:ctrlPr>
                            <a:rPr lang="en-US" sz="1500" b="0" i="1" dirty="0">
                              <a:solidFill>
                                <a:srgbClr val="222222"/>
                              </a:solidFill>
                              <a:latin typeface="Cambria Math" panose="02040503050406030204" pitchFamily="18" charset="0"/>
                            </a:rPr>
                          </m:ctrlPr>
                        </m:d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𝜌</m:t>
                              </m:r>
                            </m:e>
                            <m:sub>
                              <m:r>
                                <a:rPr lang="en-US" sz="1500" b="0" i="1" dirty="0">
                                  <a:solidFill>
                                    <a:srgbClr val="222222"/>
                                  </a:solidFill>
                                  <a:latin typeface="Cambria Math" panose="02040503050406030204" pitchFamily="18" charset="0"/>
                                </a:rPr>
                                <m:t>𝑖</m:t>
                              </m:r>
                            </m:sub>
                          </m:sSub>
                          <m:r>
                            <a:rPr lang="en-US" sz="1500" b="0" i="0" dirty="0">
                              <a:solidFill>
                                <a:srgbClr val="222222"/>
                              </a:solidFill>
                              <a:latin typeface="Cambria Math" panose="02040503050406030204" pitchFamily="18" charset="0"/>
                            </a:rPr>
                            <m:t> + </m:t>
                          </m:r>
                          <m:nary>
                            <m:naryPr>
                              <m:chr m:val="∑"/>
                              <m:limLoc m:val="subSup"/>
                              <m:ctrlPr>
                                <a:rPr lang="en-US" sz="1500" b="0" i="1" dirty="0">
                                  <a:solidFill>
                                    <a:srgbClr val="222222"/>
                                  </a:solidFill>
                                  <a:latin typeface="Cambria Math" panose="02040503050406030204" pitchFamily="18" charset="0"/>
                                </a:rPr>
                              </m:ctrlPr>
                            </m:naryPr>
                            <m:sub>
                              <m:r>
                                <a:rPr lang="en-US" sz="1500" b="0" i="1" dirty="0">
                                  <a:solidFill>
                                    <a:srgbClr val="222222"/>
                                  </a:solidFill>
                                  <a:latin typeface="Cambria Math" panose="02040503050406030204" pitchFamily="18" charset="0"/>
                                </a:rPr>
                                <m:t>𝑗</m:t>
                              </m:r>
                            </m:sub>
                            <m:sup/>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𝐴</m:t>
                                  </m:r>
                                </m:e>
                                <m:sub>
                                  <m:r>
                                    <a:rPr lang="en-US" sz="1500" b="0" i="1" dirty="0">
                                      <a:solidFill>
                                        <a:srgbClr val="222222"/>
                                      </a:solidFill>
                                      <a:latin typeface="Cambria Math" panose="02040503050406030204" pitchFamily="18" charset="0"/>
                                    </a:rPr>
                                    <m:t>𝑖𝑗</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𝐵</m:t>
                                  </m:r>
                                </m:e>
                                <m:sub>
                                  <m:r>
                                    <a:rPr lang="en-US" sz="1500" b="0" i="1" dirty="0">
                                      <a:solidFill>
                                        <a:srgbClr val="222222"/>
                                      </a:solidFill>
                                      <a:latin typeface="Cambria Math" panose="02040503050406030204" pitchFamily="18" charset="0"/>
                                    </a:rPr>
                                    <m:t>𝑗</m:t>
                                  </m:r>
                                </m:sub>
                              </m:sSub>
                            </m:e>
                          </m:nary>
                        </m:e>
                      </m:d>
                    </m:oMath>
                  </m:oMathPara>
                </a14:m>
                <a:endParaRPr lang="en-US" sz="1500" dirty="0"/>
              </a:p>
            </p:txBody>
          </p:sp>
        </mc:Choice>
        <mc:Fallback>
          <p:sp>
            <p:nvSpPr>
              <p:cNvPr id="11" name="TextBox 10"/>
              <p:cNvSpPr txBox="1">
                <a:spLocks noRot="1" noChangeAspect="1" noMove="1" noResize="1" noEditPoints="1" noAdjustHandles="1" noChangeArrowheads="1" noChangeShapeType="1" noTextEdit="1"/>
              </p:cNvSpPr>
              <p:nvPr/>
            </p:nvSpPr>
            <p:spPr>
              <a:xfrm>
                <a:off x="566928" y="4626864"/>
                <a:ext cx="6263640" cy="566928"/>
              </a:xfrm>
              <a:prstGeom prst="rect">
                <a:avLst/>
              </a:prstGeom>
              <a:blipFill>
                <a:blip r:embed="rId4"/>
                <a:stretch>
                  <a:fillRect l="-1010" t="-144444" b="-208889"/>
                </a:stretch>
              </a:blipFill>
            </p:spPr>
            <p:txBody>
              <a:bodyPr/>
              <a:lstStyle/>
              <a:p>
                <a:r>
                  <a:rPr lang="ja-JP" altLang="en-US">
                    <a:noFill/>
                  </a:rPr>
                  <a:t> </a:t>
                </a:r>
              </a:p>
            </p:txBody>
          </p:sp>
        </mc:Fallback>
      </mc:AlternateContent>
      <p:sp>
        <p:nvSpPr>
          <p:cNvPr id="12" name="TextBox 11"/>
          <p:cNvSpPr txBox="1"/>
          <p:nvPr/>
        </p:nvSpPr>
        <p:spPr>
          <a:xfrm>
            <a:off x="566928" y="5248656"/>
            <a:ext cx="6263640" cy="310896"/>
          </a:xfrm>
          <a:prstGeom prst="rect">
            <a:avLst/>
          </a:prstGeom>
          <a:noFill/>
        </p:spPr>
        <p:txBody>
          <a:bodyPr wrap="square" lIns="0" tIns="0" rIns="0" bIns="0" anchor="t">
            <a:spAutoFit/>
          </a:bodyPr>
          <a:lstStyle/>
          <a:p>
            <a:pPr algn="l">
              <a:lnSpc>
                <a:spcPct val="132000"/>
              </a:lnSpc>
              <a:spcAft>
                <a:spcPts val="600"/>
              </a:spcAft>
            </a:pPr>
            <a:r>
              <a:rPr sz="1450" b="0">
                <a:solidFill>
                  <a:srgbClr val="6E6E6E"/>
                </a:solidFill>
                <a:latin typeface="Meiryo"/>
                <a:ea typeface="Meiryo"/>
                <a:cs typeface="Meiryo"/>
              </a:rPr>
              <a:t>この行列 A の、どこをゼロにしたか。これが後半の結論を決める。</a:t>
            </a:r>
          </a:p>
        </p:txBody>
      </p:sp>
      <p:sp>
        <p:nvSpPr>
          <p:cNvPr id="13" name="Rectangle 12"/>
          <p:cNvSpPr/>
          <p:nvPr/>
        </p:nvSpPr>
        <p:spPr>
          <a:xfrm>
            <a:off x="7973568" y="1627632"/>
            <a:ext cx="1737360" cy="768096"/>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9710928" y="2395728"/>
            <a:ext cx="1737360" cy="768096"/>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973568" y="1316736"/>
            <a:ext cx="868680" cy="256032"/>
          </a:xfrm>
          <a:prstGeom prst="rect">
            <a:avLst/>
          </a:prstGeom>
          <a:noFill/>
        </p:spPr>
        <p:txBody>
          <a:bodyPr wrap="square" lIns="0" tIns="0" rIns="0" bIns="0" anchor="t">
            <a:spAutoFit/>
          </a:bodyPr>
          <a:lstStyle/>
          <a:p>
            <a:pPr algn="ctr">
              <a:lnSpc>
                <a:spcPct val="132000"/>
              </a:lnSpc>
              <a:spcAft>
                <a:spcPts val="600"/>
              </a:spcAft>
            </a:pPr>
            <a:r>
              <a:rPr sz="1150" b="0">
                <a:solidFill>
                  <a:srgbClr val="6E6E6E"/>
                </a:solidFill>
                <a:latin typeface="Meiryo"/>
                <a:ea typeface="Meiryo"/>
                <a:cs typeface="Meiryo"/>
              </a:rPr>
              <a:t>マアジ</a:t>
            </a:r>
          </a:p>
        </p:txBody>
      </p:sp>
      <p:sp>
        <p:nvSpPr>
          <p:cNvPr id="16" name="TextBox 15"/>
          <p:cNvSpPr txBox="1"/>
          <p:nvPr/>
        </p:nvSpPr>
        <p:spPr>
          <a:xfrm>
            <a:off x="8842248" y="1316736"/>
            <a:ext cx="868680" cy="256032"/>
          </a:xfrm>
          <a:prstGeom prst="rect">
            <a:avLst/>
          </a:prstGeom>
          <a:noFill/>
        </p:spPr>
        <p:txBody>
          <a:bodyPr wrap="square" lIns="0" tIns="0" rIns="0" bIns="0" anchor="t">
            <a:spAutoFit/>
          </a:bodyPr>
          <a:lstStyle/>
          <a:p>
            <a:pPr algn="ctr">
              <a:lnSpc>
                <a:spcPct val="132000"/>
              </a:lnSpc>
              <a:spcAft>
                <a:spcPts val="600"/>
              </a:spcAft>
            </a:pPr>
            <a:r>
              <a:rPr sz="1150" b="0">
                <a:solidFill>
                  <a:srgbClr val="6E6E6E"/>
                </a:solidFill>
                <a:latin typeface="Meiryo"/>
                <a:ea typeface="Meiryo"/>
                <a:cs typeface="Meiryo"/>
              </a:rPr>
              <a:t>ウルメ</a:t>
            </a:r>
          </a:p>
        </p:txBody>
      </p:sp>
      <p:sp>
        <p:nvSpPr>
          <p:cNvPr id="17" name="TextBox 16"/>
          <p:cNvSpPr txBox="1"/>
          <p:nvPr/>
        </p:nvSpPr>
        <p:spPr>
          <a:xfrm>
            <a:off x="9710928" y="1316736"/>
            <a:ext cx="868680" cy="256032"/>
          </a:xfrm>
          <a:prstGeom prst="rect">
            <a:avLst/>
          </a:prstGeom>
          <a:noFill/>
        </p:spPr>
        <p:txBody>
          <a:bodyPr wrap="square" lIns="0" tIns="0" rIns="0" bIns="0" anchor="t">
            <a:spAutoFit/>
          </a:bodyPr>
          <a:lstStyle/>
          <a:p>
            <a:pPr algn="ctr">
              <a:lnSpc>
                <a:spcPct val="132000"/>
              </a:lnSpc>
              <a:spcAft>
                <a:spcPts val="600"/>
              </a:spcAft>
            </a:pPr>
            <a:r>
              <a:rPr sz="1150" b="0">
                <a:solidFill>
                  <a:srgbClr val="6E6E6E"/>
                </a:solidFill>
                <a:latin typeface="Meiryo"/>
                <a:ea typeface="Meiryo"/>
                <a:cs typeface="Meiryo"/>
              </a:rPr>
              <a:t>ブリ</a:t>
            </a:r>
          </a:p>
        </p:txBody>
      </p:sp>
      <p:sp>
        <p:nvSpPr>
          <p:cNvPr id="18" name="TextBox 17"/>
          <p:cNvSpPr txBox="1"/>
          <p:nvPr/>
        </p:nvSpPr>
        <p:spPr>
          <a:xfrm>
            <a:off x="10579608" y="1316736"/>
            <a:ext cx="868680" cy="256032"/>
          </a:xfrm>
          <a:prstGeom prst="rect">
            <a:avLst/>
          </a:prstGeom>
          <a:noFill/>
        </p:spPr>
        <p:txBody>
          <a:bodyPr wrap="square" lIns="0" tIns="0" rIns="0" bIns="0" anchor="t">
            <a:spAutoFit/>
          </a:bodyPr>
          <a:lstStyle/>
          <a:p>
            <a:pPr algn="ctr">
              <a:lnSpc>
                <a:spcPct val="132000"/>
              </a:lnSpc>
              <a:spcAft>
                <a:spcPts val="600"/>
              </a:spcAft>
            </a:pPr>
            <a:r>
              <a:rPr sz="1150" b="0">
                <a:solidFill>
                  <a:srgbClr val="6E6E6E"/>
                </a:solidFill>
                <a:latin typeface="Meiryo"/>
                <a:ea typeface="Meiryo"/>
                <a:cs typeface="Meiryo"/>
              </a:rPr>
              <a:t>サワラ</a:t>
            </a:r>
          </a:p>
        </p:txBody>
      </p:sp>
      <p:sp>
        <p:nvSpPr>
          <p:cNvPr id="19" name="TextBox 18"/>
          <p:cNvSpPr txBox="1"/>
          <p:nvPr/>
        </p:nvSpPr>
        <p:spPr>
          <a:xfrm>
            <a:off x="7077456" y="1709928"/>
            <a:ext cx="749808" cy="256032"/>
          </a:xfrm>
          <a:prstGeom prst="rect">
            <a:avLst/>
          </a:prstGeom>
          <a:noFill/>
        </p:spPr>
        <p:txBody>
          <a:bodyPr wrap="square" lIns="0" tIns="0" rIns="0" bIns="0" anchor="t">
            <a:spAutoFit/>
          </a:bodyPr>
          <a:lstStyle/>
          <a:p>
            <a:pPr algn="r">
              <a:lnSpc>
                <a:spcPct val="132000"/>
              </a:lnSpc>
              <a:spcAft>
                <a:spcPts val="600"/>
              </a:spcAft>
            </a:pPr>
            <a:r>
              <a:rPr sz="1150" b="0">
                <a:solidFill>
                  <a:srgbClr val="6E6E6E"/>
                </a:solidFill>
                <a:latin typeface="Meiryo"/>
                <a:ea typeface="Meiryo"/>
                <a:cs typeface="Meiryo"/>
              </a:rPr>
              <a:t>マアジ</a:t>
            </a:r>
          </a:p>
        </p:txBody>
      </p:sp>
      <p:sp>
        <p:nvSpPr>
          <p:cNvPr id="20" name="TextBox 19"/>
          <p:cNvSpPr txBox="1"/>
          <p:nvPr/>
        </p:nvSpPr>
        <p:spPr>
          <a:xfrm>
            <a:off x="7973568" y="1709928"/>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21" name="TextBox 20"/>
          <p:cNvSpPr txBox="1"/>
          <p:nvPr/>
        </p:nvSpPr>
        <p:spPr>
          <a:xfrm>
            <a:off x="8842248" y="1709928"/>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22" name="TextBox 21"/>
          <p:cNvSpPr txBox="1"/>
          <p:nvPr/>
        </p:nvSpPr>
        <p:spPr>
          <a:xfrm>
            <a:off x="9710928" y="1709928"/>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−λ11</a:t>
            </a:r>
          </a:p>
        </p:txBody>
      </p:sp>
      <p:sp>
        <p:nvSpPr>
          <p:cNvPr id="23" name="TextBox 22"/>
          <p:cNvSpPr txBox="1"/>
          <p:nvPr/>
        </p:nvSpPr>
        <p:spPr>
          <a:xfrm>
            <a:off x="10579608" y="1709928"/>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−λ12</a:t>
            </a:r>
          </a:p>
        </p:txBody>
      </p:sp>
      <p:sp>
        <p:nvSpPr>
          <p:cNvPr id="24" name="TextBox 23"/>
          <p:cNvSpPr txBox="1"/>
          <p:nvPr/>
        </p:nvSpPr>
        <p:spPr>
          <a:xfrm>
            <a:off x="7077456" y="2093976"/>
            <a:ext cx="749808" cy="256032"/>
          </a:xfrm>
          <a:prstGeom prst="rect">
            <a:avLst/>
          </a:prstGeom>
          <a:noFill/>
        </p:spPr>
        <p:txBody>
          <a:bodyPr wrap="square" lIns="0" tIns="0" rIns="0" bIns="0" anchor="t">
            <a:spAutoFit/>
          </a:bodyPr>
          <a:lstStyle/>
          <a:p>
            <a:pPr algn="r">
              <a:lnSpc>
                <a:spcPct val="132000"/>
              </a:lnSpc>
              <a:spcAft>
                <a:spcPts val="600"/>
              </a:spcAft>
            </a:pPr>
            <a:r>
              <a:rPr sz="1150" b="0">
                <a:solidFill>
                  <a:srgbClr val="6E6E6E"/>
                </a:solidFill>
                <a:latin typeface="Meiryo"/>
                <a:ea typeface="Meiryo"/>
                <a:cs typeface="Meiryo"/>
              </a:rPr>
              <a:t>ウルメ</a:t>
            </a:r>
          </a:p>
        </p:txBody>
      </p:sp>
      <p:sp>
        <p:nvSpPr>
          <p:cNvPr id="25" name="TextBox 24"/>
          <p:cNvSpPr txBox="1"/>
          <p:nvPr/>
        </p:nvSpPr>
        <p:spPr>
          <a:xfrm>
            <a:off x="7973568" y="2093976"/>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26" name="TextBox 25"/>
          <p:cNvSpPr txBox="1"/>
          <p:nvPr/>
        </p:nvSpPr>
        <p:spPr>
          <a:xfrm>
            <a:off x="8842248" y="2093976"/>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27" name="TextBox 26"/>
          <p:cNvSpPr txBox="1"/>
          <p:nvPr/>
        </p:nvSpPr>
        <p:spPr>
          <a:xfrm>
            <a:off x="9710928" y="2093976"/>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−λ21</a:t>
            </a:r>
          </a:p>
        </p:txBody>
      </p:sp>
      <p:sp>
        <p:nvSpPr>
          <p:cNvPr id="28" name="TextBox 27"/>
          <p:cNvSpPr txBox="1"/>
          <p:nvPr/>
        </p:nvSpPr>
        <p:spPr>
          <a:xfrm>
            <a:off x="10579608" y="2093976"/>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−λ22</a:t>
            </a:r>
          </a:p>
        </p:txBody>
      </p:sp>
      <p:sp>
        <p:nvSpPr>
          <p:cNvPr id="29" name="TextBox 28"/>
          <p:cNvSpPr txBox="1"/>
          <p:nvPr/>
        </p:nvSpPr>
        <p:spPr>
          <a:xfrm>
            <a:off x="7077456" y="2478024"/>
            <a:ext cx="749808" cy="256032"/>
          </a:xfrm>
          <a:prstGeom prst="rect">
            <a:avLst/>
          </a:prstGeom>
          <a:noFill/>
        </p:spPr>
        <p:txBody>
          <a:bodyPr wrap="square" lIns="0" tIns="0" rIns="0" bIns="0" anchor="t">
            <a:spAutoFit/>
          </a:bodyPr>
          <a:lstStyle/>
          <a:p>
            <a:pPr algn="r">
              <a:lnSpc>
                <a:spcPct val="132000"/>
              </a:lnSpc>
              <a:spcAft>
                <a:spcPts val="600"/>
              </a:spcAft>
            </a:pPr>
            <a:r>
              <a:rPr sz="1150" b="0">
                <a:solidFill>
                  <a:srgbClr val="6E6E6E"/>
                </a:solidFill>
                <a:latin typeface="Meiryo"/>
                <a:ea typeface="Meiryo"/>
                <a:cs typeface="Meiryo"/>
              </a:rPr>
              <a:t>ブリ</a:t>
            </a:r>
          </a:p>
        </p:txBody>
      </p:sp>
      <p:sp>
        <p:nvSpPr>
          <p:cNvPr id="30" name="TextBox 29"/>
          <p:cNvSpPr txBox="1"/>
          <p:nvPr/>
        </p:nvSpPr>
        <p:spPr>
          <a:xfrm>
            <a:off x="7973568" y="2478024"/>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c1λ11</a:t>
            </a:r>
          </a:p>
        </p:txBody>
      </p:sp>
      <p:sp>
        <p:nvSpPr>
          <p:cNvPr id="31" name="TextBox 30"/>
          <p:cNvSpPr txBox="1"/>
          <p:nvPr/>
        </p:nvSpPr>
        <p:spPr>
          <a:xfrm>
            <a:off x="8842248" y="2478024"/>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d1λ21</a:t>
            </a:r>
          </a:p>
        </p:txBody>
      </p:sp>
      <p:sp>
        <p:nvSpPr>
          <p:cNvPr id="32" name="TextBox 31"/>
          <p:cNvSpPr txBox="1"/>
          <p:nvPr/>
        </p:nvSpPr>
        <p:spPr>
          <a:xfrm>
            <a:off x="9710928" y="2478024"/>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33" name="TextBox 32"/>
          <p:cNvSpPr txBox="1"/>
          <p:nvPr/>
        </p:nvSpPr>
        <p:spPr>
          <a:xfrm>
            <a:off x="10579608" y="2478024"/>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34" name="TextBox 33"/>
          <p:cNvSpPr txBox="1"/>
          <p:nvPr/>
        </p:nvSpPr>
        <p:spPr>
          <a:xfrm>
            <a:off x="7077456" y="2862072"/>
            <a:ext cx="749808" cy="256032"/>
          </a:xfrm>
          <a:prstGeom prst="rect">
            <a:avLst/>
          </a:prstGeom>
          <a:noFill/>
        </p:spPr>
        <p:txBody>
          <a:bodyPr wrap="square" lIns="0" tIns="0" rIns="0" bIns="0" anchor="t">
            <a:spAutoFit/>
          </a:bodyPr>
          <a:lstStyle/>
          <a:p>
            <a:pPr algn="r">
              <a:lnSpc>
                <a:spcPct val="132000"/>
              </a:lnSpc>
              <a:spcAft>
                <a:spcPts val="600"/>
              </a:spcAft>
            </a:pPr>
            <a:r>
              <a:rPr sz="1150" b="0">
                <a:solidFill>
                  <a:srgbClr val="6E6E6E"/>
                </a:solidFill>
                <a:latin typeface="Meiryo"/>
                <a:ea typeface="Meiryo"/>
                <a:cs typeface="Meiryo"/>
              </a:rPr>
              <a:t>サワラ</a:t>
            </a:r>
          </a:p>
        </p:txBody>
      </p:sp>
      <p:sp>
        <p:nvSpPr>
          <p:cNvPr id="35" name="TextBox 34"/>
          <p:cNvSpPr txBox="1"/>
          <p:nvPr/>
        </p:nvSpPr>
        <p:spPr>
          <a:xfrm>
            <a:off x="7973568" y="2862072"/>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c2λ12</a:t>
            </a:r>
          </a:p>
        </p:txBody>
      </p:sp>
      <p:sp>
        <p:nvSpPr>
          <p:cNvPr id="36" name="TextBox 35"/>
          <p:cNvSpPr txBox="1"/>
          <p:nvPr/>
        </p:nvSpPr>
        <p:spPr>
          <a:xfrm>
            <a:off x="8842248" y="2862072"/>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222222"/>
                </a:solidFill>
                <a:latin typeface="Meiryo"/>
                <a:ea typeface="Meiryo"/>
                <a:cs typeface="Meiryo"/>
              </a:rPr>
              <a:t>d2λ22</a:t>
            </a:r>
          </a:p>
        </p:txBody>
      </p:sp>
      <p:sp>
        <p:nvSpPr>
          <p:cNvPr id="37" name="TextBox 36"/>
          <p:cNvSpPr txBox="1"/>
          <p:nvPr/>
        </p:nvSpPr>
        <p:spPr>
          <a:xfrm>
            <a:off x="9710928" y="2862072"/>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38" name="TextBox 37"/>
          <p:cNvSpPr txBox="1"/>
          <p:nvPr/>
        </p:nvSpPr>
        <p:spPr>
          <a:xfrm>
            <a:off x="10579608" y="2862072"/>
            <a:ext cx="868680" cy="256032"/>
          </a:xfrm>
          <a:prstGeom prst="rect">
            <a:avLst/>
          </a:prstGeom>
          <a:noFill/>
        </p:spPr>
        <p:txBody>
          <a:bodyPr wrap="square" lIns="0" tIns="0" rIns="0" bIns="0" anchor="t">
            <a:spAutoFit/>
          </a:bodyPr>
          <a:lstStyle/>
          <a:p>
            <a:pPr algn="ctr">
              <a:lnSpc>
                <a:spcPct val="132000"/>
              </a:lnSpc>
              <a:spcAft>
                <a:spcPts val="600"/>
              </a:spcAft>
            </a:pPr>
            <a:r>
              <a:rPr sz="1300" b="0">
                <a:solidFill>
                  <a:srgbClr val="6E6E6E"/>
                </a:solidFill>
                <a:latin typeface="Meiryo"/>
                <a:ea typeface="Meiryo"/>
                <a:cs typeface="Meiryo"/>
              </a:rPr>
              <a:t>0</a:t>
            </a:r>
          </a:p>
        </p:txBody>
      </p:sp>
      <p:sp>
        <p:nvSpPr>
          <p:cNvPr id="39" name="Left Bracket 38"/>
          <p:cNvSpPr/>
          <p:nvPr/>
        </p:nvSpPr>
        <p:spPr>
          <a:xfrm>
            <a:off x="7845552" y="1572768"/>
            <a:ext cx="109728" cy="1645919"/>
          </a:xfrm>
          <a:prstGeom prst="lef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ight Bracket 39"/>
          <p:cNvSpPr/>
          <p:nvPr/>
        </p:nvSpPr>
        <p:spPr>
          <a:xfrm>
            <a:off x="11466576" y="1572768"/>
            <a:ext cx="109728" cy="1645919"/>
          </a:xfrm>
          <a:prstGeom prst="righ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973568" y="3346704"/>
            <a:ext cx="3566160" cy="274320"/>
          </a:xfrm>
          <a:prstGeom prst="rect">
            <a:avLst/>
          </a:prstGeom>
          <a:noFill/>
        </p:spPr>
        <p:txBody>
          <a:bodyPr wrap="square" lIns="0" tIns="0" rIns="0" bIns="0" anchor="t">
            <a:spAutoFit/>
          </a:bodyPr>
          <a:lstStyle/>
          <a:p>
            <a:pPr algn="l">
              <a:lnSpc>
                <a:spcPct val="132000"/>
              </a:lnSpc>
              <a:spcAft>
                <a:spcPts val="600"/>
              </a:spcAft>
            </a:pPr>
            <a:r>
              <a:rPr sz="1200" b="0">
                <a:solidFill>
                  <a:srgbClr val="C0561A"/>
                </a:solidFill>
                <a:latin typeface="Meiryo"/>
                <a:ea typeface="Meiryo"/>
                <a:cs typeface="Meiryo"/>
              </a:rPr>
              <a:t>灰色＝すべてゼロ</a:t>
            </a:r>
          </a:p>
        </p:txBody>
      </p:sp>
      <p:sp>
        <p:nvSpPr>
          <p:cNvPr id="42" name="TextBox 41"/>
          <p:cNvSpPr txBox="1"/>
          <p:nvPr/>
        </p:nvSpPr>
        <p:spPr>
          <a:xfrm>
            <a:off x="7040880" y="3749039"/>
            <a:ext cx="4572000" cy="914400"/>
          </a:xfrm>
          <a:prstGeom prst="rect">
            <a:avLst/>
          </a:prstGeom>
          <a:noFill/>
        </p:spPr>
        <p:txBody>
          <a:bodyPr wrap="square" lIns="0" tIns="0" rIns="0" bIns="0" anchor="t">
            <a:spAutoFit/>
          </a:bodyPr>
          <a:lstStyle/>
          <a:p>
            <a:pPr algn="l">
              <a:lnSpc>
                <a:spcPct val="132000"/>
              </a:lnSpc>
              <a:spcAft>
                <a:spcPts val="400"/>
              </a:spcAft>
            </a:pPr>
            <a:r>
              <a:rPr sz="1350" b="0">
                <a:solidFill>
                  <a:srgbClr val="222222"/>
                </a:solidFill>
                <a:latin typeface="Meiryo"/>
                <a:ea typeface="Meiryo"/>
                <a:cs typeface="Meiryo"/>
              </a:rPr>
              <a:t>・左上がゼロ ＝ 餌の魚どうしの取り合いなし</a:t>
            </a:r>
          </a:p>
          <a:p>
            <a:pPr algn="l">
              <a:lnSpc>
                <a:spcPct val="132000"/>
              </a:lnSpc>
              <a:spcAft>
                <a:spcPts val="400"/>
              </a:spcAft>
            </a:pPr>
            <a:r>
              <a:rPr sz="1350" b="0">
                <a:solidFill>
                  <a:srgbClr val="222222"/>
                </a:solidFill>
                <a:latin typeface="Meiryo"/>
                <a:ea typeface="Meiryo"/>
                <a:cs typeface="Meiryo"/>
              </a:rPr>
              <a:t>・右下がゼロ ＝ 食べる魚どうしの関係なし</a:t>
            </a:r>
          </a:p>
        </p:txBody>
      </p:sp>
      <p:sp>
        <p:nvSpPr>
          <p:cNvPr id="43" name="Rectangle 42"/>
          <p:cNvSpPr/>
          <p:nvPr/>
        </p:nvSpPr>
        <p:spPr>
          <a:xfrm>
            <a:off x="566928" y="5623560"/>
            <a:ext cx="11057839" cy="65836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768096" y="5760720"/>
            <a:ext cx="10655503" cy="411480"/>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同じ段の魚どうしの関係も、自分自身の混み合いも、どちらも式に入れていない。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MSY を出すまでの流れ</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6</a:t>
            </a:r>
          </a:p>
        </p:txBody>
      </p:sp>
      <p:sp>
        <p:nvSpPr>
          <p:cNvPr id="4" name="TextBox 3"/>
          <p:cNvSpPr txBox="1"/>
          <p:nvPr/>
        </p:nvSpPr>
        <p:spPr>
          <a:xfrm>
            <a:off x="566928" y="1170432"/>
            <a:ext cx="11057839" cy="457200"/>
          </a:xfrm>
          <a:prstGeom prst="rect">
            <a:avLst/>
          </a:prstGeom>
          <a:noFill/>
        </p:spPr>
        <p:txBody>
          <a:bodyPr wrap="square" lIns="0" tIns="0" rIns="0" bIns="0" anchor="t">
            <a:spAutoFit/>
          </a:bodyPr>
          <a:lstStyle/>
          <a:p>
            <a:pPr algn="l">
              <a:lnSpc>
                <a:spcPct val="132000"/>
              </a:lnSpc>
              <a:spcAft>
                <a:spcPts val="600"/>
              </a:spcAft>
            </a:pPr>
            <a:r>
              <a:rPr sz="1700" b="0">
                <a:solidFill>
                  <a:srgbClr val="222222"/>
                </a:solidFill>
                <a:latin typeface="Meiryo"/>
                <a:ea typeface="Meiryo"/>
                <a:cs typeface="Meiryo"/>
              </a:rPr>
              <a:t>係数をデータから決め、そこに漁獲率を入れて回し、資源が減りすぎない範囲で漁獲量を最大にする。</a:t>
            </a:r>
          </a:p>
        </p:txBody>
      </p:sp>
      <p:sp>
        <p:nvSpPr>
          <p:cNvPr id="5" name="Rectangle 4"/>
          <p:cNvSpPr/>
          <p:nvPr/>
        </p:nvSpPr>
        <p:spPr>
          <a:xfrm>
            <a:off x="566928" y="1700784"/>
            <a:ext cx="1417320" cy="93268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640080" y="1700784"/>
            <a:ext cx="1271016" cy="932688"/>
          </a:xfrm>
          <a:prstGeom prst="rect">
            <a:avLst/>
          </a:prstGeom>
          <a:noFill/>
        </p:spPr>
        <p:txBody>
          <a:bodyPr wrap="square" lIns="0" tIns="0" rIns="0" bIns="0" anchor="ctr">
            <a:spAutoFit/>
          </a:bodyPr>
          <a:lstStyle/>
          <a:p>
            <a:pPr algn="ctr">
              <a:lnSpc>
                <a:spcPct val="122000"/>
              </a:lnSpc>
              <a:spcAft>
                <a:spcPts val="200"/>
              </a:spcAft>
            </a:pPr>
            <a:r>
              <a:rPr sz="1400" b="1">
                <a:solidFill>
                  <a:srgbClr val="222222"/>
                </a:solidFill>
                <a:latin typeface="Meiryo"/>
                <a:ea typeface="Meiryo"/>
                <a:cs typeface="Meiryo"/>
              </a:rPr>
              <a:t>データ</a:t>
            </a:r>
          </a:p>
          <a:p>
            <a:pPr algn="ctr">
              <a:lnSpc>
                <a:spcPct val="122000"/>
              </a:lnSpc>
              <a:spcAft>
                <a:spcPts val="200"/>
              </a:spcAft>
            </a:pPr>
            <a:r>
              <a:rPr sz="1250" b="1">
                <a:solidFill>
                  <a:srgbClr val="6E6E6E"/>
                </a:solidFill>
                <a:latin typeface="Meiryo"/>
                <a:ea typeface="Meiryo"/>
                <a:cs typeface="Meiryo"/>
              </a:rPr>
              <a:t>資源量・漁獲量</a:t>
            </a:r>
          </a:p>
        </p:txBody>
      </p:sp>
      <p:sp>
        <p:nvSpPr>
          <p:cNvPr id="7" name="Rectangle 6"/>
          <p:cNvSpPr/>
          <p:nvPr/>
        </p:nvSpPr>
        <p:spPr>
          <a:xfrm>
            <a:off x="2203704" y="1700784"/>
            <a:ext cx="2450592" cy="93268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2276856" y="1700784"/>
            <a:ext cx="2304288" cy="932688"/>
          </a:xfrm>
          <a:prstGeom prst="rect">
            <a:avLst/>
          </a:prstGeom>
          <a:noFill/>
        </p:spPr>
        <p:txBody>
          <a:bodyPr wrap="square" lIns="0" tIns="0" rIns="0" bIns="0" anchor="ctr">
            <a:spAutoFit/>
          </a:bodyPr>
          <a:lstStyle/>
          <a:p>
            <a:pPr algn="ctr">
              <a:lnSpc>
                <a:spcPct val="122000"/>
              </a:lnSpc>
              <a:spcAft>
                <a:spcPts val="200"/>
              </a:spcAft>
            </a:pPr>
            <a:r>
              <a:rPr sz="1400" b="1">
                <a:solidFill>
                  <a:srgbClr val="FFFFFF"/>
                </a:solidFill>
                <a:latin typeface="Meiryo"/>
                <a:ea typeface="Meiryo"/>
                <a:cs typeface="Meiryo"/>
              </a:rPr>
              <a:t>① パラメータを</a:t>
            </a:r>
          </a:p>
          <a:p>
            <a:pPr algn="ctr">
              <a:lnSpc>
                <a:spcPct val="122000"/>
              </a:lnSpc>
              <a:spcAft>
                <a:spcPts val="200"/>
              </a:spcAft>
            </a:pPr>
            <a:r>
              <a:rPr sz="1400" b="1">
                <a:solidFill>
                  <a:srgbClr val="FFFFFF"/>
                </a:solidFill>
                <a:latin typeface="Meiryo"/>
                <a:ea typeface="Meiryo"/>
                <a:cs typeface="Meiryo"/>
              </a:rPr>
              <a:t>レジーム別に推定</a:t>
            </a:r>
          </a:p>
        </p:txBody>
      </p:sp>
      <p:sp>
        <p:nvSpPr>
          <p:cNvPr id="9" name="Rectangle 8"/>
          <p:cNvSpPr/>
          <p:nvPr/>
        </p:nvSpPr>
        <p:spPr>
          <a:xfrm>
            <a:off x="4873752" y="1700784"/>
            <a:ext cx="2450592" cy="93268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4946904" y="1700784"/>
            <a:ext cx="2304288" cy="932688"/>
          </a:xfrm>
          <a:prstGeom prst="rect">
            <a:avLst/>
          </a:prstGeom>
          <a:noFill/>
        </p:spPr>
        <p:txBody>
          <a:bodyPr wrap="square" lIns="0" tIns="0" rIns="0" bIns="0" anchor="ctr">
            <a:spAutoFit/>
          </a:bodyPr>
          <a:lstStyle/>
          <a:p>
            <a:pPr algn="ctr">
              <a:lnSpc>
                <a:spcPct val="122000"/>
              </a:lnSpc>
              <a:spcAft>
                <a:spcPts val="200"/>
              </a:spcAft>
            </a:pPr>
            <a:r>
              <a:rPr sz="1400" b="1">
                <a:solidFill>
                  <a:srgbClr val="FFFFFF"/>
                </a:solidFill>
                <a:latin typeface="Meiryo"/>
                <a:ea typeface="Meiryo"/>
                <a:cs typeface="Meiryo"/>
              </a:rPr>
              <a:t>② 漁獲率 f を入れて</a:t>
            </a:r>
          </a:p>
          <a:p>
            <a:pPr algn="ctr">
              <a:lnSpc>
                <a:spcPct val="122000"/>
              </a:lnSpc>
              <a:spcAft>
                <a:spcPts val="200"/>
              </a:spcAft>
            </a:pPr>
            <a:r>
              <a:rPr sz="1400" b="1">
                <a:solidFill>
                  <a:srgbClr val="FFFFFF"/>
                </a:solidFill>
                <a:latin typeface="Meiryo"/>
                <a:ea typeface="Meiryo"/>
                <a:cs typeface="Meiryo"/>
              </a:rPr>
              <a:t>T 年計算</a:t>
            </a:r>
          </a:p>
        </p:txBody>
      </p:sp>
      <p:sp>
        <p:nvSpPr>
          <p:cNvPr id="11" name="Rectangle 10"/>
          <p:cNvSpPr/>
          <p:nvPr/>
        </p:nvSpPr>
        <p:spPr>
          <a:xfrm>
            <a:off x="7543800" y="1700784"/>
            <a:ext cx="2450592" cy="93268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7616952" y="1700784"/>
            <a:ext cx="2304288" cy="932688"/>
          </a:xfrm>
          <a:prstGeom prst="rect">
            <a:avLst/>
          </a:prstGeom>
          <a:noFill/>
        </p:spPr>
        <p:txBody>
          <a:bodyPr wrap="square" lIns="0" tIns="0" rIns="0" bIns="0" anchor="ctr">
            <a:spAutoFit/>
          </a:bodyPr>
          <a:lstStyle/>
          <a:p>
            <a:pPr algn="ctr">
              <a:lnSpc>
                <a:spcPct val="122000"/>
              </a:lnSpc>
              <a:spcAft>
                <a:spcPts val="200"/>
              </a:spcAft>
            </a:pPr>
            <a:r>
              <a:rPr sz="1400" b="1">
                <a:solidFill>
                  <a:srgbClr val="FFFFFF"/>
                </a:solidFill>
                <a:latin typeface="Meiryo"/>
                <a:ea typeface="Meiryo"/>
                <a:cs typeface="Meiryo"/>
              </a:rPr>
              <a:t>③ 減りすぎない条件で</a:t>
            </a:r>
          </a:p>
          <a:p>
            <a:pPr algn="ctr">
              <a:lnSpc>
                <a:spcPct val="122000"/>
              </a:lnSpc>
              <a:spcAft>
                <a:spcPts val="200"/>
              </a:spcAft>
            </a:pPr>
            <a:r>
              <a:rPr sz="1400" b="1">
                <a:solidFill>
                  <a:srgbClr val="FFFFFF"/>
                </a:solidFill>
                <a:latin typeface="Meiryo"/>
                <a:ea typeface="Meiryo"/>
                <a:cs typeface="Meiryo"/>
              </a:rPr>
              <a:t>期間平均漁獲量を最大化</a:t>
            </a:r>
          </a:p>
        </p:txBody>
      </p:sp>
      <p:sp>
        <p:nvSpPr>
          <p:cNvPr id="13" name="Rectangle 12"/>
          <p:cNvSpPr/>
          <p:nvPr/>
        </p:nvSpPr>
        <p:spPr>
          <a:xfrm>
            <a:off x="10213848" y="1700784"/>
            <a:ext cx="1408176" cy="93268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287000" y="1700784"/>
            <a:ext cx="1261872" cy="932688"/>
          </a:xfrm>
          <a:prstGeom prst="rect">
            <a:avLst/>
          </a:prstGeom>
          <a:noFill/>
        </p:spPr>
        <p:txBody>
          <a:bodyPr wrap="square" lIns="0" tIns="0" rIns="0" bIns="0" anchor="ctr">
            <a:spAutoFit/>
          </a:bodyPr>
          <a:lstStyle/>
          <a:p>
            <a:pPr algn="ctr">
              <a:lnSpc>
                <a:spcPct val="122000"/>
              </a:lnSpc>
              <a:spcAft>
                <a:spcPts val="200"/>
              </a:spcAft>
            </a:pPr>
            <a:r>
              <a:rPr sz="1400" b="1">
                <a:solidFill>
                  <a:srgbClr val="C0561A"/>
                </a:solidFill>
                <a:latin typeface="Meiryo"/>
                <a:ea typeface="Meiryo"/>
                <a:cs typeface="Meiryo"/>
              </a:rPr>
              <a:t>レジーム別の</a:t>
            </a:r>
          </a:p>
          <a:p>
            <a:pPr algn="ctr">
              <a:lnSpc>
                <a:spcPct val="122000"/>
              </a:lnSpc>
              <a:spcAft>
                <a:spcPts val="200"/>
              </a:spcAft>
            </a:pPr>
            <a:r>
              <a:rPr sz="1400" b="1">
                <a:solidFill>
                  <a:srgbClr val="C0561A"/>
                </a:solidFill>
                <a:latin typeface="Meiryo"/>
                <a:ea typeface="Meiryo"/>
                <a:cs typeface="Meiryo"/>
              </a:rPr>
              <a:t>MSY</a:t>
            </a:r>
          </a:p>
        </p:txBody>
      </p:sp>
      <p:cxnSp>
        <p:nvCxnSpPr>
          <p:cNvPr id="15" name="Connector 14"/>
          <p:cNvCxnSpPr/>
          <p:nvPr/>
        </p:nvCxnSpPr>
        <p:spPr>
          <a:xfrm>
            <a:off x="2011679" y="2167128"/>
            <a:ext cx="164593"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81728" y="2167128"/>
            <a:ext cx="164592"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51775" y="2167128"/>
            <a:ext cx="164593"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21824" y="2167128"/>
            <a:ext cx="164592"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203704" y="2743200"/>
            <a:ext cx="2450592" cy="23591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2350008" y="2871216"/>
            <a:ext cx="2157984" cy="2103120"/>
          </a:xfrm>
          <a:prstGeom prst="rect">
            <a:avLst/>
          </a:prstGeom>
          <a:noFill/>
        </p:spPr>
        <p:txBody>
          <a:bodyPr wrap="square" lIns="0" tIns="0" rIns="0" bIns="0" anchor="t">
            <a:spAutoFit/>
          </a:bodyPr>
          <a:lstStyle/>
          <a:p>
            <a:pPr algn="l">
              <a:lnSpc>
                <a:spcPct val="124000"/>
              </a:lnSpc>
              <a:spcAft>
                <a:spcPts val="400"/>
              </a:spcAft>
            </a:pPr>
            <a:r>
              <a:rPr sz="1200" b="0">
                <a:solidFill>
                  <a:srgbClr val="222222"/>
                </a:solidFill>
                <a:latin typeface="Meiryo"/>
                <a:ea typeface="Meiryo"/>
                <a:cs typeface="Meiryo"/>
              </a:rPr>
              <a:t>・時期ごとに係数12個を別々に推定</a:t>
            </a:r>
          </a:p>
          <a:p>
            <a:pPr algn="l">
              <a:lnSpc>
                <a:spcPct val="124000"/>
              </a:lnSpc>
              <a:spcAft>
                <a:spcPts val="400"/>
              </a:spcAft>
            </a:pPr>
            <a:r>
              <a:rPr sz="1200" b="0">
                <a:solidFill>
                  <a:srgbClr val="222222"/>
                </a:solidFill>
                <a:latin typeface="Meiryo"/>
                <a:ea typeface="Meiryo"/>
                <a:cs typeface="Meiryo"/>
              </a:rPr>
              <a:t>・正規化した空間で ODE を数値積分（LSODA）</a:t>
            </a:r>
          </a:p>
          <a:p>
            <a:pPr algn="l">
              <a:lnSpc>
                <a:spcPct val="124000"/>
              </a:lnSpc>
              <a:spcAft>
                <a:spcPts val="400"/>
              </a:spcAft>
            </a:pPr>
            <a:r>
              <a:rPr sz="1200" b="0">
                <a:solidFill>
                  <a:srgbClr val="222222"/>
                </a:solidFill>
                <a:latin typeface="Meiryo"/>
                <a:ea typeface="Meiryo"/>
                <a:cs typeface="Meiryo"/>
              </a:rPr>
              <a:t>・対数残差を最小二乗法（trf）で最小化</a:t>
            </a:r>
          </a:p>
          <a:p>
            <a:pPr algn="l">
              <a:lnSpc>
                <a:spcPct val="124000"/>
              </a:lnSpc>
              <a:spcAft>
                <a:spcPts val="400"/>
              </a:spcAft>
            </a:pPr>
            <a:r>
              <a:rPr sz="1200" b="0">
                <a:solidFill>
                  <a:srgbClr val="222222"/>
                </a:solidFill>
                <a:latin typeface="Meiryo"/>
                <a:ea typeface="Meiryo"/>
                <a:cs typeface="Meiryo"/>
              </a:rPr>
              <a:t>・出発点を多数変えて局所解を避ける</a:t>
            </a:r>
          </a:p>
          <a:p>
            <a:pPr algn="l">
              <a:lnSpc>
                <a:spcPct val="124000"/>
              </a:lnSpc>
              <a:spcAft>
                <a:spcPts val="400"/>
              </a:spcAft>
            </a:pPr>
            <a:r>
              <a:rPr sz="1200" b="0">
                <a:solidFill>
                  <a:srgbClr val="222222"/>
                </a:solidFill>
                <a:latin typeface="Meiryo"/>
                <a:ea typeface="Meiryo"/>
                <a:cs typeface="Meiryo"/>
              </a:rPr>
              <a:t>・当てはまりは NRMSE で評価</a:t>
            </a:r>
          </a:p>
        </p:txBody>
      </p:sp>
      <p:sp>
        <p:nvSpPr>
          <p:cNvPr id="21" name="Rectangle 20"/>
          <p:cNvSpPr/>
          <p:nvPr/>
        </p:nvSpPr>
        <p:spPr>
          <a:xfrm>
            <a:off x="4873752" y="2743200"/>
            <a:ext cx="2450592" cy="23591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5020056" y="2871216"/>
            <a:ext cx="2157984" cy="2103120"/>
          </a:xfrm>
          <a:prstGeom prst="rect">
            <a:avLst/>
          </a:prstGeom>
          <a:noFill/>
        </p:spPr>
        <p:txBody>
          <a:bodyPr wrap="square" lIns="0" tIns="0" rIns="0" bIns="0" anchor="t">
            <a:spAutoFit/>
          </a:bodyPr>
          <a:lstStyle/>
          <a:p>
            <a:pPr algn="l">
              <a:lnSpc>
                <a:spcPct val="124000"/>
              </a:lnSpc>
              <a:spcAft>
                <a:spcPts val="400"/>
              </a:spcAft>
            </a:pPr>
            <a:r>
              <a:rPr sz="1200" b="0">
                <a:solidFill>
                  <a:srgbClr val="222222"/>
                </a:solidFill>
                <a:latin typeface="Meiryo"/>
                <a:ea typeface="Meiryo"/>
                <a:cs typeface="Meiryo"/>
              </a:rPr>
              <a:t>・推定した式に、魚種ごとの一定の漁獲率 f を入れる</a:t>
            </a:r>
          </a:p>
          <a:p>
            <a:pPr algn="l">
              <a:lnSpc>
                <a:spcPct val="124000"/>
              </a:lnSpc>
              <a:spcAft>
                <a:spcPts val="400"/>
              </a:spcAft>
            </a:pPr>
            <a:r>
              <a:rPr sz="1200" b="0">
                <a:solidFill>
                  <a:srgbClr val="222222"/>
                </a:solidFill>
                <a:latin typeface="Meiryo"/>
                <a:ea typeface="Meiryo"/>
                <a:cs typeface="Meiryo"/>
              </a:rPr>
              <a:t>・f は4成分（マアジ・ウルメ・ブリ・サワラ）</a:t>
            </a:r>
          </a:p>
          <a:p>
            <a:pPr algn="l">
              <a:lnSpc>
                <a:spcPct val="124000"/>
              </a:lnSpc>
              <a:spcAft>
                <a:spcPts val="400"/>
              </a:spcAft>
            </a:pPr>
            <a:r>
              <a:rPr sz="1200" b="0">
                <a:solidFill>
                  <a:srgbClr val="222222"/>
                </a:solidFill>
                <a:latin typeface="Meiryo"/>
                <a:ea typeface="Meiryo"/>
                <a:cs typeface="Meiryo"/>
              </a:rPr>
              <a:t>・観測初年の資源量から T 年ぶん積分する</a:t>
            </a:r>
          </a:p>
        </p:txBody>
      </p:sp>
      <p:sp>
        <p:nvSpPr>
          <p:cNvPr id="23" name="Rectangle 22"/>
          <p:cNvSpPr/>
          <p:nvPr/>
        </p:nvSpPr>
        <p:spPr>
          <a:xfrm>
            <a:off x="7543800" y="2743200"/>
            <a:ext cx="2450592" cy="23591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7690104" y="2871216"/>
            <a:ext cx="2157984" cy="2103120"/>
          </a:xfrm>
          <a:prstGeom prst="rect">
            <a:avLst/>
          </a:prstGeom>
          <a:noFill/>
        </p:spPr>
        <p:txBody>
          <a:bodyPr wrap="square" lIns="0" tIns="0" rIns="0" bIns="0" anchor="t">
            <a:spAutoFit/>
          </a:bodyPr>
          <a:lstStyle/>
          <a:p>
            <a:pPr algn="l">
              <a:lnSpc>
                <a:spcPct val="124000"/>
              </a:lnSpc>
              <a:spcAft>
                <a:spcPts val="400"/>
              </a:spcAft>
            </a:pPr>
            <a:r>
              <a:rPr sz="1200" b="0">
                <a:solidFill>
                  <a:srgbClr val="222222"/>
                </a:solidFill>
                <a:latin typeface="Meiryo"/>
                <a:ea typeface="Meiryo"/>
                <a:cs typeface="Meiryo"/>
              </a:rPr>
              <a:t>・f を 0〜0.95 の格子で総当たり（4次元）</a:t>
            </a:r>
          </a:p>
          <a:p>
            <a:pPr algn="l">
              <a:lnSpc>
                <a:spcPct val="124000"/>
              </a:lnSpc>
              <a:spcAft>
                <a:spcPts val="400"/>
              </a:spcAft>
            </a:pPr>
            <a:r>
              <a:rPr sz="1200" b="0">
                <a:solidFill>
                  <a:srgbClr val="222222"/>
                </a:solidFill>
                <a:latin typeface="Meiryo"/>
                <a:ea typeface="Meiryo"/>
                <a:cs typeface="Meiryo"/>
              </a:rPr>
              <a:t>・資源が減りすぎない条件を満たす f だけ残す</a:t>
            </a:r>
          </a:p>
          <a:p>
            <a:pPr algn="l">
              <a:lnSpc>
                <a:spcPct val="124000"/>
              </a:lnSpc>
              <a:spcAft>
                <a:spcPts val="400"/>
              </a:spcAft>
            </a:pPr>
            <a:r>
              <a:rPr sz="1200" b="0">
                <a:solidFill>
                  <a:srgbClr val="222222"/>
                </a:solidFill>
                <a:latin typeface="Meiryo"/>
                <a:ea typeface="Meiryo"/>
                <a:cs typeface="Meiryo"/>
              </a:rPr>
              <a:t>・既定は「最終年の資源量が初年の9割以上」</a:t>
            </a:r>
          </a:p>
          <a:p>
            <a:pPr algn="l">
              <a:lnSpc>
                <a:spcPct val="124000"/>
              </a:lnSpc>
              <a:spcAft>
                <a:spcPts val="400"/>
              </a:spcAft>
            </a:pPr>
            <a:r>
              <a:rPr sz="1200" b="0">
                <a:solidFill>
                  <a:srgbClr val="222222"/>
                </a:solidFill>
                <a:latin typeface="Meiryo"/>
                <a:ea typeface="Meiryo"/>
                <a:cs typeface="Meiryo"/>
              </a:rPr>
              <a:t>・残った f のなかで期間平均漁獲量を最大にする</a:t>
            </a:r>
          </a:p>
        </p:txBody>
      </p:sp>
      <p:sp>
        <p:nvSpPr>
          <p:cNvPr id="25" name="Rectangle 24"/>
          <p:cNvSpPr/>
          <p:nvPr/>
        </p:nvSpPr>
        <p:spPr>
          <a:xfrm>
            <a:off x="566928" y="5193792"/>
            <a:ext cx="11057839" cy="960120"/>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86384" y="5376672"/>
            <a:ext cx="2286000" cy="365760"/>
          </a:xfrm>
          <a:prstGeom prst="rect">
            <a:avLst/>
          </a:prstGeom>
          <a:noFill/>
        </p:spPr>
        <p:txBody>
          <a:bodyPr wrap="square" lIns="0" tIns="0" rIns="0" bIns="0" anchor="t">
            <a:spAutoFit/>
          </a:bodyPr>
          <a:lstStyle/>
          <a:p>
            <a:pPr algn="l">
              <a:lnSpc>
                <a:spcPct val="132000"/>
              </a:lnSpc>
              <a:spcAft>
                <a:spcPts val="600"/>
              </a:spcAft>
            </a:pPr>
            <a:r>
              <a:rPr sz="1450" b="1">
                <a:solidFill>
                  <a:srgbClr val="C0561A"/>
                </a:solidFill>
                <a:latin typeface="Meiryo"/>
                <a:ea typeface="Meiryo"/>
                <a:cs typeface="Meiryo"/>
              </a:rPr>
              <a:t>③で最大にする量</a:t>
            </a:r>
          </a:p>
        </p:txBody>
      </p:sp>
      <mc:AlternateContent xmlns:mc="http://schemas.openxmlformats.org/markup-compatibility/2006">
        <mc:Choice xmlns:a14="http://schemas.microsoft.com/office/drawing/2010/main" Requires="a14">
          <p:sp>
            <p:nvSpPr>
              <p:cNvPr id="27" name="TextBox 26"/>
              <p:cNvSpPr txBox="1"/>
              <p:nvPr/>
            </p:nvSpPr>
            <p:spPr>
              <a:xfrm>
                <a:off x="3218688" y="5321808"/>
                <a:ext cx="4206240" cy="6583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r>
                        <a:rPr lang="en-US" sz="1500" b="0" i="1" dirty="0">
                          <a:solidFill>
                            <a:srgbClr val="222222"/>
                          </a:solidFill>
                          <a:latin typeface="Cambria Math" panose="02040503050406030204" pitchFamily="18" charset="0"/>
                        </a:rPr>
                        <m:t>𝑌</m:t>
                      </m:r>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1</m:t>
                          </m:r>
                        </m:num>
                        <m:den>
                          <m:r>
                            <a:rPr lang="en-US" sz="1500" b="0" i="1" dirty="0">
                              <a:solidFill>
                                <a:srgbClr val="222222"/>
                              </a:solidFill>
                              <a:latin typeface="Cambria Math" panose="02040503050406030204" pitchFamily="18" charset="0"/>
                            </a:rPr>
                            <m:t>𝑇</m:t>
                          </m:r>
                        </m:den>
                      </m:f>
                      <m:nary>
                        <m:naryPr>
                          <m:limLoc m:val="subSup"/>
                          <m:ctrlPr>
                            <a:rPr lang="en-US" sz="1500" b="0" i="1" dirty="0">
                              <a:solidFill>
                                <a:srgbClr val="222222"/>
                              </a:solidFill>
                              <a:latin typeface="Cambria Math" panose="02040503050406030204" pitchFamily="18" charset="0"/>
                            </a:rPr>
                          </m:ctrlPr>
                        </m:naryPr>
                        <m:sub>
                          <m:r>
                            <a:rPr lang="en-US" sz="1500" b="0" i="0" dirty="0">
                              <a:solidFill>
                                <a:srgbClr val="222222"/>
                              </a:solidFill>
                              <a:latin typeface="Cambria Math" panose="02040503050406030204" pitchFamily="18" charset="0"/>
                            </a:rPr>
                            <m:t>0</m:t>
                          </m:r>
                        </m:sub>
                        <m:sup>
                          <m:r>
                            <a:rPr lang="en-US" sz="1500" b="0" i="1" dirty="0">
                              <a:solidFill>
                                <a:srgbClr val="222222"/>
                              </a:solidFill>
                              <a:latin typeface="Cambria Math" panose="02040503050406030204" pitchFamily="18" charset="0"/>
                            </a:rPr>
                            <m:t>𝑇</m:t>
                          </m:r>
                        </m:sup>
                        <m:e>
                          <m:nary>
                            <m:naryPr>
                              <m:chr m:val="∑"/>
                              <m:limLoc m:val="subSup"/>
                              <m:ctrlPr>
                                <a:rPr lang="en-US" sz="1500" b="0" i="1" dirty="0">
                                  <a:solidFill>
                                    <a:srgbClr val="222222"/>
                                  </a:solidFill>
                                  <a:latin typeface="Cambria Math" panose="02040503050406030204" pitchFamily="18" charset="0"/>
                                </a:rPr>
                              </m:ctrlPr>
                            </m:naryPr>
                            <m:sub>
                              <m:r>
                                <a:rPr lang="en-US" sz="1500" b="0" i="1" dirty="0">
                                  <a:solidFill>
                                    <a:srgbClr val="222222"/>
                                  </a:solidFill>
                                  <a:latin typeface="Cambria Math" panose="02040503050406030204" pitchFamily="18" charset="0"/>
                                </a:rPr>
                                <m:t>𝑖</m:t>
                              </m:r>
                            </m:sub>
                            <m:sup/>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1" dirty="0">
                                      <a:solidFill>
                                        <a:srgbClr val="222222"/>
                                      </a:solidFill>
                                      <a:latin typeface="Cambria Math" panose="02040503050406030204" pitchFamily="18" charset="0"/>
                                    </a:rPr>
                                    <m:t>𝑖</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𝐵</m:t>
                                  </m:r>
                                </m:e>
                                <m:sub>
                                  <m:r>
                                    <a:rPr lang="en-US" sz="1500" b="0" i="1" dirty="0">
                                      <a:solidFill>
                                        <a:srgbClr val="222222"/>
                                      </a:solidFill>
                                      <a:latin typeface="Cambria Math" panose="02040503050406030204" pitchFamily="18" charset="0"/>
                                    </a:rPr>
                                    <m:t>𝑖</m:t>
                                  </m:r>
                                </m:sub>
                              </m:sSub>
                            </m:e>
                          </m:nary>
                          <m:r>
                            <a:rPr lang="en-US" sz="1500" b="0" i="0" dirty="0">
                              <a:solidFill>
                                <a:srgbClr val="222222"/>
                              </a:solidFill>
                              <a:latin typeface="Cambria Math" panose="02040503050406030204" pitchFamily="18" charset="0"/>
                            </a:rPr>
                            <m:t> </m:t>
                          </m:r>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e>
                      </m:nary>
                    </m:oMath>
                  </m:oMathPara>
                </a14:m>
                <a:endParaRPr lang="en-US" sz="1500" dirty="0"/>
              </a:p>
            </p:txBody>
          </p:sp>
        </mc:Choice>
        <mc:Fallback>
          <p:sp>
            <p:nvSpPr>
              <p:cNvPr id="27" name="TextBox 26"/>
              <p:cNvSpPr txBox="1">
                <a:spLocks noRot="1" noChangeAspect="1" noMove="1" noResize="1" noEditPoints="1" noAdjustHandles="1" noChangeArrowheads="1" noChangeShapeType="1" noTextEdit="1"/>
              </p:cNvSpPr>
              <p:nvPr/>
            </p:nvSpPr>
            <p:spPr>
              <a:xfrm>
                <a:off x="3218688" y="5321808"/>
                <a:ext cx="4206240" cy="658368"/>
              </a:xfrm>
              <a:prstGeom prst="rect">
                <a:avLst/>
              </a:prstGeom>
              <a:blipFill>
                <a:blip r:embed="rId2"/>
                <a:stretch>
                  <a:fillRect l="-5723" t="-144231" b="-190385"/>
                </a:stretch>
              </a:blipFill>
            </p:spPr>
            <p:txBody>
              <a:bodyPr/>
              <a:lstStyle/>
              <a:p>
                <a:r>
                  <a:rPr lang="ja-JP" altLang="en-US">
                    <a:noFill/>
                  </a:rPr>
                  <a:t> </a:t>
                </a:r>
              </a:p>
            </p:txBody>
          </p:sp>
        </mc:Fallback>
      </mc:AlternateContent>
      <p:sp>
        <p:nvSpPr>
          <p:cNvPr id="28" name="TextBox 27"/>
          <p:cNvSpPr txBox="1"/>
          <p:nvPr/>
        </p:nvSpPr>
        <p:spPr>
          <a:xfrm>
            <a:off x="7790688" y="5358384"/>
            <a:ext cx="3657600" cy="685800"/>
          </a:xfrm>
          <a:prstGeom prst="rect">
            <a:avLst/>
          </a:prstGeom>
          <a:noFill/>
        </p:spPr>
        <p:txBody>
          <a:bodyPr wrap="square" lIns="0" tIns="0" rIns="0" bIns="0" anchor="t">
            <a:spAutoFit/>
          </a:bodyPr>
          <a:lstStyle/>
          <a:p>
            <a:pPr algn="l">
              <a:lnSpc>
                <a:spcPct val="132000"/>
              </a:lnSpc>
              <a:spcAft>
                <a:spcPts val="600"/>
              </a:spcAft>
            </a:pPr>
            <a:r>
              <a:rPr sz="1300" b="0">
                <a:solidFill>
                  <a:srgbClr val="222222"/>
                </a:solidFill>
                <a:latin typeface="Meiryo"/>
                <a:ea typeface="Meiryo"/>
                <a:cs typeface="Meiryo"/>
              </a:rPr>
              <a:t>B は資源量、f は漁獲率。時期ごとに①〜③を通し、大蛇行なし／大蛇行それぞれの答えを出す。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係数の決め方と、自由度を3段階に落とした3つの版</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7</a:t>
            </a:r>
          </a:p>
        </p:txBody>
      </p:sp>
      <p:sp>
        <p:nvSpPr>
          <p:cNvPr id="4" name="TextBox 3"/>
          <p:cNvSpPr txBox="1"/>
          <p:nvPr/>
        </p:nvSpPr>
        <p:spPr>
          <a:xfrm>
            <a:off x="566928" y="1170432"/>
            <a:ext cx="11057839" cy="1005840"/>
          </a:xfrm>
          <a:prstGeom prst="rect">
            <a:avLst/>
          </a:prstGeom>
          <a:noFill/>
        </p:spPr>
        <p:txBody>
          <a:bodyPr wrap="square" lIns="0" tIns="0" rIns="0" bIns="0" anchor="t">
            <a:spAutoFit/>
          </a:bodyPr>
          <a:lstStyle/>
          <a:p>
            <a:pPr algn="l">
              <a:lnSpc>
                <a:spcPct val="132000"/>
              </a:lnSpc>
              <a:spcAft>
                <a:spcPts val="600"/>
              </a:spcAft>
            </a:pPr>
            <a:r>
              <a:rPr sz="1600" b="0">
                <a:solidFill>
                  <a:srgbClr val="222222"/>
                </a:solidFill>
                <a:latin typeface="Meiryo"/>
                <a:ea typeface="Meiryo"/>
                <a:cs typeface="Meiryo"/>
              </a:rPr>
              <a:t>・式を時間に沿って解き、実データとの差（対数でとる）がいちばん小さくなる係数を探す</a:t>
            </a:r>
          </a:p>
          <a:p>
            <a:pPr algn="l">
              <a:lnSpc>
                <a:spcPct val="132000"/>
              </a:lnSpc>
              <a:spcAft>
                <a:spcPts val="600"/>
              </a:spcAft>
            </a:pPr>
            <a:r>
              <a:rPr sz="1600" b="0">
                <a:solidFill>
                  <a:srgbClr val="222222"/>
                </a:solidFill>
                <a:latin typeface="Meiryo"/>
                <a:ea typeface="Meiryo"/>
                <a:cs typeface="Meiryo"/>
              </a:rPr>
              <a:t>・答えが手前の谷に落ちないよう、出発点を何通りも変えて探す（大蛇行なし 64×12通り／大蛇行 32×8通り）</a:t>
            </a:r>
          </a:p>
          <a:p>
            <a:pPr algn="l">
              <a:lnSpc>
                <a:spcPct val="132000"/>
              </a:lnSpc>
              <a:spcAft>
                <a:spcPts val="600"/>
              </a:spcAft>
            </a:pPr>
            <a:r>
              <a:rPr sz="1600" b="0">
                <a:solidFill>
                  <a:srgbClr val="222222"/>
                </a:solidFill>
                <a:latin typeface="Meiryo"/>
                <a:ea typeface="Meiryo"/>
                <a:cs typeface="Meiryo"/>
              </a:rPr>
              <a:t>・良し悪しは「ずれ」で見る。ずれ＝平均で割った誤差なので、魚種をまたいで比べられる</a:t>
            </a:r>
          </a:p>
        </p:txBody>
      </p:sp>
      <p:graphicFrame>
        <p:nvGraphicFramePr>
          <p:cNvPr id="5" name="Table 4"/>
          <p:cNvGraphicFramePr>
            <a:graphicFrameLocks noGrp="1"/>
          </p:cNvGraphicFramePr>
          <p:nvPr/>
        </p:nvGraphicFramePr>
        <p:xfrm>
          <a:off x="566928" y="2606040"/>
          <a:ext cx="11055096" cy="2139696"/>
        </p:xfrm>
        <a:graphic>
          <a:graphicData uri="http://schemas.openxmlformats.org/drawingml/2006/table">
            <a:tbl>
              <a:tblPr firstRow="1">
                <a:tableStyleId>{5C22544A-7EE6-4342-B048-85BDC9FD1C3A}</a:tableStyleId>
              </a:tblPr>
              <a:tblGrid>
                <a:gridCol w="17830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gridCol w="3877056">
                  <a:extLst>
                    <a:ext uri="{9D8B030D-6E8A-4147-A177-3AD203B41FA5}">
                      <a16:colId xmlns:a16="http://schemas.microsoft.com/office/drawing/2014/main" val="20003"/>
                    </a:ext>
                  </a:extLst>
                </a:gridCol>
              </a:tblGrid>
              <a:tr h="438912">
                <a:tc>
                  <a:txBody>
                    <a:bodyPr/>
                    <a:lstStyle/>
                    <a:p>
                      <a:pPr algn="l"/>
                      <a:r>
                        <a:rPr sz="1350" b="1">
                          <a:solidFill>
                            <a:srgbClr val="FFFFFF"/>
                          </a:solidFill>
                          <a:latin typeface="Meiryo"/>
                          <a:ea typeface="Meiryo"/>
                          <a:cs typeface="Meiryo"/>
                        </a:rPr>
                        <a:t>版</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自由な係数の数</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固定する値</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ねらい</a:t>
                      </a:r>
                    </a:p>
                  </a:txBody>
                  <a:tcPr marR="73152" marT="27432" marB="27432" anchor="ctr">
                    <a:solidFill>
                      <a:srgbClr val="1F4E79"/>
                    </a:solidFill>
                  </a:tcPr>
                </a:tc>
                <a:extLst>
                  <a:ext uri="{0D108BD9-81ED-4DB2-BD59-A6C34878D82A}">
                    <a16:rowId xmlns:a16="http://schemas.microsoft.com/office/drawing/2014/main" val="10000"/>
                  </a:ext>
                </a:extLst>
              </a:tr>
              <a:tr h="566928">
                <a:tc>
                  <a:txBody>
                    <a:bodyPr/>
                    <a:lstStyle/>
                    <a:p>
                      <a:pPr algn="l"/>
                      <a:r>
                        <a:rPr sz="1350" b="0">
                          <a:solidFill>
                            <a:srgbClr val="222222"/>
                          </a:solidFill>
                          <a:latin typeface="Meiryo"/>
                          <a:ea typeface="Meiryo"/>
                          <a:cs typeface="Meiryo"/>
                        </a:rPr>
                        <a:t>自由に決める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12個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なし</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モデルの表現力の上限を見る</a:t>
                      </a:r>
                    </a:p>
                  </a:txBody>
                  <a:tcPr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350" b="0">
                          <a:solidFill>
                            <a:srgbClr val="222222"/>
                          </a:solidFill>
                          <a:latin typeface="Meiryo"/>
                          <a:ea typeface="Meiryo"/>
                          <a:cs typeface="Meiryo"/>
                        </a:rPr>
                        <a:t>固定を1段階</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10個</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餌2種の「増える速さ」</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1種ずつの解析の値を入れてみる</a:t>
                      </a:r>
                    </a:p>
                  </a:txBody>
                  <a:tcPr marR="73152" marT="27432" marB="27432" anchor="ctr">
                    <a:solidFill>
                      <a:srgbClr val="F2F5F9"/>
                    </a:solidFill>
                  </a:tcPr>
                </a:tc>
                <a:extLst>
                  <a:ext uri="{0D108BD9-81ED-4DB2-BD59-A6C34878D82A}">
                    <a16:rowId xmlns:a16="http://schemas.microsoft.com/office/drawing/2014/main" val="10002"/>
                  </a:ext>
                </a:extLst>
              </a:tr>
              <a:tr h="566928">
                <a:tc>
                  <a:txBody>
                    <a:bodyPr/>
                    <a:lstStyle/>
                    <a:p>
                      <a:pPr algn="l"/>
                      <a:r>
                        <a:rPr sz="1350" b="0">
                          <a:solidFill>
                            <a:srgbClr val="222222"/>
                          </a:solidFill>
                          <a:latin typeface="Meiryo"/>
                          <a:ea typeface="Meiryo"/>
                          <a:cs typeface="Meiryo"/>
                        </a:rPr>
                        <a:t>固定を2段階</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8個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＋「食べた分が体になる割合」の和</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借りる値をできるだけ増やす</a:t>
                      </a:r>
                    </a:p>
                  </a:txBody>
                  <a:tcPr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66928" y="4892040"/>
            <a:ext cx="10326319" cy="685800"/>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自由に決める12個：餌2種と食べる魚2種の増える速さ・減る速さ4つ、食べられる強さ4つ、変換の割合4つ。混み合いの項まで入れた16個の版も試したが、大蛇行の8年に対して数が多すぎて値が定まらないため使わ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どちらの時期も、観測をよく再現できた</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8</a:t>
            </a:r>
          </a:p>
        </p:txBody>
      </p:sp>
      <p:pic>
        <p:nvPicPr>
          <p:cNvPr id="4" name="Picture 3" descr="05_当てはまり.png"/>
          <p:cNvPicPr>
            <a:picLocks noChangeAspect="1"/>
          </p:cNvPicPr>
          <p:nvPr/>
        </p:nvPicPr>
        <p:blipFill>
          <a:blip r:embed="rId2"/>
          <a:stretch>
            <a:fillRect/>
          </a:stretch>
        </p:blipFill>
        <p:spPr>
          <a:xfrm>
            <a:off x="1069848" y="1207008"/>
            <a:ext cx="10058400" cy="4160520"/>
          </a:xfrm>
          <a:prstGeom prst="rect">
            <a:avLst/>
          </a:prstGeom>
        </p:spPr>
      </p:pic>
      <p:sp>
        <p:nvSpPr>
          <p:cNvPr id="5" name="figlabel"/>
          <p:cNvSpPr txBox="1"/>
          <p:nvPr/>
        </p:nvSpPr>
        <p:spPr>
          <a:xfrm>
            <a:off x="2787986" y="1585554"/>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マアジ</a:t>
            </a:r>
          </a:p>
        </p:txBody>
      </p:sp>
      <p:sp>
        <p:nvSpPr>
          <p:cNvPr id="6" name="figlabel"/>
          <p:cNvSpPr txBox="1"/>
          <p:nvPr/>
        </p:nvSpPr>
        <p:spPr>
          <a:xfrm>
            <a:off x="2217326"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0.141</a:t>
            </a:r>
          </a:p>
        </p:txBody>
      </p:sp>
      <p:sp>
        <p:nvSpPr>
          <p:cNvPr id="7" name="figlabel"/>
          <p:cNvSpPr txBox="1"/>
          <p:nvPr/>
        </p:nvSpPr>
        <p:spPr>
          <a:xfrm>
            <a:off x="2820214"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0.485</a:t>
            </a:r>
          </a:p>
        </p:txBody>
      </p:sp>
      <p:sp>
        <p:nvSpPr>
          <p:cNvPr id="8" name="figlabel"/>
          <p:cNvSpPr txBox="1"/>
          <p:nvPr/>
        </p:nvSpPr>
        <p:spPr>
          <a:xfrm>
            <a:off x="3423103"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0.484</a:t>
            </a:r>
          </a:p>
        </p:txBody>
      </p:sp>
      <p:sp>
        <p:nvSpPr>
          <p:cNvPr id="9" name="figlabel"/>
          <p:cNvSpPr txBox="1"/>
          <p:nvPr/>
        </p:nvSpPr>
        <p:spPr>
          <a:xfrm>
            <a:off x="4934400" y="1585554"/>
            <a:ext cx="960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ウルメイワシ</a:t>
            </a:r>
          </a:p>
        </p:txBody>
      </p:sp>
      <p:sp>
        <p:nvSpPr>
          <p:cNvPr id="10" name="figlabel"/>
          <p:cNvSpPr txBox="1"/>
          <p:nvPr/>
        </p:nvSpPr>
        <p:spPr>
          <a:xfrm>
            <a:off x="4592340"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0.104</a:t>
            </a:r>
          </a:p>
        </p:txBody>
      </p:sp>
      <p:sp>
        <p:nvSpPr>
          <p:cNvPr id="11" name="figlabel"/>
          <p:cNvSpPr txBox="1"/>
          <p:nvPr/>
        </p:nvSpPr>
        <p:spPr>
          <a:xfrm>
            <a:off x="5195228"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0.246</a:t>
            </a:r>
          </a:p>
        </p:txBody>
      </p:sp>
      <p:sp>
        <p:nvSpPr>
          <p:cNvPr id="12" name="figlabel"/>
          <p:cNvSpPr txBox="1"/>
          <p:nvPr/>
        </p:nvSpPr>
        <p:spPr>
          <a:xfrm>
            <a:off x="5798117"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0.581</a:t>
            </a:r>
          </a:p>
        </p:txBody>
      </p:sp>
      <p:sp>
        <p:nvSpPr>
          <p:cNvPr id="13" name="figlabel"/>
          <p:cNvSpPr txBox="1"/>
          <p:nvPr/>
        </p:nvSpPr>
        <p:spPr>
          <a:xfrm>
            <a:off x="7614215" y="1585554"/>
            <a:ext cx="3505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ブリ</a:t>
            </a:r>
          </a:p>
        </p:txBody>
      </p:sp>
      <p:sp>
        <p:nvSpPr>
          <p:cNvPr id="14" name="figlabel"/>
          <p:cNvSpPr txBox="1"/>
          <p:nvPr/>
        </p:nvSpPr>
        <p:spPr>
          <a:xfrm>
            <a:off x="6967354"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0.055</a:t>
            </a:r>
          </a:p>
        </p:txBody>
      </p:sp>
      <p:sp>
        <p:nvSpPr>
          <p:cNvPr id="15" name="figlabel"/>
          <p:cNvSpPr txBox="1"/>
          <p:nvPr/>
        </p:nvSpPr>
        <p:spPr>
          <a:xfrm>
            <a:off x="7570242"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0.308</a:t>
            </a:r>
          </a:p>
        </p:txBody>
      </p:sp>
      <p:sp>
        <p:nvSpPr>
          <p:cNvPr id="16" name="figlabel"/>
          <p:cNvSpPr txBox="1"/>
          <p:nvPr/>
        </p:nvSpPr>
        <p:spPr>
          <a:xfrm>
            <a:off x="8173131"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0.419</a:t>
            </a:r>
          </a:p>
        </p:txBody>
      </p:sp>
      <p:sp>
        <p:nvSpPr>
          <p:cNvPr id="17" name="figlabel"/>
          <p:cNvSpPr txBox="1"/>
          <p:nvPr/>
        </p:nvSpPr>
        <p:spPr>
          <a:xfrm>
            <a:off x="9913029" y="1585554"/>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サワラ</a:t>
            </a:r>
          </a:p>
        </p:txBody>
      </p:sp>
      <p:sp>
        <p:nvSpPr>
          <p:cNvPr id="18" name="figlabel"/>
          <p:cNvSpPr txBox="1"/>
          <p:nvPr/>
        </p:nvSpPr>
        <p:spPr>
          <a:xfrm>
            <a:off x="9342368"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0.097</a:t>
            </a:r>
          </a:p>
        </p:txBody>
      </p:sp>
      <p:sp>
        <p:nvSpPr>
          <p:cNvPr id="19" name="figlabel"/>
          <p:cNvSpPr txBox="1"/>
          <p:nvPr/>
        </p:nvSpPr>
        <p:spPr>
          <a:xfrm>
            <a:off x="9945256"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0.131</a:t>
            </a:r>
          </a:p>
        </p:txBody>
      </p:sp>
      <p:sp>
        <p:nvSpPr>
          <p:cNvPr id="20" name="figlabel"/>
          <p:cNvSpPr txBox="1"/>
          <p:nvPr/>
        </p:nvSpPr>
        <p:spPr>
          <a:xfrm>
            <a:off x="10548145"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0.321</a:t>
            </a:r>
          </a:p>
        </p:txBody>
      </p:sp>
      <p:sp>
        <p:nvSpPr>
          <p:cNvPr id="21" name="figlabel"/>
          <p:cNvSpPr txBox="1"/>
          <p:nvPr/>
        </p:nvSpPr>
        <p:spPr>
          <a:xfrm>
            <a:off x="2787986" y="3318875"/>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マアジ</a:t>
            </a:r>
          </a:p>
        </p:txBody>
      </p:sp>
      <p:sp>
        <p:nvSpPr>
          <p:cNvPr id="22" name="figlabel"/>
          <p:cNvSpPr txBox="1"/>
          <p:nvPr/>
        </p:nvSpPr>
        <p:spPr>
          <a:xfrm>
            <a:off x="2217326"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0.066</a:t>
            </a:r>
          </a:p>
        </p:txBody>
      </p:sp>
      <p:sp>
        <p:nvSpPr>
          <p:cNvPr id="23" name="figlabel"/>
          <p:cNvSpPr txBox="1"/>
          <p:nvPr/>
        </p:nvSpPr>
        <p:spPr>
          <a:xfrm>
            <a:off x="2820214"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0.452</a:t>
            </a:r>
          </a:p>
        </p:txBody>
      </p:sp>
      <p:sp>
        <p:nvSpPr>
          <p:cNvPr id="24" name="figlabel"/>
          <p:cNvSpPr txBox="1"/>
          <p:nvPr/>
        </p:nvSpPr>
        <p:spPr>
          <a:xfrm>
            <a:off x="3423103"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0.452</a:t>
            </a:r>
          </a:p>
        </p:txBody>
      </p:sp>
      <p:sp>
        <p:nvSpPr>
          <p:cNvPr id="25" name="figlabel"/>
          <p:cNvSpPr txBox="1"/>
          <p:nvPr/>
        </p:nvSpPr>
        <p:spPr>
          <a:xfrm>
            <a:off x="4934400" y="3318875"/>
            <a:ext cx="960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ウルメイワシ</a:t>
            </a:r>
          </a:p>
        </p:txBody>
      </p:sp>
      <p:sp>
        <p:nvSpPr>
          <p:cNvPr id="26" name="figlabel"/>
          <p:cNvSpPr txBox="1"/>
          <p:nvPr/>
        </p:nvSpPr>
        <p:spPr>
          <a:xfrm>
            <a:off x="4592340"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0.061</a:t>
            </a:r>
          </a:p>
        </p:txBody>
      </p:sp>
      <p:sp>
        <p:nvSpPr>
          <p:cNvPr id="27" name="figlabel"/>
          <p:cNvSpPr txBox="1"/>
          <p:nvPr/>
        </p:nvSpPr>
        <p:spPr>
          <a:xfrm>
            <a:off x="5195228"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0.089</a:t>
            </a:r>
          </a:p>
        </p:txBody>
      </p:sp>
      <p:sp>
        <p:nvSpPr>
          <p:cNvPr id="28" name="figlabel"/>
          <p:cNvSpPr txBox="1"/>
          <p:nvPr/>
        </p:nvSpPr>
        <p:spPr>
          <a:xfrm>
            <a:off x="5798117"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0.334</a:t>
            </a:r>
          </a:p>
        </p:txBody>
      </p:sp>
      <p:sp>
        <p:nvSpPr>
          <p:cNvPr id="29" name="figlabel"/>
          <p:cNvSpPr txBox="1"/>
          <p:nvPr/>
        </p:nvSpPr>
        <p:spPr>
          <a:xfrm>
            <a:off x="7614215" y="3318875"/>
            <a:ext cx="3505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ブリ</a:t>
            </a:r>
          </a:p>
        </p:txBody>
      </p:sp>
      <p:sp>
        <p:nvSpPr>
          <p:cNvPr id="30" name="figlabel"/>
          <p:cNvSpPr txBox="1"/>
          <p:nvPr/>
        </p:nvSpPr>
        <p:spPr>
          <a:xfrm>
            <a:off x="6967354"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0.082</a:t>
            </a:r>
          </a:p>
        </p:txBody>
      </p:sp>
      <p:sp>
        <p:nvSpPr>
          <p:cNvPr id="31" name="figlabel"/>
          <p:cNvSpPr txBox="1"/>
          <p:nvPr/>
        </p:nvSpPr>
        <p:spPr>
          <a:xfrm>
            <a:off x="7570242"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0.075</a:t>
            </a:r>
          </a:p>
        </p:txBody>
      </p:sp>
      <p:sp>
        <p:nvSpPr>
          <p:cNvPr id="32" name="figlabel"/>
          <p:cNvSpPr txBox="1"/>
          <p:nvPr/>
        </p:nvSpPr>
        <p:spPr>
          <a:xfrm>
            <a:off x="8173131"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0.419</a:t>
            </a:r>
          </a:p>
        </p:txBody>
      </p:sp>
      <p:sp>
        <p:nvSpPr>
          <p:cNvPr id="33" name="figlabel"/>
          <p:cNvSpPr txBox="1"/>
          <p:nvPr/>
        </p:nvSpPr>
        <p:spPr>
          <a:xfrm>
            <a:off x="9913029" y="3318875"/>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サワラ</a:t>
            </a:r>
          </a:p>
        </p:txBody>
      </p:sp>
      <p:sp>
        <p:nvSpPr>
          <p:cNvPr id="34" name="figlabel"/>
          <p:cNvSpPr txBox="1"/>
          <p:nvPr/>
        </p:nvSpPr>
        <p:spPr>
          <a:xfrm>
            <a:off x="9342368"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0.051</a:t>
            </a:r>
          </a:p>
        </p:txBody>
      </p:sp>
      <p:sp>
        <p:nvSpPr>
          <p:cNvPr id="35" name="figlabel"/>
          <p:cNvSpPr txBox="1"/>
          <p:nvPr/>
        </p:nvSpPr>
        <p:spPr>
          <a:xfrm>
            <a:off x="9945256"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0.065</a:t>
            </a:r>
          </a:p>
        </p:txBody>
      </p:sp>
      <p:sp>
        <p:nvSpPr>
          <p:cNvPr id="36" name="figlabel"/>
          <p:cNvSpPr txBox="1"/>
          <p:nvPr/>
        </p:nvSpPr>
        <p:spPr>
          <a:xfrm>
            <a:off x="10548145"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0.146</a:t>
            </a:r>
          </a:p>
        </p:txBody>
      </p:sp>
      <p:sp>
        <p:nvSpPr>
          <p:cNvPr id="37" name="figlabel"/>
          <p:cNvSpPr txBox="1"/>
          <p:nvPr/>
        </p:nvSpPr>
        <p:spPr>
          <a:xfrm>
            <a:off x="4399178" y="1244389"/>
            <a:ext cx="629920" cy="208153"/>
          </a:xfrm>
          <a:prstGeom prst="rect">
            <a:avLst/>
          </a:prstGeom>
          <a:noFill/>
        </p:spPr>
        <p:txBody>
          <a:bodyPr wrap="none" lIns="0" tIns="0" rIns="0" bIns="0" anchor="ctr">
            <a:spAutoFit/>
          </a:bodyPr>
          <a:lstStyle/>
          <a:p>
            <a:pPr algn="l">
              <a:lnSpc>
                <a:spcPct val="120000"/>
              </a:lnSpc>
              <a:spcAft>
                <a:spcPts val="0"/>
              </a:spcAft>
            </a:pPr>
            <a:r>
              <a:rPr sz="1150" b="0">
                <a:solidFill>
                  <a:srgbClr val="222222"/>
                </a:solidFill>
                <a:latin typeface="Meiryo"/>
                <a:ea typeface="Meiryo"/>
                <a:cs typeface="Meiryo"/>
              </a:rPr>
              <a:t>実データ</a:t>
            </a:r>
          </a:p>
        </p:txBody>
      </p:sp>
      <p:sp>
        <p:nvSpPr>
          <p:cNvPr id="38" name="figlabel"/>
          <p:cNvSpPr txBox="1"/>
          <p:nvPr/>
        </p:nvSpPr>
        <p:spPr>
          <a:xfrm>
            <a:off x="5787237" y="1244389"/>
            <a:ext cx="927861" cy="208153"/>
          </a:xfrm>
          <a:prstGeom prst="rect">
            <a:avLst/>
          </a:prstGeom>
          <a:noFill/>
        </p:spPr>
        <p:txBody>
          <a:bodyPr wrap="none" lIns="0" tIns="0" rIns="0" bIns="0" anchor="ctr">
            <a:spAutoFit/>
          </a:bodyPr>
          <a:lstStyle/>
          <a:p>
            <a:pPr algn="l">
              <a:lnSpc>
                <a:spcPct val="120000"/>
              </a:lnSpc>
              <a:spcAft>
                <a:spcPts val="0"/>
              </a:spcAft>
            </a:pPr>
            <a:r>
              <a:rPr sz="1150" b="0">
                <a:solidFill>
                  <a:srgbClr val="1F4E79"/>
                </a:solidFill>
                <a:latin typeface="Meiryo"/>
                <a:ea typeface="Meiryo"/>
                <a:cs typeface="Meiryo"/>
              </a:rPr>
              <a:t>12個（自由）</a:t>
            </a:r>
          </a:p>
        </p:txBody>
      </p:sp>
      <p:sp>
        <p:nvSpPr>
          <p:cNvPr id="39" name="figlabel"/>
          <p:cNvSpPr txBox="1"/>
          <p:nvPr/>
        </p:nvSpPr>
        <p:spPr>
          <a:xfrm>
            <a:off x="7477048" y="1244389"/>
            <a:ext cx="343662" cy="208153"/>
          </a:xfrm>
          <a:prstGeom prst="rect">
            <a:avLst/>
          </a:prstGeom>
          <a:noFill/>
        </p:spPr>
        <p:txBody>
          <a:bodyPr wrap="none" lIns="0" tIns="0" rIns="0" bIns="0" anchor="ctr">
            <a:spAutoFit/>
          </a:bodyPr>
          <a:lstStyle/>
          <a:p>
            <a:pPr algn="l">
              <a:lnSpc>
                <a:spcPct val="120000"/>
              </a:lnSpc>
              <a:spcAft>
                <a:spcPts val="0"/>
              </a:spcAft>
            </a:pPr>
            <a:r>
              <a:rPr sz="1150" b="0">
                <a:solidFill>
                  <a:srgbClr val="5E8FB5"/>
                </a:solidFill>
                <a:latin typeface="Meiryo"/>
                <a:ea typeface="Meiryo"/>
                <a:cs typeface="Meiryo"/>
              </a:rPr>
              <a:t>10個</a:t>
            </a:r>
          </a:p>
        </p:txBody>
      </p:sp>
      <p:sp>
        <p:nvSpPr>
          <p:cNvPr id="40" name="figlabel"/>
          <p:cNvSpPr txBox="1"/>
          <p:nvPr/>
        </p:nvSpPr>
        <p:spPr>
          <a:xfrm>
            <a:off x="8603589" y="1244389"/>
            <a:ext cx="267716" cy="208153"/>
          </a:xfrm>
          <a:prstGeom prst="rect">
            <a:avLst/>
          </a:prstGeom>
          <a:noFill/>
        </p:spPr>
        <p:txBody>
          <a:bodyPr wrap="none" lIns="0" tIns="0" rIns="0" bIns="0" anchor="ctr">
            <a:spAutoFit/>
          </a:bodyPr>
          <a:lstStyle/>
          <a:p>
            <a:pPr algn="l">
              <a:lnSpc>
                <a:spcPct val="120000"/>
              </a:lnSpc>
              <a:spcAft>
                <a:spcPts val="0"/>
              </a:spcAft>
            </a:pPr>
            <a:r>
              <a:rPr sz="1150" b="0">
                <a:solidFill>
                  <a:srgbClr val="7E8B96"/>
                </a:solidFill>
                <a:latin typeface="Meiryo"/>
                <a:ea typeface="Meiryo"/>
                <a:cs typeface="Meiryo"/>
              </a:rPr>
              <a:t>8個</a:t>
            </a:r>
          </a:p>
        </p:txBody>
      </p:sp>
      <p:sp>
        <p:nvSpPr>
          <p:cNvPr id="41" name="figlabel"/>
          <p:cNvSpPr txBox="1"/>
          <p:nvPr/>
        </p:nvSpPr>
        <p:spPr>
          <a:xfrm>
            <a:off x="1110081" y="1298539"/>
            <a:ext cx="1652270" cy="208153"/>
          </a:xfrm>
          <a:prstGeom prst="rect">
            <a:avLst/>
          </a:prstGeom>
          <a:noFill/>
        </p:spPr>
        <p:txBody>
          <a:bodyPr wrap="none" lIns="0" tIns="0" rIns="0" bIns="0" anchor="ctr">
            <a:spAutoFit/>
          </a:bodyPr>
          <a:lstStyle/>
          <a:p>
            <a:pPr algn="l">
              <a:lnSpc>
                <a:spcPct val="120000"/>
              </a:lnSpc>
              <a:spcAft>
                <a:spcPts val="0"/>
              </a:spcAft>
            </a:pPr>
            <a:r>
              <a:rPr sz="1150" b="0">
                <a:solidFill>
                  <a:srgbClr val="6E6E6E"/>
                </a:solidFill>
                <a:latin typeface="Meiryo"/>
                <a:ea typeface="Meiryo"/>
                <a:cs typeface="Meiryo"/>
              </a:rPr>
              <a:t>縦軸：資源量（千トン）</a:t>
            </a:r>
          </a:p>
        </p:txBody>
      </p:sp>
      <p:sp>
        <p:nvSpPr>
          <p:cNvPr id="42" name="figlabel"/>
          <p:cNvSpPr txBox="1"/>
          <p:nvPr/>
        </p:nvSpPr>
        <p:spPr>
          <a:xfrm>
            <a:off x="1130198" y="2331110"/>
            <a:ext cx="502920" cy="414528"/>
          </a:xfrm>
          <a:prstGeom prst="rect">
            <a:avLst/>
          </a:prstGeom>
          <a:noFill/>
        </p:spPr>
        <p:txBody>
          <a:bodyPr wrap="none" lIns="0" tIns="0" rIns="0" bIns="0" anchor="ctr">
            <a:spAutoFit/>
          </a:bodyPr>
          <a:lstStyle/>
          <a:p>
            <a:pPr algn="l">
              <a:lnSpc>
                <a:spcPct val="120000"/>
              </a:lnSpc>
              <a:spcAft>
                <a:spcPts val="0"/>
              </a:spcAft>
            </a:pPr>
            <a:r>
              <a:rPr sz="1200" b="0">
                <a:solidFill>
                  <a:srgbClr val="6E6E6E"/>
                </a:solidFill>
                <a:latin typeface="Meiryo"/>
                <a:ea typeface="Meiryo"/>
                <a:cs typeface="Meiryo"/>
              </a:rPr>
              <a:t>大蛇行</a:t>
            </a:r>
          </a:p>
          <a:p>
            <a:pPr algn="l">
              <a:lnSpc>
                <a:spcPct val="120000"/>
              </a:lnSpc>
              <a:spcAft>
                <a:spcPts val="0"/>
              </a:spcAft>
            </a:pPr>
            <a:r>
              <a:rPr sz="1200" b="0">
                <a:solidFill>
                  <a:srgbClr val="6E6E6E"/>
                </a:solidFill>
                <a:latin typeface="Meiryo"/>
                <a:ea typeface="Meiryo"/>
                <a:cs typeface="Meiryo"/>
              </a:rPr>
              <a:t>なし</a:t>
            </a:r>
          </a:p>
        </p:txBody>
      </p:sp>
      <p:sp>
        <p:nvSpPr>
          <p:cNvPr id="43" name="figlabel"/>
          <p:cNvSpPr txBox="1"/>
          <p:nvPr/>
        </p:nvSpPr>
        <p:spPr>
          <a:xfrm>
            <a:off x="1130198" y="4260799"/>
            <a:ext cx="502920" cy="216408"/>
          </a:xfrm>
          <a:prstGeom prst="rect">
            <a:avLst/>
          </a:prstGeom>
          <a:noFill/>
        </p:spPr>
        <p:txBody>
          <a:bodyPr wrap="none" lIns="0" tIns="0" rIns="0" bIns="0" anchor="ctr">
            <a:spAutoFit/>
          </a:bodyPr>
          <a:lstStyle/>
          <a:p>
            <a:pPr algn="l">
              <a:lnSpc>
                <a:spcPct val="120000"/>
              </a:lnSpc>
              <a:spcAft>
                <a:spcPts val="0"/>
              </a:spcAft>
            </a:pPr>
            <a:r>
              <a:rPr sz="1200" b="0">
                <a:solidFill>
                  <a:srgbClr val="C0561A"/>
                </a:solidFill>
                <a:latin typeface="Meiryo"/>
                <a:ea typeface="Meiryo"/>
                <a:cs typeface="Meiryo"/>
              </a:rPr>
              <a:t>大蛇行</a:t>
            </a:r>
          </a:p>
        </p:txBody>
      </p:sp>
      <p:sp>
        <p:nvSpPr>
          <p:cNvPr id="44" name="figlabel"/>
          <p:cNvSpPr txBox="1"/>
          <p:nvPr/>
        </p:nvSpPr>
        <p:spPr>
          <a:xfrm>
            <a:off x="3000375" y="5146956"/>
            <a:ext cx="6197346" cy="208153"/>
          </a:xfrm>
          <a:prstGeom prst="rect">
            <a:avLst/>
          </a:prstGeom>
          <a:noFill/>
        </p:spPr>
        <p:txBody>
          <a:bodyPr wrap="none" lIns="0" tIns="0" rIns="0" bIns="0" anchor="ctr">
            <a:spAutoFit/>
          </a:bodyPr>
          <a:lstStyle/>
          <a:p>
            <a:pPr algn="ctr">
              <a:lnSpc>
                <a:spcPct val="120000"/>
              </a:lnSpc>
              <a:spcAft>
                <a:spcPts val="0"/>
              </a:spcAft>
            </a:pPr>
            <a:r>
              <a:rPr sz="1150" b="0">
                <a:solidFill>
                  <a:srgbClr val="6E6E6E"/>
                </a:solidFill>
                <a:latin typeface="Meiryo"/>
                <a:ea typeface="Meiryo"/>
                <a:cs typeface="Meiryo"/>
              </a:rPr>
              <a:t>「ずれ」＝平均で割った誤差（小さいほど良い）。枠の中の数字は左から 12個・10個・8個。</a:t>
            </a:r>
          </a:p>
        </p:txBody>
      </p:sp>
      <p:sp>
        <p:nvSpPr>
          <p:cNvPr id="45" name="TextBox 44"/>
          <p:cNvSpPr txBox="1"/>
          <p:nvPr/>
        </p:nvSpPr>
        <p:spPr>
          <a:xfrm>
            <a:off x="566928" y="5440680"/>
            <a:ext cx="11057839" cy="274320"/>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全体の平均（大蛇行なし／大蛇行）：　12個 0.099／0.065　　10個 0.293／0.170　　8個 0.452／0.338</a:t>
            </a:r>
          </a:p>
        </p:txBody>
      </p:sp>
      <p:sp>
        <p:nvSpPr>
          <p:cNvPr id="46" name="Rectangle 45"/>
          <p:cNvSpPr/>
          <p:nvPr/>
        </p:nvSpPr>
        <p:spPr>
          <a:xfrm>
            <a:off x="566928" y="5779008"/>
            <a:ext cx="10326319" cy="512064"/>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TextBox 46"/>
          <p:cNvSpPr txBox="1"/>
          <p:nvPr/>
        </p:nvSpPr>
        <p:spPr>
          <a:xfrm>
            <a:off x="768096" y="5888736"/>
            <a:ext cx="9923983" cy="329184"/>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以降は12個の自由推定を使う。この後の話は、当てはまりが悪いせいで起きているのではない。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1種ずつの解析から借りられるのは「増える速さ」まで</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9</a:t>
            </a:r>
          </a:p>
        </p:txBody>
      </p:sp>
      <p:sp>
        <p:nvSpPr>
          <p:cNvPr id="4" name="TextBox 3"/>
          <p:cNvSpPr txBox="1"/>
          <p:nvPr/>
        </p:nvSpPr>
        <p:spPr>
          <a:xfrm>
            <a:off x="566928" y="1170432"/>
            <a:ext cx="11057839" cy="457200"/>
          </a:xfrm>
          <a:prstGeom prst="rect">
            <a:avLst/>
          </a:prstGeom>
          <a:noFill/>
        </p:spPr>
        <p:txBody>
          <a:bodyPr wrap="square" lIns="0" tIns="0" rIns="0" bIns="0" anchor="t">
            <a:spAutoFit/>
          </a:bodyPr>
          <a:lstStyle/>
          <a:p>
            <a:pPr algn="l">
              <a:lnSpc>
                <a:spcPct val="132000"/>
              </a:lnSpc>
              <a:spcAft>
                <a:spcPts val="600"/>
              </a:spcAft>
            </a:pPr>
            <a:r>
              <a:rPr sz="1700" b="0">
                <a:solidFill>
                  <a:srgbClr val="222222"/>
                </a:solidFill>
                <a:latin typeface="Meiryo"/>
                <a:ea typeface="Meiryo"/>
                <a:cs typeface="Meiryo"/>
              </a:rPr>
              <a:t>前の枚で見た崩れ方は、借りてきた値が「和」であることから起きている。</a:t>
            </a:r>
          </a:p>
        </p:txBody>
      </p:sp>
      <p:sp>
        <p:nvSpPr>
          <p:cNvPr id="5" name="Rectangle 4"/>
          <p:cNvSpPr/>
          <p:nvPr/>
        </p:nvSpPr>
        <p:spPr>
          <a:xfrm>
            <a:off x="566928" y="1737360"/>
            <a:ext cx="5212080" cy="1755648"/>
          </a:xfrm>
          <a:prstGeom prst="rect">
            <a:avLst/>
          </a:prstGeom>
          <a:solidFill>
            <a:srgbClr val="F2F5F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86384" y="1874519"/>
            <a:ext cx="4773168" cy="310896"/>
          </a:xfrm>
          <a:prstGeom prst="rect">
            <a:avLst/>
          </a:prstGeom>
          <a:noFill/>
        </p:spPr>
        <p:txBody>
          <a:bodyPr wrap="square" lIns="0" tIns="0" rIns="0" bIns="0" anchor="t">
            <a:spAutoFit/>
          </a:bodyPr>
          <a:lstStyle/>
          <a:p>
            <a:pPr algn="l">
              <a:lnSpc>
                <a:spcPct val="132000"/>
              </a:lnSpc>
              <a:spcAft>
                <a:spcPts val="600"/>
              </a:spcAft>
            </a:pPr>
            <a:r>
              <a:rPr sz="1600" b="1">
                <a:solidFill>
                  <a:srgbClr val="1F4E79"/>
                </a:solidFill>
                <a:latin typeface="Meiryo"/>
                <a:ea typeface="Meiryo"/>
                <a:cs typeface="Meiryo"/>
              </a:rPr>
              <a:t>1種ずつの解析が与えるもの</a:t>
            </a:r>
          </a:p>
        </p:txBody>
      </p:sp>
      <mc:AlternateContent xmlns:mc="http://schemas.openxmlformats.org/markup-compatibility/2006">
        <mc:Choice xmlns:a14="http://schemas.microsoft.com/office/drawing/2010/main" Requires="a14">
          <p:sp>
            <p:nvSpPr>
              <p:cNvPr id="7" name="TextBox 6"/>
              <p:cNvSpPr txBox="1"/>
              <p:nvPr/>
            </p:nvSpPr>
            <p:spPr>
              <a:xfrm>
                <a:off x="786384" y="2249424"/>
                <a:ext cx="4773168" cy="47548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800" b="0" i="1" dirty="0">
                              <a:solidFill>
                                <a:srgbClr val="1F4E79"/>
                              </a:solidFill>
                              <a:latin typeface="Cambria Math" panose="02040503050406030204" pitchFamily="18" charset="0"/>
                            </a:rPr>
                          </m:ctrlPr>
                        </m:sSubPr>
                        <m:e>
                          <m:r>
                            <a:rPr lang="en-US" sz="1800" b="0" i="1" dirty="0">
                              <a:solidFill>
                                <a:srgbClr val="1F4E79"/>
                              </a:solidFill>
                              <a:latin typeface="Cambria Math" panose="02040503050406030204" pitchFamily="18" charset="0"/>
                            </a:rPr>
                            <m:t>𝑐</m:t>
                          </m:r>
                        </m:e>
                        <m:sub>
                          <m:r>
                            <a:rPr lang="en-US" sz="1800" b="0" i="0" dirty="0">
                              <a:solidFill>
                                <a:srgbClr val="1F4E79"/>
                              </a:solidFill>
                              <a:latin typeface="Cambria Math" panose="02040503050406030204" pitchFamily="18" charset="0"/>
                            </a:rPr>
                            <m:t>1</m:t>
                          </m:r>
                        </m:sub>
                      </m:sSub>
                      <m:r>
                        <a:rPr lang="en-US" sz="1800" b="0" i="0" dirty="0">
                          <a:solidFill>
                            <a:srgbClr val="1F4E79"/>
                          </a:solidFill>
                          <a:latin typeface="Cambria Math" panose="02040503050406030204" pitchFamily="18" charset="0"/>
                        </a:rPr>
                        <m:t> + </m:t>
                      </m:r>
                      <m:sSub>
                        <m:sSubPr>
                          <m:ctrlPr>
                            <a:rPr lang="en-US" sz="1800" b="0" i="1" dirty="0">
                              <a:solidFill>
                                <a:srgbClr val="1F4E79"/>
                              </a:solidFill>
                              <a:latin typeface="Cambria Math" panose="02040503050406030204" pitchFamily="18" charset="0"/>
                            </a:rPr>
                          </m:ctrlPr>
                        </m:sSubPr>
                        <m:e>
                          <m:r>
                            <a:rPr lang="en-US" sz="1800" b="0" i="1" dirty="0">
                              <a:solidFill>
                                <a:srgbClr val="1F4E79"/>
                              </a:solidFill>
                              <a:latin typeface="Cambria Math" panose="02040503050406030204" pitchFamily="18" charset="0"/>
                            </a:rPr>
                            <m:t>𝑑</m:t>
                          </m:r>
                        </m:e>
                        <m:sub>
                          <m:r>
                            <a:rPr lang="en-US" sz="1800" b="0" i="0" dirty="0">
                              <a:solidFill>
                                <a:srgbClr val="1F4E79"/>
                              </a:solidFill>
                              <a:latin typeface="Cambria Math" panose="02040503050406030204" pitchFamily="18" charset="0"/>
                            </a:rPr>
                            <m:t>1</m:t>
                          </m:r>
                        </m:sub>
                      </m:sSub>
                    </m:oMath>
                  </m:oMathPara>
                </a14:m>
                <a:endParaRPr lang="en-US" sz="1800" dirty="0"/>
              </a:p>
            </p:txBody>
          </p:sp>
        </mc:Choice>
        <mc:Fallback>
          <p:sp>
            <p:nvSpPr>
              <p:cNvPr id="7" name="TextBox 6"/>
              <p:cNvSpPr txBox="1">
                <a:spLocks noRot="1" noChangeAspect="1" noMove="1" noResize="1" noEditPoints="1" noAdjustHandles="1" noChangeArrowheads="1" noChangeShapeType="1" noTextEdit="1"/>
              </p:cNvSpPr>
              <p:nvPr/>
            </p:nvSpPr>
            <p:spPr>
              <a:xfrm>
                <a:off x="786384" y="2249424"/>
                <a:ext cx="4773168" cy="475488"/>
              </a:xfrm>
              <a:prstGeom prst="rect">
                <a:avLst/>
              </a:prstGeom>
              <a:blipFill>
                <a:blip r:embed="rId2"/>
                <a:stretch>
                  <a:fillRect l="-1061" t="-5263"/>
                </a:stretch>
              </a:blipFill>
            </p:spPr>
            <p:txBody>
              <a:bodyPr/>
              <a:lstStyle/>
              <a:p>
                <a:r>
                  <a:rPr lang="ja-JP" altLang="en-US">
                    <a:noFill/>
                  </a:rPr>
                  <a:t> </a:t>
                </a:r>
              </a:p>
            </p:txBody>
          </p:sp>
        </mc:Fallback>
      </mc:AlternateContent>
      <p:sp>
        <p:nvSpPr>
          <p:cNvPr id="8" name="TextBox 7"/>
          <p:cNvSpPr txBox="1"/>
          <p:nvPr/>
        </p:nvSpPr>
        <p:spPr>
          <a:xfrm>
            <a:off x="786384" y="2798064"/>
            <a:ext cx="4773168" cy="640080"/>
          </a:xfrm>
          <a:prstGeom prst="rect">
            <a:avLst/>
          </a:prstGeom>
          <a:noFill/>
        </p:spPr>
        <p:txBody>
          <a:bodyPr wrap="square" lIns="0" tIns="0" rIns="0" bIns="0" anchor="t">
            <a:spAutoFit/>
          </a:bodyPr>
          <a:lstStyle/>
          <a:p>
            <a:pPr algn="l">
              <a:lnSpc>
                <a:spcPct val="132000"/>
              </a:lnSpc>
              <a:spcAft>
                <a:spcPts val="600"/>
              </a:spcAft>
            </a:pPr>
            <a:r>
              <a:rPr sz="1450" b="0">
                <a:solidFill>
                  <a:srgbClr val="222222"/>
                </a:solidFill>
                <a:latin typeface="Meiryo"/>
                <a:ea typeface="Meiryo"/>
                <a:cs typeface="Meiryo"/>
              </a:rPr>
              <a:t>食べた分が体になる割合の和。ブリなら、2つの餌からの分をまとめた1つの数しか出てこない。</a:t>
            </a:r>
          </a:p>
        </p:txBody>
      </p:sp>
      <p:sp>
        <p:nvSpPr>
          <p:cNvPr id="9" name="Rectangle 8"/>
          <p:cNvSpPr/>
          <p:nvPr/>
        </p:nvSpPr>
        <p:spPr>
          <a:xfrm>
            <a:off x="6391656" y="1737360"/>
            <a:ext cx="5230368" cy="175564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611112" y="1874519"/>
            <a:ext cx="4791456" cy="310896"/>
          </a:xfrm>
          <a:prstGeom prst="rect">
            <a:avLst/>
          </a:prstGeom>
          <a:noFill/>
        </p:spPr>
        <p:txBody>
          <a:bodyPr wrap="square" lIns="0" tIns="0" rIns="0" bIns="0" anchor="t">
            <a:spAutoFit/>
          </a:bodyPr>
          <a:lstStyle/>
          <a:p>
            <a:pPr algn="l">
              <a:lnSpc>
                <a:spcPct val="132000"/>
              </a:lnSpc>
              <a:spcAft>
                <a:spcPts val="600"/>
              </a:spcAft>
            </a:pPr>
            <a:r>
              <a:rPr sz="1600" b="1">
                <a:solidFill>
                  <a:srgbClr val="C0561A"/>
                </a:solidFill>
                <a:latin typeface="Meiryo"/>
                <a:ea typeface="Meiryo"/>
                <a:cs typeface="Meiryo"/>
              </a:rPr>
              <a:t>資源量のデータが決めているもの</a:t>
            </a:r>
          </a:p>
        </p:txBody>
      </p:sp>
      <mc:AlternateContent xmlns:mc="http://schemas.openxmlformats.org/markup-compatibility/2006">
        <mc:Choice xmlns:a14="http://schemas.microsoft.com/office/drawing/2010/main" Requires="a14">
          <p:sp>
            <p:nvSpPr>
              <p:cNvPr id="11" name="TextBox 10"/>
              <p:cNvSpPr txBox="1"/>
              <p:nvPr/>
            </p:nvSpPr>
            <p:spPr>
              <a:xfrm>
                <a:off x="6611112" y="2249424"/>
                <a:ext cx="4791456" cy="47548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𝑐</m:t>
                          </m:r>
                        </m:e>
                        <m:sub>
                          <m:r>
                            <a:rPr lang="en-US" sz="1800" b="0" i="0" dirty="0">
                              <a:solidFill>
                                <a:srgbClr val="C0561A"/>
                              </a:solidFill>
                              <a:latin typeface="Cambria Math" panose="02040503050406030204" pitchFamily="18" charset="0"/>
                            </a:rPr>
                            <m:t>1</m:t>
                          </m:r>
                        </m:sub>
                      </m:sSub>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𝜆</m:t>
                          </m:r>
                        </m:e>
                        <m:sub>
                          <m:r>
                            <a:rPr lang="en-US" sz="1800" b="0" i="0" dirty="0">
                              <a:solidFill>
                                <a:srgbClr val="C0561A"/>
                              </a:solidFill>
                              <a:latin typeface="Cambria Math" panose="02040503050406030204" pitchFamily="18" charset="0"/>
                            </a:rPr>
                            <m:t>11</m:t>
                          </m:r>
                        </m:sub>
                      </m:sSub>
                      <m:r>
                        <a:rPr lang="en-US" sz="1800" b="0" i="0" dirty="0">
                          <a:solidFill>
                            <a:srgbClr val="C0561A"/>
                          </a:solidFill>
                          <a:latin typeface="Cambria Math" panose="02040503050406030204" pitchFamily="18" charset="0"/>
                        </a:rPr>
                        <m:t>，</m:t>
                      </m:r>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𝑑</m:t>
                          </m:r>
                        </m:e>
                        <m:sub>
                          <m:r>
                            <a:rPr lang="en-US" sz="1800" b="0" i="0" dirty="0">
                              <a:solidFill>
                                <a:srgbClr val="C0561A"/>
                              </a:solidFill>
                              <a:latin typeface="Cambria Math" panose="02040503050406030204" pitchFamily="18" charset="0"/>
                            </a:rPr>
                            <m:t>1</m:t>
                          </m:r>
                        </m:sub>
                      </m:sSub>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𝜆</m:t>
                          </m:r>
                        </m:e>
                        <m:sub>
                          <m:r>
                            <a:rPr lang="en-US" sz="1800" b="0" i="0" dirty="0">
                              <a:solidFill>
                                <a:srgbClr val="C0561A"/>
                              </a:solidFill>
                              <a:latin typeface="Cambria Math" panose="02040503050406030204" pitchFamily="18" charset="0"/>
                            </a:rPr>
                            <m:t>21</m:t>
                          </m:r>
                        </m:sub>
                      </m:sSub>
                    </m:oMath>
                  </m:oMathPara>
                </a14:m>
                <a:endParaRPr lang="en-US" sz="1800" dirty="0"/>
              </a:p>
            </p:txBody>
          </p:sp>
        </mc:Choice>
        <mc:Fallback>
          <p:sp>
            <p:nvSpPr>
              <p:cNvPr id="11" name="TextBox 10"/>
              <p:cNvSpPr txBox="1">
                <a:spLocks noRot="1" noChangeAspect="1" noMove="1" noResize="1" noEditPoints="1" noAdjustHandles="1" noChangeArrowheads="1" noChangeShapeType="1" noTextEdit="1"/>
              </p:cNvSpPr>
              <p:nvPr/>
            </p:nvSpPr>
            <p:spPr>
              <a:xfrm>
                <a:off x="6611112" y="2249424"/>
                <a:ext cx="4791456" cy="475488"/>
              </a:xfrm>
              <a:prstGeom prst="rect">
                <a:avLst/>
              </a:prstGeom>
              <a:blipFill>
                <a:blip r:embed="rId3"/>
                <a:stretch>
                  <a:fillRect l="-1055"/>
                </a:stretch>
              </a:blipFill>
            </p:spPr>
            <p:txBody>
              <a:bodyPr/>
              <a:lstStyle/>
              <a:p>
                <a:r>
                  <a:rPr lang="ja-JP" altLang="en-US">
                    <a:noFill/>
                  </a:rPr>
                  <a:t> </a:t>
                </a:r>
              </a:p>
            </p:txBody>
          </p:sp>
        </mc:Fallback>
      </mc:AlternateContent>
      <p:sp>
        <p:nvSpPr>
          <p:cNvPr id="12" name="TextBox 11"/>
          <p:cNvSpPr txBox="1"/>
          <p:nvPr/>
        </p:nvSpPr>
        <p:spPr>
          <a:xfrm>
            <a:off x="6611112" y="2798064"/>
            <a:ext cx="4791456" cy="640080"/>
          </a:xfrm>
          <a:prstGeom prst="rect">
            <a:avLst/>
          </a:prstGeom>
          <a:noFill/>
        </p:spPr>
        <p:txBody>
          <a:bodyPr wrap="square" lIns="0" tIns="0" rIns="0" bIns="0" anchor="t">
            <a:spAutoFit/>
          </a:bodyPr>
          <a:lstStyle/>
          <a:p>
            <a:pPr algn="l">
              <a:lnSpc>
                <a:spcPct val="132000"/>
              </a:lnSpc>
              <a:spcAft>
                <a:spcPts val="600"/>
              </a:spcAft>
            </a:pPr>
            <a:r>
              <a:rPr sz="1450" b="0">
                <a:solidFill>
                  <a:srgbClr val="222222"/>
                </a:solidFill>
                <a:latin typeface="Meiryo"/>
                <a:ea typeface="Meiryo"/>
                <a:cs typeface="Meiryo"/>
              </a:rPr>
              <a:t>その割合と「食べられる強さ」のかけ算。経路ごとに別々の値で、和とは対応しない。</a:t>
            </a:r>
          </a:p>
        </p:txBody>
      </p:sp>
      <p:cxnSp>
        <p:nvCxnSpPr>
          <p:cNvPr id="13" name="Connector 12"/>
          <p:cNvCxnSpPr/>
          <p:nvPr/>
        </p:nvCxnSpPr>
        <p:spPr>
          <a:xfrm>
            <a:off x="5815584" y="2615184"/>
            <a:ext cx="539496" cy="0"/>
          </a:xfrm>
          <a:prstGeom prst="line">
            <a:avLst/>
          </a:prstGeom>
          <a:ln w="2540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66928" y="3675887"/>
            <a:ext cx="11057839" cy="1133856"/>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86384" y="3822191"/>
            <a:ext cx="10618927" cy="914400"/>
          </a:xfrm>
          <a:prstGeom prst="rect">
            <a:avLst/>
          </a:prstGeom>
          <a:noFill/>
        </p:spPr>
        <p:txBody>
          <a:bodyPr wrap="square" lIns="0" tIns="0" rIns="0" bIns="0" anchor="t">
            <a:spAutoFit/>
          </a:bodyPr>
          <a:lstStyle/>
          <a:p>
            <a:pPr algn="l">
              <a:lnSpc>
                <a:spcPct val="132000"/>
              </a:lnSpc>
              <a:spcAft>
                <a:spcPts val="700"/>
              </a:spcAft>
            </a:pPr>
            <a:r>
              <a:rPr sz="1550" b="0">
                <a:solidFill>
                  <a:srgbClr val="222222"/>
                </a:solidFill>
                <a:latin typeface="Meiryo"/>
                <a:ea typeface="Meiryo"/>
                <a:cs typeface="Meiryo"/>
              </a:rPr>
              <a:t>和を固定すると、かけ算の値を保つために「食べられる強さ」が不自然に大きくなる（例：ウルメ→ブリ の λ が 0.224 → 1.00）。</a:t>
            </a:r>
          </a:p>
          <a:p>
            <a:pPr algn="l">
              <a:lnSpc>
                <a:spcPct val="132000"/>
              </a:lnSpc>
              <a:spcAft>
                <a:spcPts val="700"/>
              </a:spcAft>
            </a:pPr>
            <a:r>
              <a:rPr sz="1550" b="0">
                <a:solidFill>
                  <a:srgbClr val="222222"/>
                </a:solidFill>
                <a:latin typeface="Meiryo"/>
                <a:ea typeface="Meiryo"/>
                <a:cs typeface="Meiryo"/>
              </a:rPr>
              <a:t>この係数は餌の魚の式にも出てくるので、ゆがみが餌の魚の当てはまりまで広がる。</a:t>
            </a:r>
          </a:p>
        </p:txBody>
      </p:sp>
      <p:sp>
        <p:nvSpPr>
          <p:cNvPr id="16" name="Rectangle 15"/>
          <p:cNvSpPr/>
          <p:nvPr/>
        </p:nvSpPr>
        <p:spPr>
          <a:xfrm>
            <a:off x="566928" y="4956048"/>
            <a:ext cx="11057839" cy="56692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68096" y="5084064"/>
            <a:ext cx="10655503" cy="365760"/>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借りられるのは「増える速さ」まで。変換の割合の和まで固定すると、当てはまりが壊れる。</a:t>
            </a:r>
          </a:p>
        </p:txBody>
      </p:sp>
      <p:sp>
        <p:nvSpPr>
          <p:cNvPr id="18" name="TextBox 17"/>
          <p:cNvSpPr txBox="1"/>
          <p:nvPr/>
        </p:nvSpPr>
        <p:spPr>
          <a:xfrm>
            <a:off x="566928" y="5715000"/>
            <a:ext cx="10326319" cy="566928"/>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「和と積は切り分けられない」と言い切るのは正確ではない。原理的には分けられるが、この長さのデータでは実質的にほとんど区別がつかない。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同じ記号 r でも、中身が違う</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10</a:t>
            </a:r>
          </a:p>
        </p:txBody>
      </p:sp>
      <p:pic>
        <p:nvPicPr>
          <p:cNvPr id="4" name="Picture 3" descr="07_増える速さと漁獲率.png"/>
          <p:cNvPicPr>
            <a:picLocks noChangeAspect="1"/>
          </p:cNvPicPr>
          <p:nvPr/>
        </p:nvPicPr>
        <p:blipFill>
          <a:blip r:embed="rId2"/>
          <a:stretch>
            <a:fillRect/>
          </a:stretch>
        </p:blipFill>
        <p:spPr>
          <a:xfrm>
            <a:off x="566928" y="1325880"/>
            <a:ext cx="6172200" cy="2880360"/>
          </a:xfrm>
          <a:prstGeom prst="rect">
            <a:avLst/>
          </a:prstGeom>
        </p:spPr>
      </p:pic>
      <p:sp>
        <p:nvSpPr>
          <p:cNvPr id="5" name="figlabel"/>
          <p:cNvSpPr txBox="1"/>
          <p:nvPr/>
        </p:nvSpPr>
        <p:spPr>
          <a:xfrm>
            <a:off x="3604884" y="1509453"/>
            <a:ext cx="2515362" cy="191642"/>
          </a:xfrm>
          <a:prstGeom prst="rect">
            <a:avLst/>
          </a:prstGeom>
          <a:noFill/>
        </p:spPr>
        <p:txBody>
          <a:bodyPr wrap="none" lIns="0" tIns="0" rIns="0" bIns="0" anchor="ctr">
            <a:spAutoFit/>
          </a:bodyPr>
          <a:lstStyle/>
          <a:p>
            <a:pPr algn="l">
              <a:lnSpc>
                <a:spcPct val="120000"/>
              </a:lnSpc>
              <a:spcAft>
                <a:spcPts val="0"/>
              </a:spcAft>
            </a:pPr>
            <a:r>
              <a:rPr sz="1050" b="0">
                <a:solidFill>
                  <a:srgbClr val="222222"/>
                </a:solidFill>
                <a:latin typeface="Meiryo"/>
                <a:ea typeface="Meiryo"/>
                <a:cs typeface="Meiryo"/>
              </a:rPr>
              <a:t>1種ずつの解析から借りた「増える速さ」</a:t>
            </a:r>
          </a:p>
        </p:txBody>
      </p:sp>
      <p:sp>
        <p:nvSpPr>
          <p:cNvPr id="6" name="figlabel"/>
          <p:cNvSpPr txBox="1"/>
          <p:nvPr/>
        </p:nvSpPr>
        <p:spPr>
          <a:xfrm>
            <a:off x="3604884" y="1739882"/>
            <a:ext cx="2467356" cy="191642"/>
          </a:xfrm>
          <a:prstGeom prst="rect">
            <a:avLst/>
          </a:prstGeom>
          <a:noFill/>
        </p:spPr>
        <p:txBody>
          <a:bodyPr wrap="none" lIns="0" tIns="0" rIns="0" bIns="0" anchor="ctr">
            <a:spAutoFit/>
          </a:bodyPr>
          <a:lstStyle/>
          <a:p>
            <a:pPr algn="l">
              <a:lnSpc>
                <a:spcPct val="120000"/>
              </a:lnSpc>
              <a:spcAft>
                <a:spcPts val="0"/>
              </a:spcAft>
            </a:pPr>
            <a:r>
              <a:rPr sz="1050" b="0">
                <a:solidFill>
                  <a:srgbClr val="222222"/>
                </a:solidFill>
                <a:latin typeface="Meiryo"/>
                <a:ea typeface="Meiryo"/>
                <a:cs typeface="Meiryo"/>
              </a:rPr>
              <a:t>実際にとっている割合（1994〜2024年）</a:t>
            </a:r>
          </a:p>
        </p:txBody>
      </p:sp>
      <p:sp>
        <p:nvSpPr>
          <p:cNvPr id="7" name="figlabel"/>
          <p:cNvSpPr txBox="1"/>
          <p:nvPr/>
        </p:nvSpPr>
        <p:spPr>
          <a:xfrm>
            <a:off x="2311908" y="3886520"/>
            <a:ext cx="52197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マアジ</a:t>
            </a:r>
          </a:p>
        </p:txBody>
      </p:sp>
      <p:sp>
        <p:nvSpPr>
          <p:cNvPr id="8" name="figlabel"/>
          <p:cNvSpPr txBox="1"/>
          <p:nvPr/>
        </p:nvSpPr>
        <p:spPr>
          <a:xfrm>
            <a:off x="4789551" y="3886520"/>
            <a:ext cx="99822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ウルメイワシ</a:t>
            </a:r>
          </a:p>
        </p:txBody>
      </p:sp>
      <p:sp>
        <p:nvSpPr>
          <p:cNvPr id="9" name="figlabel"/>
          <p:cNvSpPr txBox="1"/>
          <p:nvPr/>
        </p:nvSpPr>
        <p:spPr>
          <a:xfrm>
            <a:off x="1711833" y="2400376"/>
            <a:ext cx="1722120" cy="414528"/>
          </a:xfrm>
          <a:prstGeom prst="rect">
            <a:avLst/>
          </a:prstGeom>
          <a:noFill/>
        </p:spPr>
        <p:txBody>
          <a:bodyPr wrap="none" lIns="0" tIns="0" rIns="0" bIns="0" anchor="ctr">
            <a:spAutoFit/>
          </a:bodyPr>
          <a:lstStyle/>
          <a:p>
            <a:pPr algn="ctr">
              <a:lnSpc>
                <a:spcPct val="120000"/>
              </a:lnSpc>
              <a:spcAft>
                <a:spcPts val="0"/>
              </a:spcAft>
            </a:pPr>
            <a:r>
              <a:rPr sz="1200" b="0">
                <a:solidFill>
                  <a:srgbClr val="C0561A"/>
                </a:solidFill>
                <a:latin typeface="Meiryo"/>
                <a:ea typeface="Meiryo"/>
                <a:cs typeface="Meiryo"/>
              </a:rPr>
              <a:t>マアジだけ逆転</a:t>
            </a:r>
          </a:p>
          <a:p>
            <a:pPr algn="ctr">
              <a:lnSpc>
                <a:spcPct val="120000"/>
              </a:lnSpc>
              <a:spcAft>
                <a:spcPts val="0"/>
              </a:spcAft>
            </a:pPr>
            <a:r>
              <a:rPr sz="1200" b="0">
                <a:solidFill>
                  <a:srgbClr val="C0561A"/>
                </a:solidFill>
                <a:latin typeface="Meiryo"/>
                <a:ea typeface="Meiryo"/>
                <a:cs typeface="Meiryo"/>
              </a:rPr>
              <a:t>（とる量のほうが多い）</a:t>
            </a:r>
          </a:p>
        </p:txBody>
      </p:sp>
      <p:sp>
        <p:nvSpPr>
          <p:cNvPr id="10" name="figlabel"/>
          <p:cNvSpPr txBox="1"/>
          <p:nvPr/>
        </p:nvSpPr>
        <p:spPr>
          <a:xfrm>
            <a:off x="640994" y="1369085"/>
            <a:ext cx="1582165" cy="208153"/>
          </a:xfrm>
          <a:prstGeom prst="rect">
            <a:avLst/>
          </a:prstGeom>
          <a:noFill/>
        </p:spPr>
        <p:txBody>
          <a:bodyPr wrap="none" lIns="0" tIns="0" rIns="0" bIns="0" anchor="ctr">
            <a:spAutoFit/>
          </a:bodyPr>
          <a:lstStyle/>
          <a:p>
            <a:pPr algn="l">
              <a:lnSpc>
                <a:spcPct val="120000"/>
              </a:lnSpc>
              <a:spcAft>
                <a:spcPts val="0"/>
              </a:spcAft>
            </a:pPr>
            <a:r>
              <a:rPr sz="1150" b="0">
                <a:solidFill>
                  <a:srgbClr val="6E6E6E"/>
                </a:solidFill>
                <a:latin typeface="Meiryo"/>
                <a:ea typeface="Meiryo"/>
                <a:cs typeface="Meiryo"/>
              </a:rPr>
              <a:t>縦軸：1年あたりの割合</a:t>
            </a:r>
          </a:p>
        </p:txBody>
      </p:sp>
      <p:sp>
        <p:nvSpPr>
          <p:cNvPr id="11" name="TextBox 10"/>
          <p:cNvSpPr txBox="1"/>
          <p:nvPr/>
        </p:nvSpPr>
        <p:spPr>
          <a:xfrm>
            <a:off x="7059168" y="1298448"/>
            <a:ext cx="4553712" cy="3657600"/>
          </a:xfrm>
          <a:prstGeom prst="rect">
            <a:avLst/>
          </a:prstGeom>
          <a:noFill/>
        </p:spPr>
        <p:txBody>
          <a:bodyPr wrap="square" lIns="0" tIns="0" rIns="0" bIns="0" anchor="t">
            <a:spAutoFit/>
          </a:bodyPr>
          <a:lstStyle/>
          <a:p>
            <a:pPr algn="l">
              <a:lnSpc>
                <a:spcPct val="132000"/>
              </a:lnSpc>
              <a:spcAft>
                <a:spcPts val="900"/>
              </a:spcAft>
            </a:pPr>
            <a:r>
              <a:rPr sz="1700" b="1">
                <a:solidFill>
                  <a:srgbClr val="1F4E79"/>
                </a:solidFill>
                <a:latin typeface="Meiryo"/>
                <a:ea typeface="Meiryo"/>
                <a:cs typeface="Meiryo"/>
              </a:rPr>
              <a:t>1種ずつの解析の r</a:t>
            </a:r>
          </a:p>
          <a:p>
            <a:pPr algn="l">
              <a:lnSpc>
                <a:spcPct val="132000"/>
              </a:lnSpc>
              <a:spcAft>
                <a:spcPts val="900"/>
              </a:spcAft>
            </a:pPr>
            <a:r>
              <a:rPr sz="1550" b="0">
                <a:solidFill>
                  <a:srgbClr val="222222"/>
                </a:solidFill>
                <a:latin typeface="Meiryo"/>
                <a:ea typeface="Meiryo"/>
                <a:cs typeface="Meiryo"/>
              </a:rPr>
              <a:t>混み合いを含んだ「もうけ分」の増え方</a:t>
            </a:r>
          </a:p>
          <a:p>
            <a:pPr algn="l">
              <a:lnSpc>
                <a:spcPct val="132000"/>
              </a:lnSpc>
              <a:spcAft>
                <a:spcPts val="900"/>
              </a:spcAft>
            </a:pPr>
            <a:r>
              <a:rPr sz="1700" b="1">
                <a:solidFill>
                  <a:srgbClr val="1F4E79"/>
                </a:solidFill>
                <a:latin typeface="Meiryo"/>
                <a:ea typeface="Meiryo"/>
                <a:cs typeface="Meiryo"/>
              </a:rPr>
              <a:t>今回の式の r_x</a:t>
            </a:r>
          </a:p>
          <a:p>
            <a:pPr algn="l">
              <a:lnSpc>
                <a:spcPct val="132000"/>
              </a:lnSpc>
              <a:spcAft>
                <a:spcPts val="900"/>
              </a:spcAft>
            </a:pPr>
            <a:r>
              <a:rPr sz="1550" b="0">
                <a:solidFill>
                  <a:srgbClr val="222222"/>
                </a:solidFill>
                <a:latin typeface="Meiryo"/>
                <a:ea typeface="Meiryo"/>
                <a:cs typeface="Meiryo"/>
              </a:rPr>
              <a:t>混み合いを含まない、そのままの増える速さ</a:t>
            </a:r>
          </a:p>
          <a:p>
            <a:pPr algn="l">
              <a:lnSpc>
                <a:spcPct val="132000"/>
              </a:lnSpc>
              <a:spcAft>
                <a:spcPts val="900"/>
              </a:spcAft>
            </a:pPr>
            <a:r>
              <a:rPr sz="1700" b="1">
                <a:solidFill>
                  <a:srgbClr val="C0561A"/>
                </a:solidFill>
                <a:latin typeface="Meiryo"/>
                <a:ea typeface="Meiryo"/>
                <a:cs typeface="Meiryo"/>
              </a:rPr>
              <a:t>マアジで起きたこと</a:t>
            </a:r>
          </a:p>
          <a:p>
            <a:pPr algn="l">
              <a:lnSpc>
                <a:spcPct val="132000"/>
              </a:lnSpc>
              <a:spcAft>
                <a:spcPts val="900"/>
              </a:spcAft>
            </a:pPr>
            <a:r>
              <a:rPr sz="1550" b="0">
                <a:solidFill>
                  <a:srgbClr val="222222"/>
                </a:solidFill>
                <a:latin typeface="Meiryo"/>
                <a:ea typeface="Meiryo"/>
                <a:cs typeface="Meiryo"/>
              </a:rPr>
              <a:t>借りた r（0.228）が、実際にとっている割合（0.431）より小さい。式のうえでは食べられる前から毎年減る計算になり、横ばいの実データに合わない。</a:t>
            </a:r>
          </a:p>
        </p:txBody>
      </p:sp>
      <p:sp>
        <p:nvSpPr>
          <p:cNvPr id="12" name="Rectangle 11"/>
          <p:cNvSpPr/>
          <p:nvPr/>
        </p:nvSpPr>
        <p:spPr>
          <a:xfrm>
            <a:off x="566928" y="5074920"/>
            <a:ext cx="11057839" cy="56692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68096" y="5202936"/>
            <a:ext cx="10655503" cy="365760"/>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1種ずつの解析の値を、そのまま多種の式に入れることはできない。意味の翻訳が要る。</a:t>
            </a:r>
          </a:p>
        </p:txBody>
      </p:sp>
      <p:sp>
        <p:nvSpPr>
          <p:cNvPr id="14" name="TextBox 13"/>
          <p:cNvSpPr txBox="1"/>
          <p:nvPr/>
        </p:nvSpPr>
        <p:spPr>
          <a:xfrm>
            <a:off x="566928" y="5833872"/>
            <a:ext cx="10326319" cy="457200"/>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ウルメイワシは とっている割合 0.113 ≪ 増える速さ 0.739 なので、この問題は起きない。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大蛇行の時期は、餌の魚が減り、食べる魚が増える</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11</a:t>
            </a:r>
          </a:p>
        </p:txBody>
      </p:sp>
      <p:pic>
        <p:nvPicPr>
          <p:cNvPr id="4" name="Picture 3" descr="08_時期ごとの比較.png"/>
          <p:cNvPicPr>
            <a:picLocks noChangeAspect="1"/>
          </p:cNvPicPr>
          <p:nvPr/>
        </p:nvPicPr>
        <p:blipFill>
          <a:blip r:embed="rId2"/>
          <a:stretch>
            <a:fillRect/>
          </a:stretch>
        </p:blipFill>
        <p:spPr>
          <a:xfrm>
            <a:off x="886968" y="1261872"/>
            <a:ext cx="10424160" cy="3017520"/>
          </a:xfrm>
          <a:prstGeom prst="rect">
            <a:avLst/>
          </a:prstGeom>
        </p:spPr>
      </p:pic>
      <p:sp>
        <p:nvSpPr>
          <p:cNvPr id="5" name="figlabel"/>
          <p:cNvSpPr txBox="1"/>
          <p:nvPr/>
        </p:nvSpPr>
        <p:spPr>
          <a:xfrm>
            <a:off x="2633001" y="1369933"/>
            <a:ext cx="2522220" cy="232918"/>
          </a:xfrm>
          <a:prstGeom prst="rect">
            <a:avLst/>
          </a:prstGeom>
          <a:noFill/>
        </p:spPr>
        <p:txBody>
          <a:bodyPr wrap="none" lIns="0" tIns="0" rIns="0" bIns="0" anchor="ctr">
            <a:spAutoFit/>
          </a:bodyPr>
          <a:lstStyle/>
          <a:p>
            <a:pPr algn="ctr">
              <a:lnSpc>
                <a:spcPct val="120000"/>
              </a:lnSpc>
              <a:spcAft>
                <a:spcPts val="0"/>
              </a:spcAft>
            </a:pPr>
            <a:r>
              <a:rPr sz="1300" b="0">
                <a:solidFill>
                  <a:srgbClr val="222222"/>
                </a:solidFill>
                <a:latin typeface="Meiryo"/>
                <a:ea typeface="Meiryo"/>
                <a:cs typeface="Meiryo"/>
              </a:rPr>
              <a:t>餌の魚は減り、食べる魚は増えた</a:t>
            </a:r>
          </a:p>
        </p:txBody>
      </p:sp>
      <p:sp>
        <p:nvSpPr>
          <p:cNvPr id="6" name="figlabel"/>
          <p:cNvSpPr txBox="1"/>
          <p:nvPr/>
        </p:nvSpPr>
        <p:spPr>
          <a:xfrm>
            <a:off x="2225585" y="4007815"/>
            <a:ext cx="3337051"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大蛇行なし → 大蛇行 の変化（期間平均の資源量）</a:t>
            </a:r>
          </a:p>
        </p:txBody>
      </p:sp>
      <p:sp>
        <p:nvSpPr>
          <p:cNvPr id="7" name="figlabel"/>
          <p:cNvSpPr txBox="1"/>
          <p:nvPr/>
        </p:nvSpPr>
        <p:spPr>
          <a:xfrm>
            <a:off x="1293669" y="1821294"/>
            <a:ext cx="502920" cy="216408"/>
          </a:xfrm>
          <a:prstGeom prst="rect">
            <a:avLst/>
          </a:prstGeom>
          <a:noFill/>
        </p:spPr>
        <p:txBody>
          <a:bodyPr wrap="none" lIns="0" tIns="0" rIns="0" bIns="0" anchor="ctr">
            <a:spAutoFit/>
          </a:bodyPr>
          <a:lstStyle/>
          <a:p>
            <a:pPr algn="r">
              <a:lnSpc>
                <a:spcPct val="120000"/>
              </a:lnSpc>
              <a:spcAft>
                <a:spcPts val="0"/>
              </a:spcAft>
            </a:pPr>
            <a:r>
              <a:rPr sz="1200" b="0">
                <a:solidFill>
                  <a:srgbClr val="222222"/>
                </a:solidFill>
                <a:latin typeface="Meiryo"/>
                <a:ea typeface="Meiryo"/>
                <a:cs typeface="Meiryo"/>
              </a:rPr>
              <a:t>マアジ</a:t>
            </a:r>
          </a:p>
        </p:txBody>
      </p:sp>
      <p:sp>
        <p:nvSpPr>
          <p:cNvPr id="8" name="figlabel"/>
          <p:cNvSpPr txBox="1"/>
          <p:nvPr/>
        </p:nvSpPr>
        <p:spPr>
          <a:xfrm>
            <a:off x="836469" y="2341816"/>
            <a:ext cx="960120" cy="216408"/>
          </a:xfrm>
          <a:prstGeom prst="rect">
            <a:avLst/>
          </a:prstGeom>
          <a:noFill/>
        </p:spPr>
        <p:txBody>
          <a:bodyPr wrap="none" lIns="0" tIns="0" rIns="0" bIns="0" anchor="ctr">
            <a:spAutoFit/>
          </a:bodyPr>
          <a:lstStyle/>
          <a:p>
            <a:pPr algn="r">
              <a:lnSpc>
                <a:spcPct val="120000"/>
              </a:lnSpc>
              <a:spcAft>
                <a:spcPts val="0"/>
              </a:spcAft>
            </a:pPr>
            <a:r>
              <a:rPr sz="1200" b="0">
                <a:solidFill>
                  <a:srgbClr val="222222"/>
                </a:solidFill>
                <a:latin typeface="Meiryo"/>
                <a:ea typeface="Meiryo"/>
                <a:cs typeface="Meiryo"/>
              </a:rPr>
              <a:t>ウルメイワシ</a:t>
            </a:r>
          </a:p>
        </p:txBody>
      </p:sp>
      <p:sp>
        <p:nvSpPr>
          <p:cNvPr id="9" name="figlabel"/>
          <p:cNvSpPr txBox="1"/>
          <p:nvPr/>
        </p:nvSpPr>
        <p:spPr>
          <a:xfrm>
            <a:off x="1446069" y="2862338"/>
            <a:ext cx="350520" cy="216408"/>
          </a:xfrm>
          <a:prstGeom prst="rect">
            <a:avLst/>
          </a:prstGeom>
          <a:noFill/>
        </p:spPr>
        <p:txBody>
          <a:bodyPr wrap="none" lIns="0" tIns="0" rIns="0" bIns="0" anchor="ctr">
            <a:spAutoFit/>
          </a:bodyPr>
          <a:lstStyle/>
          <a:p>
            <a:pPr algn="r">
              <a:lnSpc>
                <a:spcPct val="120000"/>
              </a:lnSpc>
              <a:spcAft>
                <a:spcPts val="0"/>
              </a:spcAft>
            </a:pPr>
            <a:r>
              <a:rPr sz="1200" b="0">
                <a:solidFill>
                  <a:srgbClr val="222222"/>
                </a:solidFill>
                <a:latin typeface="Meiryo"/>
                <a:ea typeface="Meiryo"/>
                <a:cs typeface="Meiryo"/>
              </a:rPr>
              <a:t>ブリ</a:t>
            </a:r>
          </a:p>
        </p:txBody>
      </p:sp>
      <p:sp>
        <p:nvSpPr>
          <p:cNvPr id="10" name="figlabel"/>
          <p:cNvSpPr txBox="1"/>
          <p:nvPr/>
        </p:nvSpPr>
        <p:spPr>
          <a:xfrm>
            <a:off x="1293669" y="3382860"/>
            <a:ext cx="502920" cy="216408"/>
          </a:xfrm>
          <a:prstGeom prst="rect">
            <a:avLst/>
          </a:prstGeom>
          <a:noFill/>
        </p:spPr>
        <p:txBody>
          <a:bodyPr wrap="none" lIns="0" tIns="0" rIns="0" bIns="0" anchor="ctr">
            <a:spAutoFit/>
          </a:bodyPr>
          <a:lstStyle/>
          <a:p>
            <a:pPr algn="r">
              <a:lnSpc>
                <a:spcPct val="120000"/>
              </a:lnSpc>
              <a:spcAft>
                <a:spcPts val="0"/>
              </a:spcAft>
            </a:pPr>
            <a:r>
              <a:rPr sz="1200" b="0">
                <a:solidFill>
                  <a:srgbClr val="222222"/>
                </a:solidFill>
                <a:latin typeface="Meiryo"/>
                <a:ea typeface="Meiryo"/>
                <a:cs typeface="Meiryo"/>
              </a:rPr>
              <a:t>サワラ</a:t>
            </a:r>
          </a:p>
        </p:txBody>
      </p:sp>
      <p:sp>
        <p:nvSpPr>
          <p:cNvPr id="11" name="figlabel"/>
          <p:cNvSpPr txBox="1"/>
          <p:nvPr/>
        </p:nvSpPr>
        <p:spPr>
          <a:xfrm>
            <a:off x="7464057" y="1369933"/>
            <a:ext cx="3347720" cy="232918"/>
          </a:xfrm>
          <a:prstGeom prst="rect">
            <a:avLst/>
          </a:prstGeom>
          <a:noFill/>
        </p:spPr>
        <p:txBody>
          <a:bodyPr wrap="none" lIns="0" tIns="0" rIns="0" bIns="0" anchor="ctr">
            <a:spAutoFit/>
          </a:bodyPr>
          <a:lstStyle/>
          <a:p>
            <a:pPr algn="ctr">
              <a:lnSpc>
                <a:spcPct val="120000"/>
              </a:lnSpc>
              <a:spcAft>
                <a:spcPts val="0"/>
              </a:spcAft>
            </a:pPr>
            <a:r>
              <a:rPr sz="1300" b="0">
                <a:solidFill>
                  <a:srgbClr val="222222"/>
                </a:solidFill>
                <a:latin typeface="Meiryo"/>
                <a:ea typeface="Meiryo"/>
                <a:cs typeface="Meiryo"/>
              </a:rPr>
              <a:t>サワラの取り分がウルメからマアジへ移った</a:t>
            </a:r>
          </a:p>
        </p:txBody>
      </p:sp>
      <p:sp>
        <p:nvSpPr>
          <p:cNvPr id="12" name="figlabel"/>
          <p:cNvSpPr txBox="1"/>
          <p:nvPr/>
        </p:nvSpPr>
        <p:spPr>
          <a:xfrm>
            <a:off x="7202370" y="3865840"/>
            <a:ext cx="845820" cy="191642"/>
          </a:xfrm>
          <a:prstGeom prst="rect">
            <a:avLst/>
          </a:prstGeom>
          <a:noFill/>
        </p:spPr>
        <p:txBody>
          <a:bodyPr wrap="none" lIns="0" tIns="0" rIns="0" bIns="0" anchor="ctr">
            <a:spAutoFit/>
          </a:bodyPr>
          <a:lstStyle/>
          <a:p>
            <a:pPr algn="ctr">
              <a:lnSpc>
                <a:spcPct val="120000"/>
              </a:lnSpc>
              <a:spcAft>
                <a:spcPts val="0"/>
              </a:spcAft>
            </a:pPr>
            <a:r>
              <a:rPr sz="1050" b="0">
                <a:solidFill>
                  <a:srgbClr val="222222"/>
                </a:solidFill>
                <a:latin typeface="Meiryo"/>
                <a:ea typeface="Meiryo"/>
                <a:cs typeface="Meiryo"/>
              </a:rPr>
              <a:t>マアジ→ブリ</a:t>
            </a:r>
          </a:p>
        </p:txBody>
      </p:sp>
      <p:sp>
        <p:nvSpPr>
          <p:cNvPr id="13" name="figlabel"/>
          <p:cNvSpPr txBox="1"/>
          <p:nvPr/>
        </p:nvSpPr>
        <p:spPr>
          <a:xfrm>
            <a:off x="8210795" y="3865840"/>
            <a:ext cx="845820" cy="191642"/>
          </a:xfrm>
          <a:prstGeom prst="rect">
            <a:avLst/>
          </a:prstGeom>
          <a:noFill/>
        </p:spPr>
        <p:txBody>
          <a:bodyPr wrap="none" lIns="0" tIns="0" rIns="0" bIns="0" anchor="ctr">
            <a:spAutoFit/>
          </a:bodyPr>
          <a:lstStyle/>
          <a:p>
            <a:pPr algn="ctr">
              <a:lnSpc>
                <a:spcPct val="120000"/>
              </a:lnSpc>
              <a:spcAft>
                <a:spcPts val="0"/>
              </a:spcAft>
            </a:pPr>
            <a:r>
              <a:rPr sz="1050" b="0">
                <a:solidFill>
                  <a:srgbClr val="222222"/>
                </a:solidFill>
                <a:latin typeface="Meiryo"/>
                <a:ea typeface="Meiryo"/>
                <a:cs typeface="Meiryo"/>
              </a:rPr>
              <a:t>ウルメ→ブリ</a:t>
            </a:r>
          </a:p>
        </p:txBody>
      </p:sp>
      <p:sp>
        <p:nvSpPr>
          <p:cNvPr id="14" name="figlabel"/>
          <p:cNvSpPr txBox="1"/>
          <p:nvPr/>
        </p:nvSpPr>
        <p:spPr>
          <a:xfrm>
            <a:off x="9152544" y="3865840"/>
            <a:ext cx="979170" cy="191642"/>
          </a:xfrm>
          <a:prstGeom prst="rect">
            <a:avLst/>
          </a:prstGeom>
          <a:noFill/>
        </p:spPr>
        <p:txBody>
          <a:bodyPr wrap="none" lIns="0" tIns="0" rIns="0" bIns="0" anchor="ctr">
            <a:spAutoFit/>
          </a:bodyPr>
          <a:lstStyle/>
          <a:p>
            <a:pPr algn="ctr">
              <a:lnSpc>
                <a:spcPct val="120000"/>
              </a:lnSpc>
              <a:spcAft>
                <a:spcPts val="0"/>
              </a:spcAft>
            </a:pPr>
            <a:r>
              <a:rPr sz="1050" b="0">
                <a:solidFill>
                  <a:srgbClr val="222222"/>
                </a:solidFill>
                <a:latin typeface="Meiryo"/>
                <a:ea typeface="Meiryo"/>
                <a:cs typeface="Meiryo"/>
              </a:rPr>
              <a:t>マアジ→サワラ</a:t>
            </a:r>
          </a:p>
        </p:txBody>
      </p:sp>
      <p:sp>
        <p:nvSpPr>
          <p:cNvPr id="15" name="figlabel"/>
          <p:cNvSpPr txBox="1"/>
          <p:nvPr/>
        </p:nvSpPr>
        <p:spPr>
          <a:xfrm>
            <a:off x="10160968" y="3865840"/>
            <a:ext cx="979170" cy="191642"/>
          </a:xfrm>
          <a:prstGeom prst="rect">
            <a:avLst/>
          </a:prstGeom>
          <a:noFill/>
        </p:spPr>
        <p:txBody>
          <a:bodyPr wrap="none" lIns="0" tIns="0" rIns="0" bIns="0" anchor="ctr">
            <a:spAutoFit/>
          </a:bodyPr>
          <a:lstStyle/>
          <a:p>
            <a:pPr algn="ctr">
              <a:lnSpc>
                <a:spcPct val="120000"/>
              </a:lnSpc>
              <a:spcAft>
                <a:spcPts val="0"/>
              </a:spcAft>
            </a:pPr>
            <a:r>
              <a:rPr sz="1050" b="0">
                <a:solidFill>
                  <a:srgbClr val="222222"/>
                </a:solidFill>
                <a:latin typeface="Meiryo"/>
                <a:ea typeface="Meiryo"/>
                <a:cs typeface="Meiryo"/>
              </a:rPr>
              <a:t>ウルメ→サワラ</a:t>
            </a:r>
          </a:p>
        </p:txBody>
      </p:sp>
      <p:sp>
        <p:nvSpPr>
          <p:cNvPr id="16" name="figlabel"/>
          <p:cNvSpPr txBox="1"/>
          <p:nvPr/>
        </p:nvSpPr>
        <p:spPr>
          <a:xfrm>
            <a:off x="9884151" y="1673355"/>
            <a:ext cx="712470" cy="191642"/>
          </a:xfrm>
          <a:prstGeom prst="rect">
            <a:avLst/>
          </a:prstGeom>
          <a:noFill/>
        </p:spPr>
        <p:txBody>
          <a:bodyPr wrap="none" lIns="0" tIns="0" rIns="0" bIns="0" anchor="ctr">
            <a:spAutoFit/>
          </a:bodyPr>
          <a:lstStyle/>
          <a:p>
            <a:pPr algn="l">
              <a:lnSpc>
                <a:spcPct val="120000"/>
              </a:lnSpc>
              <a:spcAft>
                <a:spcPts val="0"/>
              </a:spcAft>
            </a:pPr>
            <a:r>
              <a:rPr sz="1050" b="0">
                <a:solidFill>
                  <a:srgbClr val="222222"/>
                </a:solidFill>
                <a:latin typeface="Meiryo"/>
                <a:ea typeface="Meiryo"/>
                <a:cs typeface="Meiryo"/>
              </a:rPr>
              <a:t>大蛇行なし</a:t>
            </a:r>
          </a:p>
        </p:txBody>
      </p:sp>
      <p:sp>
        <p:nvSpPr>
          <p:cNvPr id="17" name="figlabel"/>
          <p:cNvSpPr txBox="1"/>
          <p:nvPr/>
        </p:nvSpPr>
        <p:spPr>
          <a:xfrm>
            <a:off x="9884151" y="1875318"/>
            <a:ext cx="445770" cy="191642"/>
          </a:xfrm>
          <a:prstGeom prst="rect">
            <a:avLst/>
          </a:prstGeom>
          <a:noFill/>
        </p:spPr>
        <p:txBody>
          <a:bodyPr wrap="none" lIns="0" tIns="0" rIns="0" bIns="0" anchor="ctr">
            <a:spAutoFit/>
          </a:bodyPr>
          <a:lstStyle/>
          <a:p>
            <a:pPr algn="l">
              <a:lnSpc>
                <a:spcPct val="120000"/>
              </a:lnSpc>
              <a:spcAft>
                <a:spcPts val="0"/>
              </a:spcAft>
            </a:pPr>
            <a:r>
              <a:rPr sz="1050" b="0">
                <a:solidFill>
                  <a:srgbClr val="222222"/>
                </a:solidFill>
                <a:latin typeface="Meiryo"/>
                <a:ea typeface="Meiryo"/>
                <a:cs typeface="Meiryo"/>
              </a:rPr>
              <a:t>大蛇行</a:t>
            </a:r>
          </a:p>
        </p:txBody>
      </p:sp>
      <p:sp>
        <p:nvSpPr>
          <p:cNvPr id="18" name="figlabel"/>
          <p:cNvSpPr txBox="1"/>
          <p:nvPr/>
        </p:nvSpPr>
        <p:spPr>
          <a:xfrm>
            <a:off x="10580683" y="3561810"/>
            <a:ext cx="381762" cy="191642"/>
          </a:xfrm>
          <a:prstGeom prst="rect">
            <a:avLst/>
          </a:prstGeom>
          <a:noFill/>
        </p:spPr>
        <p:txBody>
          <a:bodyPr wrap="none" lIns="0" tIns="0" rIns="0" bIns="0" anchor="ctr">
            <a:spAutoFit/>
          </a:bodyPr>
          <a:lstStyle/>
          <a:p>
            <a:pPr algn="ctr">
              <a:lnSpc>
                <a:spcPct val="120000"/>
              </a:lnSpc>
              <a:spcAft>
                <a:spcPts val="0"/>
              </a:spcAft>
            </a:pPr>
            <a:r>
              <a:rPr sz="1050" b="0">
                <a:solidFill>
                  <a:srgbClr val="C0561A"/>
                </a:solidFill>
                <a:latin typeface="Meiryo"/>
                <a:ea typeface="Meiryo"/>
                <a:cs typeface="Meiryo"/>
              </a:rPr>
              <a:t>ほぼ0</a:t>
            </a:r>
          </a:p>
        </p:txBody>
      </p:sp>
      <p:sp>
        <p:nvSpPr>
          <p:cNvPr id="19" name="figlabel"/>
          <p:cNvSpPr txBox="1"/>
          <p:nvPr/>
        </p:nvSpPr>
        <p:spPr>
          <a:xfrm>
            <a:off x="9572345" y="4088917"/>
            <a:ext cx="1582420" cy="199898"/>
          </a:xfrm>
          <a:prstGeom prst="rect">
            <a:avLst/>
          </a:prstGeom>
          <a:noFill/>
        </p:spPr>
        <p:txBody>
          <a:bodyPr wrap="none" lIns="0" tIns="0" rIns="0" bIns="0" anchor="ctr">
            <a:spAutoFit/>
          </a:bodyPr>
          <a:lstStyle/>
          <a:p>
            <a:pPr algn="r">
              <a:lnSpc>
                <a:spcPct val="120000"/>
              </a:lnSpc>
              <a:spcAft>
                <a:spcPts val="0"/>
              </a:spcAft>
            </a:pPr>
            <a:r>
              <a:rPr sz="1100" b="0">
                <a:solidFill>
                  <a:srgbClr val="6E6E6E"/>
                </a:solidFill>
                <a:latin typeface="Meiryo"/>
                <a:ea typeface="Meiryo"/>
                <a:cs typeface="Meiryo"/>
              </a:rPr>
              <a:t>縦軸：食べて増える強さ</a:t>
            </a:r>
          </a:p>
        </p:txBody>
      </p:sp>
      <p:sp>
        <p:nvSpPr>
          <p:cNvPr id="20" name="Rectangle 19"/>
          <p:cNvSpPr/>
          <p:nvPr/>
        </p:nvSpPr>
        <p:spPr>
          <a:xfrm>
            <a:off x="566928" y="4709160"/>
            <a:ext cx="11057839"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68096" y="4864608"/>
            <a:ext cx="10655503" cy="1143000"/>
          </a:xfrm>
          <a:prstGeom prst="rect">
            <a:avLst/>
          </a:prstGeom>
          <a:noFill/>
        </p:spPr>
        <p:txBody>
          <a:bodyPr wrap="square" lIns="0" tIns="0" rIns="0" bIns="0" anchor="t">
            <a:spAutoFit/>
          </a:bodyPr>
          <a:lstStyle/>
          <a:p>
            <a:pPr algn="l">
              <a:lnSpc>
                <a:spcPct val="132000"/>
              </a:lnSpc>
              <a:spcAft>
                <a:spcPts val="600"/>
              </a:spcAft>
            </a:pPr>
            <a:r>
              <a:rPr sz="1550" b="0">
                <a:solidFill>
                  <a:srgbClr val="222222"/>
                </a:solidFill>
                <a:latin typeface="Meiryo"/>
                <a:ea typeface="Meiryo"/>
                <a:cs typeface="Meiryo"/>
              </a:rPr>
              <a:t>読み方：大蛇行の時期はサワラの取り分がウルメイワシからマアジへ移り、ブリは食べることへの依存を下げつつ自然に減る速さも下がって増えた、と読める。</a:t>
            </a:r>
          </a:p>
          <a:p>
            <a:pPr algn="l">
              <a:lnSpc>
                <a:spcPct val="132000"/>
              </a:lnSpc>
              <a:spcAft>
                <a:spcPts val="600"/>
              </a:spcAft>
            </a:pPr>
            <a:r>
              <a:rPr sz="1550" b="0">
                <a:solidFill>
                  <a:srgbClr val="222222"/>
                </a:solidFill>
                <a:latin typeface="Meiryo"/>
                <a:ea typeface="Meiryo"/>
                <a:cs typeface="Meiryo"/>
              </a:rPr>
              <a:t>ただし係数は1組しか求めていないので、増えた減ったの確からしさまでは言わない。この後の結論は、これらの値に左右されない。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とっていい量の計算手順</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12</a:t>
            </a:r>
          </a:p>
        </p:txBody>
      </p:sp>
      <p:sp>
        <p:nvSpPr>
          <p:cNvPr id="4" name="Rectangle 3"/>
          <p:cNvSpPr/>
          <p:nvPr/>
        </p:nvSpPr>
        <p:spPr>
          <a:xfrm>
            <a:off x="566928" y="1325880"/>
            <a:ext cx="566928"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66928" y="1444752"/>
            <a:ext cx="566928" cy="365760"/>
          </a:xfrm>
          <a:prstGeom prst="rect">
            <a:avLst/>
          </a:prstGeom>
          <a:noFill/>
        </p:spPr>
        <p:txBody>
          <a:bodyPr wrap="square" lIns="0" tIns="0" rIns="0" bIns="0" anchor="t">
            <a:spAutoFit/>
          </a:bodyPr>
          <a:lstStyle/>
          <a:p>
            <a:pPr algn="ctr">
              <a:lnSpc>
                <a:spcPct val="132000"/>
              </a:lnSpc>
              <a:spcAft>
                <a:spcPts val="600"/>
              </a:spcAft>
            </a:pPr>
            <a:r>
              <a:rPr sz="2000" b="1">
                <a:solidFill>
                  <a:srgbClr val="FFFFFF"/>
                </a:solidFill>
                <a:latin typeface="Meiryo"/>
                <a:ea typeface="Meiryo"/>
                <a:cs typeface="Meiryo"/>
              </a:rPr>
              <a:t>1</a:t>
            </a:r>
          </a:p>
        </p:txBody>
      </p:sp>
      <p:sp>
        <p:nvSpPr>
          <p:cNvPr id="6" name="TextBox 5"/>
          <p:cNvSpPr txBox="1"/>
          <p:nvPr/>
        </p:nvSpPr>
        <p:spPr>
          <a:xfrm>
            <a:off x="1344168" y="1444752"/>
            <a:ext cx="10280599" cy="457200"/>
          </a:xfrm>
          <a:prstGeom prst="rect">
            <a:avLst/>
          </a:prstGeom>
          <a:noFill/>
        </p:spPr>
        <p:txBody>
          <a:bodyPr wrap="square" lIns="0" tIns="0" rIns="0" bIns="0" anchor="t">
            <a:spAutoFit/>
          </a:bodyPr>
          <a:lstStyle/>
          <a:p>
            <a:pPr algn="l">
              <a:lnSpc>
                <a:spcPct val="132000"/>
              </a:lnSpc>
              <a:spcAft>
                <a:spcPts val="600"/>
              </a:spcAft>
            </a:pPr>
            <a:r>
              <a:rPr sz="1800" b="0">
                <a:solidFill>
                  <a:srgbClr val="222222"/>
                </a:solidFill>
                <a:latin typeface="Meiryo"/>
                <a:ea typeface="Meiryo"/>
                <a:cs typeface="Meiryo"/>
              </a:rPr>
              <a:t>推定した式に、魚種ごとの一定の漁獲率 f を入れる</a:t>
            </a:r>
          </a:p>
        </p:txBody>
      </p:sp>
      <p:sp>
        <p:nvSpPr>
          <p:cNvPr id="7" name="Rectangle 6"/>
          <p:cNvSpPr/>
          <p:nvPr/>
        </p:nvSpPr>
        <p:spPr>
          <a:xfrm>
            <a:off x="566928" y="2112264"/>
            <a:ext cx="566928"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66928" y="2231136"/>
            <a:ext cx="566928" cy="365760"/>
          </a:xfrm>
          <a:prstGeom prst="rect">
            <a:avLst/>
          </a:prstGeom>
          <a:noFill/>
        </p:spPr>
        <p:txBody>
          <a:bodyPr wrap="square" lIns="0" tIns="0" rIns="0" bIns="0" anchor="t">
            <a:spAutoFit/>
          </a:bodyPr>
          <a:lstStyle/>
          <a:p>
            <a:pPr algn="ctr">
              <a:lnSpc>
                <a:spcPct val="132000"/>
              </a:lnSpc>
              <a:spcAft>
                <a:spcPts val="600"/>
              </a:spcAft>
            </a:pPr>
            <a:r>
              <a:rPr sz="2000" b="1">
                <a:solidFill>
                  <a:srgbClr val="FFFFFF"/>
                </a:solidFill>
                <a:latin typeface="Meiryo"/>
                <a:ea typeface="Meiryo"/>
                <a:cs typeface="Meiryo"/>
              </a:rPr>
              <a:t>2</a:t>
            </a:r>
          </a:p>
        </p:txBody>
      </p:sp>
      <p:sp>
        <p:nvSpPr>
          <p:cNvPr id="9" name="TextBox 8"/>
          <p:cNvSpPr txBox="1"/>
          <p:nvPr/>
        </p:nvSpPr>
        <p:spPr>
          <a:xfrm>
            <a:off x="1344168" y="2231136"/>
            <a:ext cx="10280599" cy="457200"/>
          </a:xfrm>
          <a:prstGeom prst="rect">
            <a:avLst/>
          </a:prstGeom>
          <a:noFill/>
        </p:spPr>
        <p:txBody>
          <a:bodyPr wrap="square" lIns="0" tIns="0" rIns="0" bIns="0" anchor="t">
            <a:spAutoFit/>
          </a:bodyPr>
          <a:lstStyle/>
          <a:p>
            <a:pPr algn="l">
              <a:lnSpc>
                <a:spcPct val="132000"/>
              </a:lnSpc>
              <a:spcAft>
                <a:spcPts val="600"/>
              </a:spcAft>
            </a:pPr>
            <a:r>
              <a:rPr sz="1800" b="0">
                <a:solidFill>
                  <a:srgbClr val="222222"/>
                </a:solidFill>
                <a:latin typeface="Meiryo"/>
                <a:ea typeface="Meiryo"/>
                <a:cs typeface="Meiryo"/>
              </a:rPr>
              <a:t>T 年ぶん、時間を追って資源量を計算する</a:t>
            </a:r>
          </a:p>
        </p:txBody>
      </p:sp>
      <p:sp>
        <p:nvSpPr>
          <p:cNvPr id="10" name="Rectangle 9"/>
          <p:cNvSpPr/>
          <p:nvPr/>
        </p:nvSpPr>
        <p:spPr>
          <a:xfrm>
            <a:off x="566928" y="2898648"/>
            <a:ext cx="566928"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66928" y="3017520"/>
            <a:ext cx="566928" cy="365760"/>
          </a:xfrm>
          <a:prstGeom prst="rect">
            <a:avLst/>
          </a:prstGeom>
          <a:noFill/>
        </p:spPr>
        <p:txBody>
          <a:bodyPr wrap="square" lIns="0" tIns="0" rIns="0" bIns="0" anchor="t">
            <a:spAutoFit/>
          </a:bodyPr>
          <a:lstStyle/>
          <a:p>
            <a:pPr algn="ctr">
              <a:lnSpc>
                <a:spcPct val="132000"/>
              </a:lnSpc>
              <a:spcAft>
                <a:spcPts val="600"/>
              </a:spcAft>
            </a:pPr>
            <a:r>
              <a:rPr sz="2000" b="1">
                <a:solidFill>
                  <a:srgbClr val="FFFFFF"/>
                </a:solidFill>
                <a:latin typeface="Meiryo"/>
                <a:ea typeface="Meiryo"/>
                <a:cs typeface="Meiryo"/>
              </a:rPr>
              <a:t>3</a:t>
            </a:r>
          </a:p>
        </p:txBody>
      </p:sp>
      <p:sp>
        <p:nvSpPr>
          <p:cNvPr id="12" name="TextBox 11"/>
          <p:cNvSpPr txBox="1"/>
          <p:nvPr/>
        </p:nvSpPr>
        <p:spPr>
          <a:xfrm>
            <a:off x="1344168" y="3017520"/>
            <a:ext cx="10280599" cy="457200"/>
          </a:xfrm>
          <a:prstGeom prst="rect">
            <a:avLst/>
          </a:prstGeom>
          <a:noFill/>
        </p:spPr>
        <p:txBody>
          <a:bodyPr wrap="square" lIns="0" tIns="0" rIns="0" bIns="0" anchor="t">
            <a:spAutoFit/>
          </a:bodyPr>
          <a:lstStyle/>
          <a:p>
            <a:pPr algn="l">
              <a:lnSpc>
                <a:spcPct val="132000"/>
              </a:lnSpc>
              <a:spcAft>
                <a:spcPts val="600"/>
              </a:spcAft>
            </a:pPr>
            <a:r>
              <a:rPr sz="1800" b="0">
                <a:solidFill>
                  <a:srgbClr val="222222"/>
                </a:solidFill>
                <a:latin typeface="Meiryo"/>
                <a:ea typeface="Meiryo"/>
                <a:cs typeface="Meiryo"/>
              </a:rPr>
              <a:t>資源が減りすぎない条件を満たす f のなかで、期間平均の漁獲量を最大にする</a:t>
            </a:r>
          </a:p>
        </p:txBody>
      </p:sp>
      <mc:AlternateContent xmlns:mc="http://schemas.openxmlformats.org/markup-compatibility/2006">
        <mc:Choice xmlns:a14="http://schemas.microsoft.com/office/drawing/2010/main" Requires="a14">
          <p:sp>
            <p:nvSpPr>
              <p:cNvPr id="13" name="TextBox 12"/>
              <p:cNvSpPr txBox="1"/>
              <p:nvPr/>
            </p:nvSpPr>
            <p:spPr>
              <a:xfrm>
                <a:off x="1344168" y="3685032"/>
                <a:ext cx="10280599" cy="6583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r>
                        <a:rPr lang="en-US" sz="1600" b="0" i="1" dirty="0">
                          <a:solidFill>
                            <a:srgbClr val="222222"/>
                          </a:solidFill>
                          <a:latin typeface="Cambria Math" panose="02040503050406030204" pitchFamily="18" charset="0"/>
                        </a:rPr>
                        <m:t>𝑌</m:t>
                      </m:r>
                      <m:r>
                        <a:rPr lang="en-US" sz="1600" b="0" i="0" dirty="0">
                          <a:solidFill>
                            <a:srgbClr val="222222"/>
                          </a:solidFill>
                          <a:latin typeface="Cambria Math" panose="02040503050406030204" pitchFamily="18" charset="0"/>
                        </a:rPr>
                        <m:t> = </m:t>
                      </m:r>
                      <m:f>
                        <m:fPr>
                          <m:ctrlPr>
                            <a:rPr lang="en-US" sz="1600" b="0" i="1" dirty="0">
                              <a:solidFill>
                                <a:srgbClr val="222222"/>
                              </a:solidFill>
                              <a:latin typeface="Cambria Math" panose="02040503050406030204" pitchFamily="18" charset="0"/>
                            </a:rPr>
                          </m:ctrlPr>
                        </m:fPr>
                        <m:num>
                          <m:r>
                            <a:rPr lang="en-US" sz="1600" b="0" i="0" dirty="0">
                              <a:solidFill>
                                <a:srgbClr val="222222"/>
                              </a:solidFill>
                              <a:latin typeface="Cambria Math" panose="02040503050406030204" pitchFamily="18" charset="0"/>
                            </a:rPr>
                            <m:t>1</m:t>
                          </m:r>
                        </m:num>
                        <m:den>
                          <m:r>
                            <a:rPr lang="en-US" sz="1600" b="0" i="1" dirty="0">
                              <a:solidFill>
                                <a:srgbClr val="222222"/>
                              </a:solidFill>
                              <a:latin typeface="Cambria Math" panose="02040503050406030204" pitchFamily="18" charset="0"/>
                            </a:rPr>
                            <m:t>𝑇</m:t>
                          </m:r>
                        </m:den>
                      </m:f>
                      <m:nary>
                        <m:naryPr>
                          <m:limLoc m:val="subSup"/>
                          <m:ctrlPr>
                            <a:rPr lang="en-US" sz="1600" b="0" i="1" dirty="0">
                              <a:solidFill>
                                <a:srgbClr val="222222"/>
                              </a:solidFill>
                              <a:latin typeface="Cambria Math" panose="02040503050406030204" pitchFamily="18" charset="0"/>
                            </a:rPr>
                          </m:ctrlPr>
                        </m:naryPr>
                        <m:sub>
                          <m:r>
                            <a:rPr lang="en-US" sz="1600" b="0" i="0" dirty="0">
                              <a:solidFill>
                                <a:srgbClr val="222222"/>
                              </a:solidFill>
                              <a:latin typeface="Cambria Math" panose="02040503050406030204" pitchFamily="18" charset="0"/>
                            </a:rPr>
                            <m:t>0</m:t>
                          </m:r>
                        </m:sub>
                        <m:sup>
                          <m:r>
                            <a:rPr lang="en-US" sz="1600" b="0" i="1" dirty="0">
                              <a:solidFill>
                                <a:srgbClr val="222222"/>
                              </a:solidFill>
                              <a:latin typeface="Cambria Math" panose="02040503050406030204" pitchFamily="18" charset="0"/>
                            </a:rPr>
                            <m:t>𝑇</m:t>
                          </m:r>
                        </m:sup>
                        <m:e>
                          <m:nary>
                            <m:naryPr>
                              <m:chr m:val="∑"/>
                              <m:limLoc m:val="subSup"/>
                              <m:ctrlPr>
                                <a:rPr lang="en-US" sz="1600" b="0" i="1" dirty="0">
                                  <a:solidFill>
                                    <a:srgbClr val="222222"/>
                                  </a:solidFill>
                                  <a:latin typeface="Cambria Math" panose="02040503050406030204" pitchFamily="18" charset="0"/>
                                </a:rPr>
                              </m:ctrlPr>
                            </m:naryPr>
                            <m:sub>
                              <m:r>
                                <a:rPr lang="en-US" sz="1600" b="0" i="1" dirty="0">
                                  <a:solidFill>
                                    <a:srgbClr val="222222"/>
                                  </a:solidFill>
                                  <a:latin typeface="Cambria Math" panose="02040503050406030204" pitchFamily="18" charset="0"/>
                                </a:rPr>
                                <m:t>𝑖</m:t>
                              </m:r>
                            </m:sub>
                            <m:sup/>
                            <m:e>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𝑓</m:t>
                                  </m:r>
                                </m:e>
                                <m:sub>
                                  <m:r>
                                    <a:rPr lang="en-US" sz="1600" b="0" i="1" dirty="0">
                                      <a:solidFill>
                                        <a:srgbClr val="222222"/>
                                      </a:solidFill>
                                      <a:latin typeface="Cambria Math" panose="02040503050406030204" pitchFamily="18" charset="0"/>
                                    </a:rPr>
                                    <m:t>𝑖</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𝐵</m:t>
                                  </m:r>
                                </m:e>
                                <m:sub>
                                  <m:r>
                                    <a:rPr lang="en-US" sz="1600" b="0" i="1" dirty="0">
                                      <a:solidFill>
                                        <a:srgbClr val="222222"/>
                                      </a:solidFill>
                                      <a:latin typeface="Cambria Math" panose="02040503050406030204" pitchFamily="18" charset="0"/>
                                    </a:rPr>
                                    <m:t>𝑖</m:t>
                                  </m:r>
                                </m:sub>
                              </m:sSub>
                            </m:e>
                          </m:nary>
                          <m:r>
                            <a:rPr lang="en-US" sz="1600" b="0" i="0" dirty="0">
                              <a:solidFill>
                                <a:srgbClr val="222222"/>
                              </a:solidFill>
                              <a:latin typeface="Cambria Math" panose="02040503050406030204" pitchFamily="18" charset="0"/>
                            </a:rPr>
                            <m:t> </m:t>
                          </m:r>
                          <m:r>
                            <a:rPr lang="en-US" sz="1600" b="0" i="0" dirty="0">
                              <a:solidFill>
                                <a:srgbClr val="222222"/>
                              </a:solidFill>
                              <a:latin typeface="Cambria Math" panose="02040503050406030204" pitchFamily="18" charset="0"/>
                            </a:rPr>
                            <m:t>𝑑</m:t>
                          </m:r>
                          <m:r>
                            <a:rPr lang="en-US" sz="1600" b="0" i="1" dirty="0">
                              <a:solidFill>
                                <a:srgbClr val="222222"/>
                              </a:solidFill>
                              <a:latin typeface="Cambria Math" panose="02040503050406030204" pitchFamily="18" charset="0"/>
                            </a:rPr>
                            <m:t>𝑡</m:t>
                          </m:r>
                        </m:e>
                      </m:nary>
                    </m:oMath>
                  </m:oMathPara>
                </a14:m>
                <a:endParaRPr lang="en-US" sz="1600" dirty="0"/>
              </a:p>
            </p:txBody>
          </p:sp>
        </mc:Choice>
        <mc:Fallback>
          <p:sp>
            <p:nvSpPr>
              <p:cNvPr id="13" name="TextBox 12"/>
              <p:cNvSpPr txBox="1">
                <a:spLocks noRot="1" noChangeAspect="1" noMove="1" noResize="1" noEditPoints="1" noAdjustHandles="1" noChangeArrowheads="1" noChangeShapeType="1" noTextEdit="1"/>
              </p:cNvSpPr>
              <p:nvPr/>
            </p:nvSpPr>
            <p:spPr>
              <a:xfrm>
                <a:off x="1344168" y="3685032"/>
                <a:ext cx="10280599" cy="658368"/>
              </a:xfrm>
              <a:prstGeom prst="rect">
                <a:avLst/>
              </a:prstGeom>
              <a:blipFill>
                <a:blip r:embed="rId2"/>
                <a:stretch>
                  <a:fillRect l="-2469" t="-150943" b="-201887"/>
                </a:stretch>
              </a:blipFill>
            </p:spPr>
            <p:txBody>
              <a:bodyPr/>
              <a:lstStyle/>
              <a:p>
                <a:r>
                  <a:rPr lang="ja-JP" altLang="en-US">
                    <a:noFill/>
                  </a:rPr>
                  <a:t> </a:t>
                </a:r>
              </a:p>
            </p:txBody>
          </p:sp>
        </mc:Fallback>
      </mc:AlternateContent>
      <p:sp>
        <p:nvSpPr>
          <p:cNvPr id="14" name="TextBox 13"/>
          <p:cNvSpPr txBox="1"/>
          <p:nvPr/>
        </p:nvSpPr>
        <p:spPr>
          <a:xfrm>
            <a:off x="1344168" y="4425696"/>
            <a:ext cx="10280599" cy="384048"/>
          </a:xfrm>
          <a:prstGeom prst="rect">
            <a:avLst/>
          </a:prstGeom>
          <a:noFill/>
        </p:spPr>
        <p:txBody>
          <a:bodyPr wrap="square" lIns="0" tIns="0" rIns="0" bIns="0" anchor="t">
            <a:spAutoFit/>
          </a:bodyPr>
          <a:lstStyle/>
          <a:p>
            <a:pPr algn="l">
              <a:lnSpc>
                <a:spcPct val="132000"/>
              </a:lnSpc>
              <a:spcAft>
                <a:spcPts val="600"/>
              </a:spcAft>
            </a:pPr>
            <a:r>
              <a:rPr sz="1550" b="0">
                <a:solidFill>
                  <a:srgbClr val="222222"/>
                </a:solidFill>
                <a:latin typeface="Meiryo"/>
                <a:ea typeface="Meiryo"/>
                <a:cs typeface="Meiryo"/>
              </a:rPr>
              <a:t>f は 0 〜 0.95 を格子状に総当たり。減りすぎない条件は「最終年の資源量が初年の9割以上」を既定とする。</a:t>
            </a:r>
          </a:p>
        </p:txBody>
      </p:sp>
      <p:sp>
        <p:nvSpPr>
          <p:cNvPr id="15" name="Rectangle 14"/>
          <p:cNvSpPr/>
          <p:nvPr/>
        </p:nvSpPr>
        <p:spPr>
          <a:xfrm>
            <a:off x="566928" y="4892040"/>
            <a:ext cx="11057839" cy="1325880"/>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68096" y="5047488"/>
            <a:ext cx="10655503" cy="1051560"/>
          </a:xfrm>
          <a:prstGeom prst="rect">
            <a:avLst/>
          </a:prstGeom>
          <a:noFill/>
        </p:spPr>
        <p:txBody>
          <a:bodyPr wrap="square" lIns="0" tIns="0" rIns="0" bIns="0" anchor="t">
            <a:spAutoFit/>
          </a:bodyPr>
          <a:lstStyle/>
          <a:p>
            <a:pPr algn="l">
              <a:lnSpc>
                <a:spcPct val="132000"/>
              </a:lnSpc>
              <a:spcAft>
                <a:spcPts val="600"/>
              </a:spcAft>
            </a:pPr>
            <a:r>
              <a:rPr sz="1600" b="1">
                <a:solidFill>
                  <a:srgbClr val="C0561A"/>
                </a:solidFill>
                <a:latin typeface="Meiryo"/>
                <a:ea typeface="Meiryo"/>
                <a:cs typeface="Meiryo"/>
              </a:rPr>
              <a:t>注意：トンで足し合わせることの問題</a:t>
            </a:r>
          </a:p>
          <a:p>
            <a:pPr algn="l">
              <a:lnSpc>
                <a:spcPct val="132000"/>
              </a:lnSpc>
              <a:spcAft>
                <a:spcPts val="600"/>
              </a:spcAft>
            </a:pPr>
            <a:r>
              <a:rPr sz="1500" b="0">
                <a:solidFill>
                  <a:srgbClr val="222222"/>
                </a:solidFill>
                <a:latin typeface="Meiryo"/>
                <a:ea typeface="Meiryo"/>
                <a:cs typeface="Meiryo"/>
              </a:rPr>
              <a:t>1994〜2024年の平均資源量は ブリ 257・ウルメイワシ 197・マアジ 85 千トンに対し、サワラは 4.4 千トン。そのままトンで足すと、規模の大きい魚が答えを決めてしまう。魚種ごとに割ってから足す形でのやり直しを今後の課題とする。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結果1：最適とされた漁獲率が、探索範囲の端に張り付く</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13</a:t>
            </a:r>
          </a:p>
        </p:txBody>
      </p:sp>
      <p:pic>
        <p:nvPicPr>
          <p:cNvPr id="4" name="Picture 3" descr="09_上限に張り付く.png"/>
          <p:cNvPicPr>
            <a:picLocks noChangeAspect="1"/>
          </p:cNvPicPr>
          <p:nvPr/>
        </p:nvPicPr>
        <p:blipFill>
          <a:blip r:embed="rId2"/>
          <a:stretch>
            <a:fillRect/>
          </a:stretch>
        </p:blipFill>
        <p:spPr>
          <a:xfrm>
            <a:off x="566928" y="1280160"/>
            <a:ext cx="11055096" cy="3246120"/>
          </a:xfrm>
          <a:prstGeom prst="rect">
            <a:avLst/>
          </a:prstGeom>
        </p:spPr>
      </p:pic>
      <p:sp>
        <p:nvSpPr>
          <p:cNvPr id="5" name="figlabel"/>
          <p:cNvSpPr txBox="1"/>
          <p:nvPr/>
        </p:nvSpPr>
        <p:spPr>
          <a:xfrm>
            <a:off x="1604154" y="1405798"/>
            <a:ext cx="398907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制約なし：上限を上げるほど、答えも上がり続ける</a:t>
            </a:r>
          </a:p>
        </p:txBody>
      </p:sp>
      <p:sp>
        <p:nvSpPr>
          <p:cNvPr id="6" name="figlabel"/>
          <p:cNvSpPr txBox="1"/>
          <p:nvPr/>
        </p:nvSpPr>
        <p:spPr>
          <a:xfrm>
            <a:off x="2661429" y="4234129"/>
            <a:ext cx="1874519"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探索で許した漁獲率の上限</a:t>
            </a:r>
          </a:p>
        </p:txBody>
      </p:sp>
      <p:sp>
        <p:nvSpPr>
          <p:cNvPr id="7" name="figlabel"/>
          <p:cNvSpPr txBox="1"/>
          <p:nvPr/>
        </p:nvSpPr>
        <p:spPr>
          <a:xfrm>
            <a:off x="611148" y="4328947"/>
            <a:ext cx="1722120" cy="199898"/>
          </a:xfrm>
          <a:prstGeom prst="rect">
            <a:avLst/>
          </a:prstGeom>
          <a:noFill/>
        </p:spPr>
        <p:txBody>
          <a:bodyPr wrap="none" lIns="0" tIns="0" rIns="0" bIns="0" anchor="ctr">
            <a:spAutoFit/>
          </a:bodyPr>
          <a:lstStyle/>
          <a:p>
            <a:pPr algn="l">
              <a:lnSpc>
                <a:spcPct val="120000"/>
              </a:lnSpc>
              <a:spcAft>
                <a:spcPts val="0"/>
              </a:spcAft>
            </a:pPr>
            <a:r>
              <a:rPr sz="1100" b="0">
                <a:solidFill>
                  <a:srgbClr val="6E6E6E"/>
                </a:solidFill>
                <a:latin typeface="Meiryo"/>
                <a:ea typeface="Meiryo"/>
                <a:cs typeface="Meiryo"/>
              </a:rPr>
              <a:t>縦軸：とれる量（千トン）</a:t>
            </a:r>
          </a:p>
        </p:txBody>
      </p:sp>
      <p:sp>
        <p:nvSpPr>
          <p:cNvPr id="8" name="figlabel"/>
          <p:cNvSpPr txBox="1"/>
          <p:nvPr/>
        </p:nvSpPr>
        <p:spPr>
          <a:xfrm>
            <a:off x="2085893" y="1775224"/>
            <a:ext cx="744220"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大蛇行なし</a:t>
            </a:r>
          </a:p>
        </p:txBody>
      </p:sp>
      <p:sp>
        <p:nvSpPr>
          <p:cNvPr id="9" name="figlabel"/>
          <p:cNvSpPr txBox="1"/>
          <p:nvPr/>
        </p:nvSpPr>
        <p:spPr>
          <a:xfrm>
            <a:off x="2085893" y="2003686"/>
            <a:ext cx="464820"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大蛇行</a:t>
            </a:r>
          </a:p>
        </p:txBody>
      </p:sp>
      <p:sp>
        <p:nvSpPr>
          <p:cNvPr id="10" name="figlabel"/>
          <p:cNvSpPr txBox="1"/>
          <p:nvPr/>
        </p:nvSpPr>
        <p:spPr>
          <a:xfrm>
            <a:off x="7460932" y="1405798"/>
            <a:ext cx="347472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制約つきの最適でも、端に張り付く種が残る</a:t>
            </a:r>
          </a:p>
        </p:txBody>
      </p:sp>
      <p:sp>
        <p:nvSpPr>
          <p:cNvPr id="11" name="figlabel"/>
          <p:cNvSpPr txBox="1"/>
          <p:nvPr/>
        </p:nvSpPr>
        <p:spPr>
          <a:xfrm>
            <a:off x="7391969" y="1748346"/>
            <a:ext cx="744220"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大蛇行なし</a:t>
            </a:r>
          </a:p>
        </p:txBody>
      </p:sp>
      <p:sp>
        <p:nvSpPr>
          <p:cNvPr id="12" name="figlabel"/>
          <p:cNvSpPr txBox="1"/>
          <p:nvPr/>
        </p:nvSpPr>
        <p:spPr>
          <a:xfrm>
            <a:off x="7391969" y="1954410"/>
            <a:ext cx="464820"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大蛇行</a:t>
            </a:r>
          </a:p>
        </p:txBody>
      </p:sp>
      <p:sp>
        <p:nvSpPr>
          <p:cNvPr id="13" name="figlabel"/>
          <p:cNvSpPr txBox="1"/>
          <p:nvPr/>
        </p:nvSpPr>
        <p:spPr>
          <a:xfrm>
            <a:off x="7906771" y="2160474"/>
            <a:ext cx="688340" cy="199898"/>
          </a:xfrm>
          <a:prstGeom prst="rect">
            <a:avLst/>
          </a:prstGeom>
          <a:noFill/>
        </p:spPr>
        <p:txBody>
          <a:bodyPr wrap="none" lIns="0" tIns="0" rIns="0" bIns="0" anchor="ctr">
            <a:spAutoFit/>
          </a:bodyPr>
          <a:lstStyle/>
          <a:p>
            <a:pPr algn="l">
              <a:lnSpc>
                <a:spcPct val="120000"/>
              </a:lnSpc>
              <a:spcAft>
                <a:spcPts val="0"/>
              </a:spcAft>
            </a:pPr>
            <a:r>
              <a:rPr sz="1100" b="0">
                <a:solidFill>
                  <a:srgbClr val="6E6E6E"/>
                </a:solidFill>
                <a:latin typeface="Meiryo"/>
                <a:ea typeface="Meiryo"/>
                <a:cs typeface="Meiryo"/>
              </a:rPr>
              <a:t>上限 0.95</a:t>
            </a:r>
          </a:p>
        </p:txBody>
      </p:sp>
      <p:sp>
        <p:nvSpPr>
          <p:cNvPr id="14" name="figlabel"/>
          <p:cNvSpPr txBox="1"/>
          <p:nvPr/>
        </p:nvSpPr>
        <p:spPr>
          <a:xfrm>
            <a:off x="7334043" y="4081399"/>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マアジ</a:t>
            </a:r>
          </a:p>
        </p:txBody>
      </p:sp>
      <p:sp>
        <p:nvSpPr>
          <p:cNvPr id="15" name="figlabel"/>
          <p:cNvSpPr txBox="1"/>
          <p:nvPr/>
        </p:nvSpPr>
        <p:spPr>
          <a:xfrm>
            <a:off x="8180636" y="4081399"/>
            <a:ext cx="960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ウルメイワシ</a:t>
            </a:r>
          </a:p>
        </p:txBody>
      </p:sp>
      <p:sp>
        <p:nvSpPr>
          <p:cNvPr id="16" name="figlabel"/>
          <p:cNvSpPr txBox="1"/>
          <p:nvPr/>
        </p:nvSpPr>
        <p:spPr>
          <a:xfrm>
            <a:off x="9560629" y="4081399"/>
            <a:ext cx="3505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ブリ</a:t>
            </a:r>
          </a:p>
        </p:txBody>
      </p:sp>
      <p:sp>
        <p:nvSpPr>
          <p:cNvPr id="17" name="figlabel"/>
          <p:cNvSpPr txBox="1"/>
          <p:nvPr/>
        </p:nvSpPr>
        <p:spPr>
          <a:xfrm>
            <a:off x="10559621" y="4081399"/>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サワラ</a:t>
            </a:r>
          </a:p>
        </p:txBody>
      </p:sp>
      <p:sp>
        <p:nvSpPr>
          <p:cNvPr id="18" name="figlabel"/>
          <p:cNvSpPr txBox="1"/>
          <p:nvPr/>
        </p:nvSpPr>
        <p:spPr>
          <a:xfrm>
            <a:off x="9017483" y="4328947"/>
            <a:ext cx="2560320" cy="199898"/>
          </a:xfrm>
          <a:prstGeom prst="rect">
            <a:avLst/>
          </a:prstGeom>
          <a:noFill/>
        </p:spPr>
        <p:txBody>
          <a:bodyPr wrap="none" lIns="0" tIns="0" rIns="0" bIns="0" anchor="ctr">
            <a:spAutoFit/>
          </a:bodyPr>
          <a:lstStyle/>
          <a:p>
            <a:pPr algn="r">
              <a:lnSpc>
                <a:spcPct val="120000"/>
              </a:lnSpc>
              <a:spcAft>
                <a:spcPts val="0"/>
              </a:spcAft>
            </a:pPr>
            <a:r>
              <a:rPr sz="1100" b="0">
                <a:solidFill>
                  <a:srgbClr val="6E6E6E"/>
                </a:solidFill>
                <a:latin typeface="Meiryo"/>
                <a:ea typeface="Meiryo"/>
                <a:cs typeface="Meiryo"/>
              </a:rPr>
              <a:t>縦軸：最適とされた漁獲率（制約つき）</a:t>
            </a:r>
          </a:p>
        </p:txBody>
      </p:sp>
      <p:sp>
        <p:nvSpPr>
          <p:cNvPr id="19" name="TextBox 18"/>
          <p:cNvSpPr txBox="1"/>
          <p:nvPr/>
        </p:nvSpPr>
        <p:spPr>
          <a:xfrm>
            <a:off x="566928" y="4590288"/>
            <a:ext cx="9869119" cy="274320"/>
          </a:xfrm>
          <a:prstGeom prst="rect">
            <a:avLst/>
          </a:prstGeom>
          <a:noFill/>
        </p:spPr>
        <p:txBody>
          <a:bodyPr wrap="square" lIns="0" tIns="0" rIns="0" bIns="0" anchor="t">
            <a:spAutoFit/>
          </a:bodyPr>
          <a:lstStyle/>
          <a:p>
            <a:pPr algn="l">
              <a:lnSpc>
                <a:spcPct val="132000"/>
              </a:lnSpc>
              <a:spcAft>
                <a:spcPts val="600"/>
              </a:spcAft>
            </a:pPr>
            <a:r>
              <a:rPr sz="1150" b="0">
                <a:solidFill>
                  <a:srgbClr val="6E6E6E"/>
                </a:solidFill>
                <a:latin typeface="Meiryo"/>
                <a:ea typeface="Meiryo"/>
                <a:cs typeface="Meiryo"/>
              </a:rPr>
              <a:t>左＝制約なしの上限感度、右＝制約つきグリッド探索の f*。どちらも漁獲率の刻みは0.05に固定（制約MSY 527.7／254.9 千トン/年）。</a:t>
            </a:r>
          </a:p>
        </p:txBody>
      </p:sp>
      <p:sp>
        <p:nvSpPr>
          <p:cNvPr id="20" name="Rectangle 19"/>
          <p:cNvSpPr/>
          <p:nvPr/>
        </p:nvSpPr>
        <p:spPr>
          <a:xfrm>
            <a:off x="566928" y="4956048"/>
            <a:ext cx="11057839" cy="1234440"/>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68096" y="5084064"/>
            <a:ext cx="10655503" cy="1005840"/>
          </a:xfrm>
          <a:prstGeom prst="rect">
            <a:avLst/>
          </a:prstGeom>
          <a:noFill/>
        </p:spPr>
        <p:txBody>
          <a:bodyPr wrap="square" lIns="0" tIns="0" rIns="0" bIns="0" anchor="t">
            <a:spAutoFit/>
          </a:bodyPr>
          <a:lstStyle/>
          <a:p>
            <a:pPr algn="l">
              <a:lnSpc>
                <a:spcPct val="132000"/>
              </a:lnSpc>
              <a:spcAft>
                <a:spcPts val="500"/>
              </a:spcAft>
            </a:pPr>
            <a:r>
              <a:rPr sz="1600" b="0">
                <a:solidFill>
                  <a:srgbClr val="222222"/>
                </a:solidFill>
                <a:latin typeface="Meiryo"/>
                <a:ea typeface="Meiryo"/>
                <a:cs typeface="Meiryo"/>
              </a:rPr>
              <a:t>制約なしでは、探索の上限を 0.25 → 1.25 と上げると答えも 207 → 1094 千トンと上がり続ける。</a:t>
            </a:r>
          </a:p>
          <a:p>
            <a:pPr algn="l">
              <a:lnSpc>
                <a:spcPct val="132000"/>
              </a:lnSpc>
              <a:spcAft>
                <a:spcPts val="500"/>
              </a:spcAft>
            </a:pPr>
            <a:r>
              <a:rPr sz="1600" b="0">
                <a:solidFill>
                  <a:srgbClr val="222222"/>
                </a:solidFill>
                <a:latin typeface="Meiryo"/>
                <a:ea typeface="Meiryo"/>
                <a:cs typeface="Meiryo"/>
              </a:rPr>
              <a:t>資源が減りすぎない条件をつけても、サワラは両時期とも上限 0.95 に張り付いたまま。</a:t>
            </a:r>
          </a:p>
          <a:p>
            <a:pPr algn="l">
              <a:lnSpc>
                <a:spcPct val="132000"/>
              </a:lnSpc>
              <a:spcAft>
                <a:spcPts val="500"/>
              </a:spcAft>
            </a:pPr>
            <a:r>
              <a:rPr sz="1600" b="0">
                <a:solidFill>
                  <a:srgbClr val="222222"/>
                </a:solidFill>
                <a:latin typeface="Meiryo"/>
                <a:ea typeface="Meiryo"/>
                <a:cs typeface="Meiryo"/>
              </a:rPr>
              <a:t>つまり最大は範囲の内側になく、これは探索の失敗ではなく、いつも起きる現象だった。</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結果2：端に行く理由 ― とれる量が漁獲率の一次式になる</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14</a:t>
            </a:r>
          </a:p>
        </p:txBody>
      </p:sp>
      <p:sp>
        <p:nvSpPr>
          <p:cNvPr id="4" name="TextBox 3"/>
          <p:cNvSpPr txBox="1"/>
          <p:nvPr/>
        </p:nvSpPr>
        <p:spPr>
          <a:xfrm>
            <a:off x="566928" y="1133856"/>
            <a:ext cx="580644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① 両辺を自分の資源量で割る（1匹あたりの増え方）</a:t>
            </a:r>
          </a:p>
        </p:txBody>
      </p:sp>
      <mc:AlternateContent xmlns:mc="http://schemas.openxmlformats.org/markup-compatibility/2006">
        <mc:Choice xmlns:a14="http://schemas.microsoft.com/office/drawing/2010/main" Requires="a14">
          <p:sp>
            <p:nvSpPr>
              <p:cNvPr id="5" name="TextBox 4"/>
              <p:cNvSpPr txBox="1"/>
              <p:nvPr/>
            </p:nvSpPr>
            <p:spPr>
              <a:xfrm>
                <a:off x="704088" y="1481328"/>
                <a:ext cx="5669280" cy="11155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1</m:t>
                          </m:r>
                        </m:num>
                        <m:den>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den>
                      </m:f>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𝑑</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num>
                        <m:den>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den>
                      </m:f>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𝑎</m:t>
                          </m:r>
                        </m:e>
                        <m:sub>
                          <m:r>
                            <a:rPr lang="en-US" sz="1500" b="0" i="0" dirty="0">
                              <a:solidFill>
                                <a:srgbClr val="222222"/>
                              </a:solidFill>
                              <a:latin typeface="Cambria Math" panose="02040503050406030204" pitchFamily="18" charset="0"/>
                            </a:rPr>
                            <m:t>1</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1</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12</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2</m:t>
                          </m:r>
                        </m:sub>
                      </m:sSub>
                    </m:oMath>
                  </m:oMathPara>
                </a14:m>
                <a:endParaRPr lang="en-US" sz="1500" dirty="0"/>
              </a:p>
              <a:p>
                <a:pPr marL="0" indent="0">
                  <a:spcAft>
                    <a:spcPts val="700"/>
                  </a:spcAft>
                </a:pPr>
                <a14:m>
                  <m:oMathPara xmlns:m="http://schemas.openxmlformats.org/officeDocument/2006/math">
                    <m:oMathParaPr>
                      <m:jc m:val="left"/>
                    </m:oMathParaPr>
                    <m:oMath xmlns:m="http://schemas.openxmlformats.org/officeDocument/2006/math">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1</m:t>
                          </m:r>
                        </m:num>
                        <m:den>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1</m:t>
                              </m:r>
                            </m:sub>
                          </m:sSub>
                        </m:den>
                      </m:f>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𝑑</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1</m:t>
                              </m:r>
                            </m:sub>
                          </m:sSub>
                        </m:num>
                        <m:den>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den>
                      </m:f>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𝑏</m:t>
                          </m:r>
                        </m:e>
                        <m:sub>
                          <m:r>
                            <a:rPr lang="en-US" sz="1500" b="0" i="0" dirty="0">
                              <a:solidFill>
                                <a:srgbClr val="222222"/>
                              </a:solidFill>
                              <a:latin typeface="Cambria Math" panose="02040503050406030204" pitchFamily="18" charset="0"/>
                            </a:rPr>
                            <m:t>1</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𝑐</m:t>
                          </m:r>
                        </m:e>
                        <m:sub>
                          <m:r>
                            <a:rPr lang="en-US" sz="1500" b="0" i="0" dirty="0">
                              <a:solidFill>
                                <a:srgbClr val="222222"/>
                              </a:solidFill>
                              <a:latin typeface="Cambria Math" panose="02040503050406030204" pitchFamily="18" charset="0"/>
                            </a:rPr>
                            <m:t>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𝑑</m:t>
                          </m:r>
                        </m:e>
                        <m:sub>
                          <m:r>
                            <a:rPr lang="en-US" sz="1500" b="0" i="0" dirty="0">
                              <a:solidFill>
                                <a:srgbClr val="222222"/>
                              </a:solidFill>
                              <a:latin typeface="Cambria Math" panose="02040503050406030204" pitchFamily="18" charset="0"/>
                            </a:rPr>
                            <m:t>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2</m:t>
                          </m:r>
                        </m:sub>
                      </m:sSub>
                    </m:oMath>
                  </m:oMathPara>
                </a14:m>
                <a:endParaRPr lang="en-US" sz="1500" dirty="0"/>
              </a:p>
            </p:txBody>
          </p:sp>
        </mc:Choice>
        <mc:Fallback>
          <p:sp>
            <p:nvSpPr>
              <p:cNvPr id="5" name="TextBox 4"/>
              <p:cNvSpPr txBox="1">
                <a:spLocks noRot="1" noChangeAspect="1" noMove="1" noResize="1" noEditPoints="1" noAdjustHandles="1" noChangeArrowheads="1" noChangeShapeType="1" noTextEdit="1"/>
              </p:cNvSpPr>
              <p:nvPr/>
            </p:nvSpPr>
            <p:spPr>
              <a:xfrm>
                <a:off x="704088" y="1481328"/>
                <a:ext cx="5669280" cy="1115568"/>
              </a:xfrm>
              <a:prstGeom prst="rect">
                <a:avLst/>
              </a:prstGeom>
              <a:blipFill>
                <a:blip r:embed="rId2"/>
                <a:stretch>
                  <a:fillRect l="-1116"/>
                </a:stretch>
              </a:blipFill>
            </p:spPr>
            <p:txBody>
              <a:bodyPr/>
              <a:lstStyle/>
              <a:p>
                <a:r>
                  <a:rPr lang="ja-JP" altLang="en-US">
                    <a:noFill/>
                  </a:rPr>
                  <a:t> </a:t>
                </a:r>
              </a:p>
            </p:txBody>
          </p:sp>
        </mc:Fallback>
      </mc:AlternateContent>
      <p:sp>
        <p:nvSpPr>
          <p:cNvPr id="6" name="TextBox 5"/>
          <p:cNvSpPr txBox="1"/>
          <p:nvPr/>
        </p:nvSpPr>
        <p:spPr>
          <a:xfrm>
            <a:off x="704088" y="2615184"/>
            <a:ext cx="5669280" cy="804672"/>
          </a:xfrm>
          <a:prstGeom prst="rect">
            <a:avLst/>
          </a:prstGeom>
          <a:noFill/>
        </p:spPr>
        <p:txBody>
          <a:bodyPr wrap="square" lIns="0" tIns="0" rIns="0" bIns="0" anchor="t">
            <a:spAutoFit/>
          </a:bodyPr>
          <a:lstStyle/>
          <a:p>
            <a:pPr algn="l">
              <a:lnSpc>
                <a:spcPct val="132000"/>
              </a:lnSpc>
              <a:spcAft>
                <a:spcPts val="300"/>
              </a:spcAft>
            </a:pPr>
            <a:r>
              <a:rPr sz="1400" b="1">
                <a:solidFill>
                  <a:srgbClr val="C0561A"/>
                </a:solidFill>
                <a:latin typeface="Meiryo"/>
                <a:ea typeface="Meiryo"/>
                <a:cs typeface="Meiryo"/>
              </a:rPr>
              <a:t>右辺に自分（x1）が出てこない。混み合いの項がないから。</a:t>
            </a:r>
          </a:p>
          <a:p>
            <a:pPr algn="l">
              <a:lnSpc>
                <a:spcPct val="132000"/>
              </a:lnSpc>
              <a:spcAft>
                <a:spcPts val="300"/>
              </a:spcAft>
            </a:pPr>
            <a:r>
              <a:rPr sz="1400" b="0">
                <a:solidFill>
                  <a:srgbClr val="222222"/>
                </a:solidFill>
                <a:latin typeface="Meiryo"/>
                <a:ea typeface="Meiryo"/>
                <a:cs typeface="Meiryo"/>
              </a:rPr>
              <a:t>a1 = r_x1 − f_x1（餌の漁獲率）、b1 = r_y1 + f_y1（食べる魚の漁獲率）</a:t>
            </a:r>
          </a:p>
        </p:txBody>
      </p:sp>
      <p:sp>
        <p:nvSpPr>
          <p:cNvPr id="7" name="TextBox 6"/>
          <p:cNvSpPr txBox="1"/>
          <p:nvPr/>
        </p:nvSpPr>
        <p:spPr>
          <a:xfrm>
            <a:off x="566928" y="3474720"/>
            <a:ext cx="580644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② 釣り合い（左辺＝0）を解く</a:t>
            </a:r>
          </a:p>
        </p:txBody>
      </p:sp>
      <mc:AlternateContent xmlns:mc="http://schemas.openxmlformats.org/markup-compatibility/2006">
        <mc:Choice xmlns:a14="http://schemas.microsoft.com/office/drawing/2010/main" Requires="a14">
          <p:sp>
            <p:nvSpPr>
              <p:cNvPr id="8" name="TextBox 7"/>
              <p:cNvSpPr txBox="1"/>
              <p:nvPr/>
            </p:nvSpPr>
            <p:spPr>
              <a:xfrm>
                <a:off x="704088" y="3785615"/>
                <a:ext cx="5669280" cy="11155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1</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𝑎</m:t>
                              </m:r>
                            </m:e>
                            <m:sub>
                              <m:r>
                                <a:rPr lang="en-US" sz="1500" b="0" i="0" dirty="0">
                                  <a:solidFill>
                                    <a:srgbClr val="222222"/>
                                  </a:solidFill>
                                  <a:latin typeface="Cambria Math" panose="02040503050406030204" pitchFamily="18" charset="0"/>
                                </a:rPr>
                                <m:t>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22</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𝑎</m:t>
                              </m:r>
                            </m:e>
                            <m:sub>
                              <m:r>
                                <a:rPr lang="en-US" sz="1500" b="0" i="0" dirty="0">
                                  <a:solidFill>
                                    <a:srgbClr val="222222"/>
                                  </a:solidFill>
                                  <a:latin typeface="Cambria Math" panose="02040503050406030204" pitchFamily="18" charset="0"/>
                                </a:rPr>
                                <m:t>2</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12</m:t>
                              </m:r>
                            </m:sub>
                          </m:sSub>
                        </m:num>
                        <m:den>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𝛥</m:t>
                              </m:r>
                            </m:e>
                            <m:sub>
                              <m:r>
                                <a:rPr lang="en-US" sz="1500" b="0" i="1" dirty="0">
                                  <a:solidFill>
                                    <a:srgbClr val="222222"/>
                                  </a:solidFill>
                                  <a:latin typeface="Cambria Math" panose="02040503050406030204" pitchFamily="18" charset="0"/>
                                </a:rPr>
                                <m:t>𝜆</m:t>
                              </m:r>
                            </m:sub>
                          </m:sSub>
                        </m:den>
                      </m:f>
                    </m:oMath>
                  </m:oMathPara>
                </a14:m>
                <a:endParaRPr lang="en-US" sz="1500" dirty="0"/>
              </a:p>
              <a:p>
                <a:pPr marL="0" indent="0">
                  <a:spcAft>
                    <a:spcPts val="700"/>
                  </a:spcAft>
                </a:pPr>
                <a14:m>
                  <m:oMathPara xmlns:m="http://schemas.openxmlformats.org/officeDocument/2006/math">
                    <m:oMathParaPr>
                      <m:jc m:val="left"/>
                    </m:oMathParaPr>
                    <m:oMath xmlns:m="http://schemas.openxmlformats.org/officeDocument/2006/math">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𝑏</m:t>
                              </m:r>
                            </m:e>
                            <m:sub>
                              <m:r>
                                <a:rPr lang="en-US" sz="1500" b="0" i="0" dirty="0">
                                  <a:solidFill>
                                    <a:srgbClr val="222222"/>
                                  </a:solidFill>
                                  <a:latin typeface="Cambria Math" panose="02040503050406030204" pitchFamily="18" charset="0"/>
                                </a:rPr>
                                <m:t>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𝑑</m:t>
                              </m:r>
                            </m:e>
                            <m:sub>
                              <m:r>
                                <a:rPr lang="en-US" sz="1500" b="0" i="0" dirty="0">
                                  <a:solidFill>
                                    <a:srgbClr val="222222"/>
                                  </a:solidFill>
                                  <a:latin typeface="Cambria Math" panose="02040503050406030204" pitchFamily="18" charset="0"/>
                                </a:rPr>
                                <m:t>2</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22</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𝑏</m:t>
                              </m:r>
                            </m:e>
                            <m:sub>
                              <m:r>
                                <a:rPr lang="en-US" sz="1500" b="0" i="0" dirty="0">
                                  <a:solidFill>
                                    <a:srgbClr val="222222"/>
                                  </a:solidFill>
                                  <a:latin typeface="Cambria Math" panose="02040503050406030204" pitchFamily="18" charset="0"/>
                                </a:rPr>
                                <m:t>2</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𝑑</m:t>
                              </m:r>
                            </m:e>
                            <m:sub>
                              <m:r>
                                <a:rPr lang="en-US" sz="1500" b="0" i="0" dirty="0">
                                  <a:solidFill>
                                    <a:srgbClr val="222222"/>
                                  </a:solidFill>
                                  <a:latin typeface="Cambria Math" panose="02040503050406030204" pitchFamily="18" charset="0"/>
                                </a:rPr>
                                <m:t>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21</m:t>
                              </m:r>
                            </m:sub>
                          </m:sSub>
                        </m:num>
                        <m:den>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𝛥</m:t>
                              </m:r>
                            </m:e>
                            <m:sub>
                              <m:r>
                                <a:rPr lang="en-US" sz="1500" b="0" i="1" dirty="0">
                                  <a:solidFill>
                                    <a:srgbClr val="222222"/>
                                  </a:solidFill>
                                  <a:latin typeface="Cambria Math" panose="02040503050406030204" pitchFamily="18" charset="0"/>
                                </a:rPr>
                                <m:t>𝐶</m:t>
                              </m:r>
                            </m:sub>
                          </m:sSub>
                        </m:den>
                      </m:f>
                    </m:oMath>
                  </m:oMathPara>
                </a14:m>
                <a:endParaRPr lang="en-US" sz="1500" dirty="0"/>
              </a:p>
            </p:txBody>
          </p:sp>
        </mc:Choice>
        <mc:Fallback>
          <p:sp>
            <p:nvSpPr>
              <p:cNvPr id="8" name="TextBox 7"/>
              <p:cNvSpPr txBox="1">
                <a:spLocks noRot="1" noChangeAspect="1" noMove="1" noResize="1" noEditPoints="1" noAdjustHandles="1" noChangeArrowheads="1" noChangeShapeType="1" noTextEdit="1"/>
              </p:cNvSpPr>
              <p:nvPr/>
            </p:nvSpPr>
            <p:spPr>
              <a:xfrm>
                <a:off x="704088" y="3785615"/>
                <a:ext cx="5669280" cy="1115568"/>
              </a:xfrm>
              <a:prstGeom prst="rect">
                <a:avLst/>
              </a:prstGeom>
              <a:blipFill>
                <a:blip r:embed="rId3"/>
                <a:stretch>
                  <a:fillRect l="-1116" t="-3409"/>
                </a:stretch>
              </a:blipFill>
            </p:spPr>
            <p:txBody>
              <a:bodyPr/>
              <a:lstStyle/>
              <a:p>
                <a:r>
                  <a:rPr lang="ja-JP" altLang="en-US">
                    <a:noFill/>
                  </a:rPr>
                  <a:t> </a:t>
                </a:r>
              </a:p>
            </p:txBody>
          </p:sp>
        </mc:Fallback>
      </mc:AlternateContent>
      <p:sp>
        <p:nvSpPr>
          <p:cNvPr id="9" name="TextBox 8"/>
          <p:cNvSpPr txBox="1"/>
          <p:nvPr/>
        </p:nvSpPr>
        <p:spPr>
          <a:xfrm>
            <a:off x="704088" y="4919472"/>
            <a:ext cx="5669280" cy="603504"/>
          </a:xfrm>
          <a:prstGeom prst="rect">
            <a:avLst/>
          </a:prstGeom>
          <a:noFill/>
        </p:spPr>
        <p:txBody>
          <a:bodyPr wrap="square" lIns="0" tIns="0" rIns="0" bIns="0" anchor="t">
            <a:spAutoFit/>
          </a:bodyPr>
          <a:lstStyle/>
          <a:p>
            <a:pPr algn="l">
              <a:lnSpc>
                <a:spcPct val="132000"/>
              </a:lnSpc>
              <a:spcAft>
                <a:spcPts val="300"/>
              </a:spcAft>
            </a:pPr>
            <a:r>
              <a:rPr sz="1400" b="1">
                <a:solidFill>
                  <a:srgbClr val="C0561A"/>
                </a:solidFill>
                <a:latin typeface="Meiryo"/>
                <a:ea typeface="Meiryo"/>
                <a:cs typeface="Meiryo"/>
              </a:rPr>
              <a:t>y* は a だけ、x* は b だけで決まる。</a:t>
            </a:r>
          </a:p>
          <a:p>
            <a:pPr algn="l">
              <a:lnSpc>
                <a:spcPct val="132000"/>
              </a:lnSpc>
              <a:spcAft>
                <a:spcPts val="300"/>
              </a:spcAft>
            </a:pPr>
            <a:r>
              <a:rPr sz="1400" b="0">
                <a:solidFill>
                  <a:srgbClr val="222222"/>
                </a:solidFill>
                <a:latin typeface="Meiryo"/>
                <a:ea typeface="Meiryo"/>
                <a:cs typeface="Meiryo"/>
              </a:rPr>
              <a:t>Δλ = λ11λ22 − λ12λ21、ΔC = c1d2λ11λ22 − c2d1λ12λ21</a:t>
            </a:r>
          </a:p>
        </p:txBody>
      </p:sp>
      <p:sp>
        <p:nvSpPr>
          <p:cNvPr id="10" name="TextBox 9"/>
          <p:cNvSpPr txBox="1"/>
          <p:nvPr/>
        </p:nvSpPr>
        <p:spPr>
          <a:xfrm>
            <a:off x="6675120" y="1133856"/>
            <a:ext cx="493776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③ とれる量を書く</a:t>
            </a:r>
          </a:p>
        </p:txBody>
      </p:sp>
      <mc:AlternateContent xmlns:mc="http://schemas.openxmlformats.org/markup-compatibility/2006">
        <mc:Choice xmlns:a14="http://schemas.microsoft.com/office/drawing/2010/main" Requires="a14">
          <p:sp>
            <p:nvSpPr>
              <p:cNvPr id="11" name="TextBox 10"/>
              <p:cNvSpPr txBox="1"/>
              <p:nvPr/>
            </p:nvSpPr>
            <p:spPr>
              <a:xfrm>
                <a:off x="6812280" y="1481328"/>
                <a:ext cx="4800600" cy="6583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r>
                        <a:rPr lang="en-US" sz="1500" b="0" i="1" dirty="0">
                          <a:solidFill>
                            <a:srgbClr val="222222"/>
                          </a:solidFill>
                          <a:latin typeface="Cambria Math" panose="02040503050406030204" pitchFamily="18" charset="0"/>
                        </a:rPr>
                        <m:t>𝑌</m:t>
                      </m:r>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0" dirty="0">
                              <a:solidFill>
                                <a:srgbClr val="222222"/>
                              </a:solidFill>
                              <a:latin typeface="Cambria Math" panose="02040503050406030204" pitchFamily="18" charset="0"/>
                            </a:rPr>
                            <m:t>𝑥</m:t>
                          </m:r>
                          <m:r>
                            <a:rPr lang="en-US" sz="1500" b="0" i="0" dirty="0">
                              <a:solidFill>
                                <a:srgbClr val="222222"/>
                              </a:solidFill>
                              <a:latin typeface="Cambria Math" panose="02040503050406030204" pitchFamily="18" charset="0"/>
                            </a:rPr>
                            <m:t>1</m:t>
                          </m:r>
                        </m:sub>
                      </m:sSub>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0" dirty="0">
                              <a:solidFill>
                                <a:srgbClr val="222222"/>
                              </a:solidFill>
                              <a:latin typeface="Cambria Math" panose="02040503050406030204" pitchFamily="18" charset="0"/>
                            </a:rPr>
                            <m:t>𝑥</m:t>
                          </m:r>
                          <m:r>
                            <a:rPr lang="en-US" sz="1500" b="0" i="0" dirty="0">
                              <a:solidFill>
                                <a:srgbClr val="222222"/>
                              </a:solidFill>
                              <a:latin typeface="Cambria Math" panose="02040503050406030204" pitchFamily="18" charset="0"/>
                            </a:rPr>
                            <m:t>2</m:t>
                          </m:r>
                        </m:sub>
                      </m:sSub>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2</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0" dirty="0">
                              <a:solidFill>
                                <a:srgbClr val="222222"/>
                              </a:solidFill>
                              <a:latin typeface="Cambria Math" panose="02040503050406030204" pitchFamily="18" charset="0"/>
                            </a:rPr>
                            <m:t>𝑦</m:t>
                          </m:r>
                          <m:r>
                            <a:rPr lang="en-US" sz="1500" b="0" i="0" dirty="0">
                              <a:solidFill>
                                <a:srgbClr val="222222"/>
                              </a:solidFill>
                              <a:latin typeface="Cambria Math" panose="02040503050406030204" pitchFamily="18" charset="0"/>
                            </a:rPr>
                            <m:t>1</m:t>
                          </m:r>
                        </m:sub>
                      </m:sSub>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1</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𝑓</m:t>
                          </m:r>
                        </m:e>
                        <m:sub>
                          <m:r>
                            <a:rPr lang="en-US" sz="1500" b="0" i="0" dirty="0">
                              <a:solidFill>
                                <a:srgbClr val="222222"/>
                              </a:solidFill>
                              <a:latin typeface="Cambria Math" panose="02040503050406030204" pitchFamily="18" charset="0"/>
                            </a:rPr>
                            <m:t>𝑦</m:t>
                          </m:r>
                          <m:r>
                            <a:rPr lang="en-US" sz="1500" b="0" i="0" dirty="0">
                              <a:solidFill>
                                <a:srgbClr val="222222"/>
                              </a:solidFill>
                              <a:latin typeface="Cambria Math" panose="02040503050406030204" pitchFamily="18" charset="0"/>
                            </a:rPr>
                            <m:t>2</m:t>
                          </m:r>
                        </m:sub>
                      </m:sSub>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2</m:t>
                              </m:r>
                            </m:sub>
                          </m:sSub>
                        </m:e>
                        <m:sup>
                          <m:r>
                            <a:rPr lang="en-US" sz="1500" b="0" i="0" dirty="0">
                              <a:solidFill>
                                <a:srgbClr val="222222"/>
                              </a:solidFill>
                              <a:latin typeface="Cambria Math" panose="02040503050406030204" pitchFamily="18" charset="0"/>
                            </a:rPr>
                            <m:t>∗</m:t>
                          </m:r>
                        </m:sup>
                      </m:sSup>
                    </m:oMath>
                  </m:oMathPara>
                </a14:m>
                <a:endParaRPr lang="en-US" sz="1500" dirty="0"/>
              </a:p>
            </p:txBody>
          </p:sp>
        </mc:Choice>
        <mc:Fallback>
          <p:sp>
            <p:nvSpPr>
              <p:cNvPr id="11" name="TextBox 10"/>
              <p:cNvSpPr txBox="1">
                <a:spLocks noRot="1" noChangeAspect="1" noMove="1" noResize="1" noEditPoints="1" noAdjustHandles="1" noChangeArrowheads="1" noChangeShapeType="1" noTextEdit="1"/>
              </p:cNvSpPr>
              <p:nvPr/>
            </p:nvSpPr>
            <p:spPr>
              <a:xfrm>
                <a:off x="6812280" y="1481328"/>
                <a:ext cx="4800600" cy="658368"/>
              </a:xfrm>
              <a:prstGeom prst="rect">
                <a:avLst/>
              </a:prstGeom>
              <a:blipFill>
                <a:blip r:embed="rId4"/>
                <a:stretch>
                  <a:fillRect l="-1319" t="-1887"/>
                </a:stretch>
              </a:blipFill>
            </p:spPr>
            <p:txBody>
              <a:bodyPr/>
              <a:lstStyle/>
              <a:p>
                <a:r>
                  <a:rPr lang="ja-JP" altLang="en-US">
                    <a:noFill/>
                  </a:rPr>
                  <a:t> </a:t>
                </a:r>
              </a:p>
            </p:txBody>
          </p:sp>
        </mc:Fallback>
      </mc:AlternateContent>
      <p:sp>
        <p:nvSpPr>
          <p:cNvPr id="12" name="TextBox 11"/>
          <p:cNvSpPr txBox="1"/>
          <p:nvPr/>
        </p:nvSpPr>
        <p:spPr>
          <a:xfrm>
            <a:off x="6812280" y="2249424"/>
            <a:ext cx="4800600" cy="2240280"/>
          </a:xfrm>
          <a:prstGeom prst="rect">
            <a:avLst/>
          </a:prstGeom>
          <a:noFill/>
        </p:spPr>
        <p:txBody>
          <a:bodyPr wrap="square" lIns="0" tIns="0" rIns="0" bIns="0" anchor="t">
            <a:spAutoFit/>
          </a:bodyPr>
          <a:lstStyle/>
          <a:p>
            <a:pPr algn="l">
              <a:lnSpc>
                <a:spcPct val="132000"/>
              </a:lnSpc>
              <a:spcAft>
                <a:spcPts val="1000"/>
              </a:spcAft>
            </a:pPr>
            <a:r>
              <a:rPr sz="1500" b="0">
                <a:solidFill>
                  <a:srgbClr val="222222"/>
                </a:solidFill>
                <a:latin typeface="Meiryo"/>
                <a:ea typeface="Meiryo"/>
                <a:cs typeface="Meiryo"/>
              </a:rPr>
              <a:t>x1* に f_x1 は入っていない。だから f_x1 は前についた係数としてしか出てこない。</a:t>
            </a:r>
          </a:p>
          <a:p>
            <a:pPr algn="l">
              <a:lnSpc>
                <a:spcPct val="132000"/>
              </a:lnSpc>
              <a:spcAft>
                <a:spcPts val="1000"/>
              </a:spcAft>
            </a:pPr>
            <a:r>
              <a:rPr sz="1500" b="0">
                <a:solidFill>
                  <a:srgbClr val="222222"/>
                </a:solidFill>
                <a:latin typeface="Meiryo"/>
                <a:ea typeface="Meiryo"/>
                <a:cs typeface="Meiryo"/>
              </a:rPr>
              <a:t>他の3つも同じ。よって とれる量 Y は、どの漁獲率について見ても1次式（直線）になる。</a:t>
            </a:r>
          </a:p>
          <a:p>
            <a:pPr algn="l">
              <a:lnSpc>
                <a:spcPct val="132000"/>
              </a:lnSpc>
              <a:spcAft>
                <a:spcPts val="1000"/>
              </a:spcAft>
            </a:pPr>
            <a:r>
              <a:rPr sz="1500" b="1">
                <a:solidFill>
                  <a:srgbClr val="C0561A"/>
                </a:solidFill>
                <a:latin typeface="Meiryo"/>
                <a:ea typeface="Meiryo"/>
                <a:cs typeface="Meiryo"/>
              </a:rPr>
              <a:t>直線の最大は端。4つの漁獲率それぞれに当てはめると、最大は必ず箱の角（0 か上限）にある。</a:t>
            </a:r>
          </a:p>
        </p:txBody>
      </p:sp>
      <p:sp>
        <p:nvSpPr>
          <p:cNvPr id="13" name="Rectangle 12"/>
          <p:cNvSpPr/>
          <p:nvPr/>
        </p:nvSpPr>
        <p:spPr>
          <a:xfrm>
            <a:off x="6675120" y="4572000"/>
            <a:ext cx="4937760" cy="129844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839712" y="4700016"/>
            <a:ext cx="4608576" cy="1143000"/>
          </a:xfrm>
          <a:prstGeom prst="rect">
            <a:avLst/>
          </a:prstGeom>
          <a:noFill/>
        </p:spPr>
        <p:txBody>
          <a:bodyPr wrap="square" lIns="0" tIns="0" rIns="0" bIns="0" anchor="t">
            <a:spAutoFit/>
          </a:bodyPr>
          <a:lstStyle/>
          <a:p>
            <a:pPr algn="l">
              <a:lnSpc>
                <a:spcPct val="132000"/>
              </a:lnSpc>
              <a:spcAft>
                <a:spcPts val="600"/>
              </a:spcAft>
            </a:pPr>
            <a:r>
              <a:rPr sz="1550" b="1">
                <a:solidFill>
                  <a:srgbClr val="C0561A"/>
                </a:solidFill>
                <a:latin typeface="Meiryo"/>
                <a:ea typeface="Meiryo"/>
                <a:cs typeface="Meiryo"/>
              </a:rPr>
              <a:t>結論：報告される「MSY」は、探索範囲の上限をどこに置いたかで決まる数値であって、生き物の側の量ではない。これは推定値の良し悪しに左右されない。</a:t>
            </a:r>
          </a:p>
        </p:txBody>
      </p:sp>
      <p:sp>
        <p:nvSpPr>
          <p:cNvPr id="15" name="TextBox 14"/>
          <p:cNvSpPr txBox="1"/>
          <p:nvPr/>
        </p:nvSpPr>
        <p:spPr>
          <a:xfrm>
            <a:off x="566928" y="5870448"/>
            <a:ext cx="9869119" cy="411480"/>
          </a:xfrm>
          <a:prstGeom prst="rect">
            <a:avLst/>
          </a:prstGeom>
          <a:noFill/>
        </p:spPr>
        <p:txBody>
          <a:bodyPr wrap="square" lIns="0" tIns="0" rIns="0" bIns="0" anchor="t">
            <a:spAutoFit/>
          </a:bodyPr>
          <a:lstStyle/>
          <a:p>
            <a:pPr algn="l">
              <a:lnSpc>
                <a:spcPct val="132000"/>
              </a:lnSpc>
              <a:spcAft>
                <a:spcPts val="600"/>
              </a:spcAft>
            </a:pPr>
            <a:r>
              <a:rPr sz="1150" b="0">
                <a:solidFill>
                  <a:srgbClr val="6E6E6E"/>
                </a:solidFill>
                <a:latin typeface="Meiryo"/>
                <a:ea typeface="Meiryo"/>
                <a:cs typeface="Meiryo"/>
              </a:rPr>
              <a:t>釣り合いの量が自分の漁獲率に依存しない点は古典的に知られる（Volterra 1926）。本研究が述べるのは、そこから従う「最適な漁獲率が必ず端に来る」ほう。有限の期間で測っても同じになることは予備23枚目。</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結果3：そもそも、漁獲ゼロの釣り合いが正にならない</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15</a:t>
            </a:r>
          </a:p>
        </p:txBody>
      </p:sp>
      <p:pic>
        <p:nvPicPr>
          <p:cNvPr id="4" name="Picture 3" descr="11_釣り合いの量が負.png"/>
          <p:cNvPicPr>
            <a:picLocks noChangeAspect="1"/>
          </p:cNvPicPr>
          <p:nvPr/>
        </p:nvPicPr>
        <p:blipFill>
          <a:blip r:embed="rId2"/>
          <a:stretch>
            <a:fillRect/>
          </a:stretch>
        </p:blipFill>
        <p:spPr>
          <a:xfrm>
            <a:off x="1892807" y="1152144"/>
            <a:ext cx="8412480" cy="2698947"/>
          </a:xfrm>
          <a:prstGeom prst="rect">
            <a:avLst/>
          </a:prstGeom>
        </p:spPr>
      </p:pic>
      <p:sp>
        <p:nvSpPr>
          <p:cNvPr id="5" name="figlabel"/>
          <p:cNvSpPr txBox="1"/>
          <p:nvPr/>
        </p:nvSpPr>
        <p:spPr>
          <a:xfrm>
            <a:off x="3863185" y="1286245"/>
            <a:ext cx="83947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大蛇行なし</a:t>
            </a:r>
          </a:p>
        </p:txBody>
      </p:sp>
      <p:sp>
        <p:nvSpPr>
          <p:cNvPr id="6" name="figlabel"/>
          <p:cNvSpPr txBox="1"/>
          <p:nvPr/>
        </p:nvSpPr>
        <p:spPr>
          <a:xfrm>
            <a:off x="2794221" y="3590800"/>
            <a:ext cx="4648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マアジ</a:t>
            </a:r>
          </a:p>
        </p:txBody>
      </p:sp>
      <p:sp>
        <p:nvSpPr>
          <p:cNvPr id="7" name="figlabel"/>
          <p:cNvSpPr txBox="1"/>
          <p:nvPr/>
        </p:nvSpPr>
        <p:spPr>
          <a:xfrm>
            <a:off x="3422197" y="3590800"/>
            <a:ext cx="8839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ウルメイワシ</a:t>
            </a:r>
          </a:p>
        </p:txBody>
      </p:sp>
      <p:sp>
        <p:nvSpPr>
          <p:cNvPr id="8" name="figlabel"/>
          <p:cNvSpPr txBox="1"/>
          <p:nvPr/>
        </p:nvSpPr>
        <p:spPr>
          <a:xfrm>
            <a:off x="4539122" y="3590800"/>
            <a:ext cx="3251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ブリ</a:t>
            </a:r>
          </a:p>
        </p:txBody>
      </p:sp>
      <p:sp>
        <p:nvSpPr>
          <p:cNvPr id="9" name="figlabel"/>
          <p:cNvSpPr txBox="1"/>
          <p:nvPr/>
        </p:nvSpPr>
        <p:spPr>
          <a:xfrm>
            <a:off x="5306798" y="3590800"/>
            <a:ext cx="4648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サワラ</a:t>
            </a:r>
          </a:p>
        </p:txBody>
      </p:sp>
      <p:sp>
        <p:nvSpPr>
          <p:cNvPr id="10" name="figlabel"/>
          <p:cNvSpPr txBox="1"/>
          <p:nvPr/>
        </p:nvSpPr>
        <p:spPr>
          <a:xfrm>
            <a:off x="8243064" y="1286245"/>
            <a:ext cx="52197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大蛇行</a:t>
            </a:r>
          </a:p>
        </p:txBody>
      </p:sp>
      <p:sp>
        <p:nvSpPr>
          <p:cNvPr id="11" name="figlabel"/>
          <p:cNvSpPr txBox="1"/>
          <p:nvPr/>
        </p:nvSpPr>
        <p:spPr>
          <a:xfrm>
            <a:off x="7015350" y="3590800"/>
            <a:ext cx="4648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マアジ</a:t>
            </a:r>
          </a:p>
        </p:txBody>
      </p:sp>
      <p:sp>
        <p:nvSpPr>
          <p:cNvPr id="12" name="figlabel"/>
          <p:cNvSpPr txBox="1"/>
          <p:nvPr/>
        </p:nvSpPr>
        <p:spPr>
          <a:xfrm>
            <a:off x="7643326" y="3590800"/>
            <a:ext cx="8839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ウルメイワシ</a:t>
            </a:r>
          </a:p>
        </p:txBody>
      </p:sp>
      <p:sp>
        <p:nvSpPr>
          <p:cNvPr id="13" name="figlabel"/>
          <p:cNvSpPr txBox="1"/>
          <p:nvPr/>
        </p:nvSpPr>
        <p:spPr>
          <a:xfrm>
            <a:off x="8760252" y="3590800"/>
            <a:ext cx="3251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ブリ</a:t>
            </a:r>
          </a:p>
        </p:txBody>
      </p:sp>
      <p:sp>
        <p:nvSpPr>
          <p:cNvPr id="14" name="figlabel"/>
          <p:cNvSpPr txBox="1"/>
          <p:nvPr/>
        </p:nvSpPr>
        <p:spPr>
          <a:xfrm>
            <a:off x="9527927" y="3590800"/>
            <a:ext cx="464820" cy="199898"/>
          </a:xfrm>
          <a:prstGeom prst="rect">
            <a:avLst/>
          </a:prstGeom>
          <a:noFill/>
        </p:spPr>
        <p:txBody>
          <a:bodyPr wrap="none" lIns="0" tIns="0" rIns="0" bIns="0" anchor="ctr">
            <a:spAutoFit/>
          </a:bodyPr>
          <a:lstStyle/>
          <a:p>
            <a:pPr algn="ctr">
              <a:lnSpc>
                <a:spcPct val="120000"/>
              </a:lnSpc>
              <a:spcAft>
                <a:spcPts val="0"/>
              </a:spcAft>
            </a:pPr>
            <a:r>
              <a:rPr sz="1100" b="0">
                <a:solidFill>
                  <a:srgbClr val="222222"/>
                </a:solidFill>
                <a:latin typeface="Meiryo"/>
                <a:ea typeface="Meiryo"/>
                <a:cs typeface="Meiryo"/>
              </a:rPr>
              <a:t>サワラ</a:t>
            </a:r>
          </a:p>
        </p:txBody>
      </p:sp>
      <p:sp>
        <p:nvSpPr>
          <p:cNvPr id="15" name="figlabel"/>
          <p:cNvSpPr txBox="1"/>
          <p:nvPr/>
        </p:nvSpPr>
        <p:spPr>
          <a:xfrm>
            <a:off x="2708371" y="1596114"/>
            <a:ext cx="1264920" cy="216408"/>
          </a:xfrm>
          <a:prstGeom prst="rect">
            <a:avLst/>
          </a:prstGeom>
          <a:noFill/>
        </p:spPr>
        <p:txBody>
          <a:bodyPr wrap="none" lIns="0" tIns="0" rIns="0" bIns="0" anchor="ctr">
            <a:spAutoFit/>
          </a:bodyPr>
          <a:lstStyle/>
          <a:p>
            <a:pPr algn="l">
              <a:lnSpc>
                <a:spcPct val="120000"/>
              </a:lnSpc>
              <a:spcAft>
                <a:spcPts val="0"/>
              </a:spcAft>
            </a:pPr>
            <a:r>
              <a:rPr sz="1200" b="0">
                <a:solidFill>
                  <a:srgbClr val="C0561A"/>
                </a:solidFill>
                <a:latin typeface="Meiryo"/>
                <a:ea typeface="Meiryo"/>
                <a:cs typeface="Meiryo"/>
              </a:rPr>
              <a:t>マアジがマイナス</a:t>
            </a:r>
          </a:p>
        </p:txBody>
      </p:sp>
      <p:sp>
        <p:nvSpPr>
          <p:cNvPr id="16" name="figlabel"/>
          <p:cNvSpPr txBox="1"/>
          <p:nvPr/>
        </p:nvSpPr>
        <p:spPr>
          <a:xfrm>
            <a:off x="6929501" y="1596114"/>
            <a:ext cx="1722120" cy="216408"/>
          </a:xfrm>
          <a:prstGeom prst="rect">
            <a:avLst/>
          </a:prstGeom>
          <a:noFill/>
        </p:spPr>
        <p:txBody>
          <a:bodyPr wrap="none" lIns="0" tIns="0" rIns="0" bIns="0" anchor="ctr">
            <a:spAutoFit/>
          </a:bodyPr>
          <a:lstStyle/>
          <a:p>
            <a:pPr algn="l">
              <a:lnSpc>
                <a:spcPct val="120000"/>
              </a:lnSpc>
              <a:spcAft>
                <a:spcPts val="0"/>
              </a:spcAft>
            </a:pPr>
            <a:r>
              <a:rPr sz="1200" b="0">
                <a:solidFill>
                  <a:srgbClr val="C0561A"/>
                </a:solidFill>
                <a:latin typeface="Meiryo"/>
                <a:ea typeface="Meiryo"/>
                <a:cs typeface="Meiryo"/>
              </a:rPr>
              <a:t>ウルメイワシがマイナス</a:t>
            </a:r>
          </a:p>
        </p:txBody>
      </p:sp>
      <p:sp>
        <p:nvSpPr>
          <p:cNvPr id="17" name="figlabel"/>
          <p:cNvSpPr txBox="1"/>
          <p:nvPr/>
        </p:nvSpPr>
        <p:spPr>
          <a:xfrm>
            <a:off x="1926457" y="1157538"/>
            <a:ext cx="1582420" cy="199898"/>
          </a:xfrm>
          <a:prstGeom prst="rect">
            <a:avLst/>
          </a:prstGeom>
          <a:noFill/>
        </p:spPr>
        <p:txBody>
          <a:bodyPr wrap="none" lIns="0" tIns="0" rIns="0" bIns="0" anchor="ctr">
            <a:spAutoFit/>
          </a:bodyPr>
          <a:lstStyle/>
          <a:p>
            <a:pPr algn="l">
              <a:lnSpc>
                <a:spcPct val="120000"/>
              </a:lnSpc>
              <a:spcAft>
                <a:spcPts val="0"/>
              </a:spcAft>
            </a:pPr>
            <a:r>
              <a:rPr sz="1100" b="0">
                <a:solidFill>
                  <a:srgbClr val="6E6E6E"/>
                </a:solidFill>
                <a:latin typeface="Meiryo"/>
                <a:ea typeface="Meiryo"/>
                <a:cs typeface="Meiryo"/>
              </a:rPr>
              <a:t>縦軸：資源量（千トン）</a:t>
            </a:r>
          </a:p>
        </p:txBody>
      </p:sp>
      <p:sp>
        <p:nvSpPr>
          <p:cNvPr id="18" name="TextBox 17"/>
          <p:cNvSpPr txBox="1"/>
          <p:nvPr/>
        </p:nvSpPr>
        <p:spPr>
          <a:xfrm>
            <a:off x="566928" y="4069080"/>
            <a:ext cx="10378440" cy="2212848"/>
          </a:xfrm>
          <a:prstGeom prst="rect">
            <a:avLst/>
          </a:prstGeom>
          <a:noFill/>
        </p:spPr>
        <p:txBody>
          <a:bodyPr wrap="square" lIns="0" tIns="0" rIns="0" bIns="0" anchor="t">
            <a:spAutoFit/>
          </a:bodyPr>
          <a:lstStyle/>
          <a:p>
            <a:pPr algn="l">
              <a:lnSpc>
                <a:spcPct val="132000"/>
              </a:lnSpc>
              <a:spcAft>
                <a:spcPts val="700"/>
              </a:spcAft>
            </a:pPr>
            <a:r>
              <a:rPr sz="1550" b="0">
                <a:solidFill>
                  <a:srgbClr val="222222"/>
                </a:solidFill>
                <a:latin typeface="Meiryo"/>
                <a:ea typeface="Meiryo"/>
                <a:cs typeface="Meiryo"/>
              </a:rPr>
              <a:t>・漁獲ゼロのときの釣り合いを計算すると、大蛇行なしではマアジが −50 千トン、大蛇行ではウルメイワシが −130 千トン。4種が同時に正で釣り合う点が、漁獲ゼロでは存在しない。</a:t>
            </a:r>
          </a:p>
          <a:p>
            <a:pPr algn="l">
              <a:lnSpc>
                <a:spcPct val="132000"/>
              </a:lnSpc>
              <a:spcAft>
                <a:spcPts val="700"/>
              </a:spcAft>
            </a:pPr>
            <a:r>
              <a:rPr sz="1550" b="0">
                <a:solidFill>
                  <a:srgbClr val="222222"/>
                </a:solidFill>
                <a:latin typeface="Meiryo"/>
                <a:ea typeface="Meiryo"/>
                <a:cs typeface="Meiryo"/>
              </a:rPr>
              <a:t>・そのため「釣り合いの量に対する比」で持続を判定するやり方は使えない。</a:t>
            </a:r>
          </a:p>
          <a:p>
            <a:pPr algn="l">
              <a:lnSpc>
                <a:spcPct val="132000"/>
              </a:lnSpc>
              <a:spcAft>
                <a:spcPts val="700"/>
              </a:spcAft>
            </a:pPr>
            <a:r>
              <a:rPr sz="1550" b="0">
                <a:solidFill>
                  <a:srgbClr val="222222"/>
                </a:solidFill>
                <a:latin typeface="Meiryo"/>
                <a:ea typeface="Meiryo"/>
                <a:cs typeface="Meiryo"/>
              </a:rPr>
              <a:t>・結果2は「仮に正の釣り合いがあっても、内側に最大はない」という話。実際はその釣り合いすら正にならない。どちらの意味でも内側の MSY は決められない。</a:t>
            </a:r>
          </a:p>
          <a:p>
            <a:pPr algn="l">
              <a:lnSpc>
                <a:spcPct val="132000"/>
              </a:lnSpc>
              <a:spcAft>
                <a:spcPts val="700"/>
              </a:spcAft>
            </a:pPr>
            <a:r>
              <a:rPr sz="1400" b="0">
                <a:solidFill>
                  <a:srgbClr val="6E6E6E"/>
                </a:solidFill>
                <a:latin typeface="Meiryo"/>
                <a:ea typeface="Meiryo"/>
                <a:cs typeface="Meiryo"/>
              </a:rPr>
              <a:t>・ただし正にならないのは漁獲ゼロのとき。漁獲率を変えると正になる点も見つかっている（角16点のうち 大蛇行なし1点／大蛇行4点）。</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3654"/>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800" b="1">
                <a:solidFill>
                  <a:srgbClr val="FFFFFF"/>
                </a:solidFill>
                <a:latin typeface="Meiryo"/>
                <a:ea typeface="Meiryo"/>
                <a:cs typeface="Meiryo"/>
              </a:rPr>
              <a:t>まとめ</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8FA6C0"/>
                </a:solidFill>
                <a:latin typeface="Meiryo"/>
                <a:ea typeface="Meiryo"/>
                <a:cs typeface="Meiryo"/>
              </a:rPr>
              <a:t>16</a:t>
            </a:r>
          </a:p>
        </p:txBody>
      </p:sp>
      <p:sp>
        <p:nvSpPr>
          <p:cNvPr id="4" name="Rectangle 3"/>
          <p:cNvSpPr/>
          <p:nvPr/>
        </p:nvSpPr>
        <p:spPr>
          <a:xfrm>
            <a:off x="566928" y="1325880"/>
            <a:ext cx="502920" cy="502920"/>
          </a:xfrm>
          <a:prstGeom prst="rect">
            <a:avLst/>
          </a:prstGeom>
          <a:solidFill>
            <a:srgbClr val="3E669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66928" y="1417320"/>
            <a:ext cx="502920" cy="365760"/>
          </a:xfrm>
          <a:prstGeom prst="rect">
            <a:avLst/>
          </a:prstGeom>
          <a:noFill/>
        </p:spPr>
        <p:txBody>
          <a:bodyPr wrap="square" lIns="0" tIns="0" rIns="0" bIns="0" anchor="t">
            <a:spAutoFit/>
          </a:bodyPr>
          <a:lstStyle/>
          <a:p>
            <a:pPr algn="ctr">
              <a:lnSpc>
                <a:spcPct val="132000"/>
              </a:lnSpc>
              <a:spcAft>
                <a:spcPts val="600"/>
              </a:spcAft>
            </a:pPr>
            <a:r>
              <a:rPr sz="1800" b="1">
                <a:solidFill>
                  <a:srgbClr val="FFFFFF"/>
                </a:solidFill>
                <a:latin typeface="Meiryo"/>
                <a:ea typeface="Meiryo"/>
                <a:cs typeface="Meiryo"/>
              </a:rPr>
              <a:t>1</a:t>
            </a:r>
          </a:p>
        </p:txBody>
      </p:sp>
      <p:sp>
        <p:nvSpPr>
          <p:cNvPr id="6" name="TextBox 5"/>
          <p:cNvSpPr txBox="1"/>
          <p:nvPr/>
        </p:nvSpPr>
        <p:spPr>
          <a:xfrm>
            <a:off x="1280160" y="1371600"/>
            <a:ext cx="10344607" cy="1005840"/>
          </a:xfrm>
          <a:prstGeom prst="rect">
            <a:avLst/>
          </a:prstGeom>
          <a:noFill/>
        </p:spPr>
        <p:txBody>
          <a:bodyPr wrap="square" lIns="0" tIns="0" rIns="0" bIns="0" anchor="t">
            <a:spAutoFit/>
          </a:bodyPr>
          <a:lstStyle/>
          <a:p>
            <a:pPr algn="l">
              <a:lnSpc>
                <a:spcPct val="135000"/>
              </a:lnSpc>
              <a:spcAft>
                <a:spcPts val="600"/>
              </a:spcAft>
            </a:pPr>
            <a:r>
              <a:rPr sz="1700" b="0">
                <a:solidFill>
                  <a:srgbClr val="FFFFFF"/>
                </a:solidFill>
                <a:latin typeface="Meiryo"/>
                <a:ea typeface="Meiryo"/>
                <a:cs typeface="Meiryo"/>
              </a:rPr>
              <a:t>時期ごと・魚種のつながりを入れた「とっていい量」の計算の枠組みを作り、実データで動かした。</a:t>
            </a:r>
          </a:p>
        </p:txBody>
      </p:sp>
      <p:sp>
        <p:nvSpPr>
          <p:cNvPr id="7" name="Rectangle 6"/>
          <p:cNvSpPr/>
          <p:nvPr/>
        </p:nvSpPr>
        <p:spPr>
          <a:xfrm>
            <a:off x="566928" y="2532888"/>
            <a:ext cx="502920" cy="502920"/>
          </a:xfrm>
          <a:prstGeom prst="rect">
            <a:avLst/>
          </a:prstGeom>
          <a:solidFill>
            <a:srgbClr val="3E669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66928" y="2624328"/>
            <a:ext cx="502920" cy="365760"/>
          </a:xfrm>
          <a:prstGeom prst="rect">
            <a:avLst/>
          </a:prstGeom>
          <a:noFill/>
        </p:spPr>
        <p:txBody>
          <a:bodyPr wrap="square" lIns="0" tIns="0" rIns="0" bIns="0" anchor="t">
            <a:spAutoFit/>
          </a:bodyPr>
          <a:lstStyle/>
          <a:p>
            <a:pPr algn="ctr">
              <a:lnSpc>
                <a:spcPct val="132000"/>
              </a:lnSpc>
              <a:spcAft>
                <a:spcPts val="600"/>
              </a:spcAft>
            </a:pPr>
            <a:r>
              <a:rPr sz="1800" b="1">
                <a:solidFill>
                  <a:srgbClr val="FFFFFF"/>
                </a:solidFill>
                <a:latin typeface="Meiryo"/>
                <a:ea typeface="Meiryo"/>
                <a:cs typeface="Meiryo"/>
              </a:rPr>
              <a:t>2</a:t>
            </a:r>
          </a:p>
        </p:txBody>
      </p:sp>
      <p:sp>
        <p:nvSpPr>
          <p:cNvPr id="9" name="TextBox 8"/>
          <p:cNvSpPr txBox="1"/>
          <p:nvPr/>
        </p:nvSpPr>
        <p:spPr>
          <a:xfrm>
            <a:off x="1280160" y="2578608"/>
            <a:ext cx="10344607" cy="1005840"/>
          </a:xfrm>
          <a:prstGeom prst="rect">
            <a:avLst/>
          </a:prstGeom>
          <a:noFill/>
        </p:spPr>
        <p:txBody>
          <a:bodyPr wrap="square" lIns="0" tIns="0" rIns="0" bIns="0" anchor="t">
            <a:spAutoFit/>
          </a:bodyPr>
          <a:lstStyle/>
          <a:p>
            <a:pPr algn="l">
              <a:lnSpc>
                <a:spcPct val="135000"/>
              </a:lnSpc>
              <a:spcAft>
                <a:spcPts val="600"/>
              </a:spcAft>
            </a:pPr>
            <a:r>
              <a:rPr sz="1700" b="0">
                <a:solidFill>
                  <a:srgbClr val="FFFFFF"/>
                </a:solidFill>
                <a:latin typeface="Meiryo"/>
                <a:ea typeface="Meiryo"/>
                <a:cs typeface="Meiryo"/>
              </a:rPr>
              <a:t>その枠組みが返すのは MSY ではなく「資源の下限を守ったうえでの最大の漁獲量」。原因は混み合いの効果がないこと。とれる量が漁獲率の一次式になるため、答えは必ず探索範囲の端に来る。</a:t>
            </a:r>
          </a:p>
        </p:txBody>
      </p:sp>
      <p:sp>
        <p:nvSpPr>
          <p:cNvPr id="10" name="Rectangle 9"/>
          <p:cNvSpPr/>
          <p:nvPr/>
        </p:nvSpPr>
        <p:spPr>
          <a:xfrm>
            <a:off x="566928" y="3739896"/>
            <a:ext cx="502920" cy="502920"/>
          </a:xfrm>
          <a:prstGeom prst="rect">
            <a:avLst/>
          </a:prstGeom>
          <a:solidFill>
            <a:srgbClr val="3E669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66928" y="3831335"/>
            <a:ext cx="502920" cy="365760"/>
          </a:xfrm>
          <a:prstGeom prst="rect">
            <a:avLst/>
          </a:prstGeom>
          <a:noFill/>
        </p:spPr>
        <p:txBody>
          <a:bodyPr wrap="square" lIns="0" tIns="0" rIns="0" bIns="0" anchor="t">
            <a:spAutoFit/>
          </a:bodyPr>
          <a:lstStyle/>
          <a:p>
            <a:pPr algn="ctr">
              <a:lnSpc>
                <a:spcPct val="132000"/>
              </a:lnSpc>
              <a:spcAft>
                <a:spcPts val="600"/>
              </a:spcAft>
            </a:pPr>
            <a:r>
              <a:rPr sz="1800" b="1">
                <a:solidFill>
                  <a:srgbClr val="FFFFFF"/>
                </a:solidFill>
                <a:latin typeface="Meiryo"/>
                <a:ea typeface="Meiryo"/>
                <a:cs typeface="Meiryo"/>
              </a:rPr>
              <a:t>3</a:t>
            </a:r>
          </a:p>
        </p:txBody>
      </p:sp>
      <p:sp>
        <p:nvSpPr>
          <p:cNvPr id="12" name="TextBox 11"/>
          <p:cNvSpPr txBox="1"/>
          <p:nvPr/>
        </p:nvSpPr>
        <p:spPr>
          <a:xfrm>
            <a:off x="1280160" y="3785615"/>
            <a:ext cx="10344607" cy="1005840"/>
          </a:xfrm>
          <a:prstGeom prst="rect">
            <a:avLst/>
          </a:prstGeom>
          <a:noFill/>
        </p:spPr>
        <p:txBody>
          <a:bodyPr wrap="square" lIns="0" tIns="0" rIns="0" bIns="0" anchor="t">
            <a:spAutoFit/>
          </a:bodyPr>
          <a:lstStyle/>
          <a:p>
            <a:pPr algn="l">
              <a:lnSpc>
                <a:spcPct val="135000"/>
              </a:lnSpc>
              <a:spcAft>
                <a:spcPts val="600"/>
              </a:spcAft>
            </a:pPr>
            <a:r>
              <a:rPr sz="1700" b="0">
                <a:solidFill>
                  <a:srgbClr val="FFFFFF"/>
                </a:solidFill>
                <a:latin typeface="Meiryo"/>
                <a:ea typeface="Meiryo"/>
                <a:cs typeface="Meiryo"/>
              </a:rPr>
              <a:t>1種ずつの解析から借りられるのは「増える速さ」まで。借りる値を増やすほど当てはまりは単調に悪くなる（12個 → 10個 → 8個）。</a:t>
            </a:r>
          </a:p>
        </p:txBody>
      </p:sp>
      <p:sp>
        <p:nvSpPr>
          <p:cNvPr id="13" name="Rectangle 12"/>
          <p:cNvSpPr/>
          <p:nvPr/>
        </p:nvSpPr>
        <p:spPr>
          <a:xfrm>
            <a:off x="566928" y="4946904"/>
            <a:ext cx="502920" cy="502920"/>
          </a:xfrm>
          <a:prstGeom prst="rect">
            <a:avLst/>
          </a:prstGeom>
          <a:solidFill>
            <a:srgbClr val="3E669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566928" y="5038344"/>
            <a:ext cx="502920" cy="365760"/>
          </a:xfrm>
          <a:prstGeom prst="rect">
            <a:avLst/>
          </a:prstGeom>
          <a:noFill/>
        </p:spPr>
        <p:txBody>
          <a:bodyPr wrap="square" lIns="0" tIns="0" rIns="0" bIns="0" anchor="t">
            <a:spAutoFit/>
          </a:bodyPr>
          <a:lstStyle/>
          <a:p>
            <a:pPr algn="ctr">
              <a:lnSpc>
                <a:spcPct val="132000"/>
              </a:lnSpc>
              <a:spcAft>
                <a:spcPts val="600"/>
              </a:spcAft>
            </a:pPr>
            <a:r>
              <a:rPr sz="1800" b="1">
                <a:solidFill>
                  <a:srgbClr val="FFFFFF"/>
                </a:solidFill>
                <a:latin typeface="Meiryo"/>
                <a:ea typeface="Meiryo"/>
                <a:cs typeface="Meiryo"/>
              </a:rPr>
              <a:t>4</a:t>
            </a:r>
          </a:p>
        </p:txBody>
      </p:sp>
      <p:sp>
        <p:nvSpPr>
          <p:cNvPr id="15" name="TextBox 14"/>
          <p:cNvSpPr txBox="1"/>
          <p:nvPr/>
        </p:nvSpPr>
        <p:spPr>
          <a:xfrm>
            <a:off x="1280160" y="4992624"/>
            <a:ext cx="10344607" cy="1005840"/>
          </a:xfrm>
          <a:prstGeom prst="rect">
            <a:avLst/>
          </a:prstGeom>
          <a:noFill/>
        </p:spPr>
        <p:txBody>
          <a:bodyPr wrap="square" lIns="0" tIns="0" rIns="0" bIns="0" anchor="t">
            <a:spAutoFit/>
          </a:bodyPr>
          <a:lstStyle/>
          <a:p>
            <a:pPr algn="l">
              <a:lnSpc>
                <a:spcPct val="135000"/>
              </a:lnSpc>
              <a:spcAft>
                <a:spcPts val="600"/>
              </a:spcAft>
            </a:pPr>
            <a:r>
              <a:rPr sz="1700" b="0">
                <a:solidFill>
                  <a:srgbClr val="FFFFFF"/>
                </a:solidFill>
                <a:latin typeface="Meiryo"/>
                <a:ea typeface="Meiryo"/>
                <a:cs typeface="Meiryo"/>
              </a:rPr>
              <a:t>今後：内側に最大を作るには混み合いの項を戻す必要がある。また、トンでの単純な足し算をやめ、魚種ごとに割った量で測り直す。</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［予備］資源が減りすぎない、の4つの決め方</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17</a:t>
            </a:r>
          </a:p>
        </p:txBody>
      </p:sp>
      <p:graphicFrame>
        <p:nvGraphicFramePr>
          <p:cNvPr id="4" name="Table 3"/>
          <p:cNvGraphicFramePr>
            <a:graphicFrameLocks noGrp="1"/>
          </p:cNvGraphicFramePr>
          <p:nvPr/>
        </p:nvGraphicFramePr>
        <p:xfrm>
          <a:off x="566928" y="1234440"/>
          <a:ext cx="11055096" cy="3044952"/>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831336">
                  <a:extLst>
                    <a:ext uri="{9D8B030D-6E8A-4147-A177-3AD203B41FA5}">
                      <a16:colId xmlns:a16="http://schemas.microsoft.com/office/drawing/2014/main" val="20002"/>
                    </a:ext>
                  </a:extLst>
                </a:gridCol>
              </a:tblGrid>
              <a:tr h="411480">
                <a:tc>
                  <a:txBody>
                    <a:bodyPr/>
                    <a:lstStyle/>
                    <a:p>
                      <a:pPr algn="l"/>
                      <a:r>
                        <a:rPr sz="1350" b="1">
                          <a:solidFill>
                            <a:srgbClr val="FFFFFF"/>
                          </a:solidFill>
                          <a:latin typeface="Meiryo"/>
                          <a:ea typeface="Meiryo"/>
                          <a:cs typeface="Meiryo"/>
                        </a:rPr>
                        <a:t>決め方</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中身</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本研究での扱い</a:t>
                      </a:r>
                    </a:p>
                  </a:txBody>
                  <a:tcPr marR="73152" marT="27432" marB="27432" anchor="ctr">
                    <a:solidFill>
                      <a:srgbClr val="1F4E79"/>
                    </a:solidFill>
                  </a:tcPr>
                </a:tc>
                <a:extLst>
                  <a:ext uri="{0D108BD9-81ED-4DB2-BD59-A6C34878D82A}">
                    <a16:rowId xmlns:a16="http://schemas.microsoft.com/office/drawing/2014/main" val="10000"/>
                  </a:ext>
                </a:extLst>
              </a:tr>
              <a:tr h="658368">
                <a:tc>
                  <a:txBody>
                    <a:bodyPr/>
                    <a:lstStyle/>
                    <a:p>
                      <a:pPr algn="l"/>
                      <a:r>
                        <a:rPr sz="1350" b="0">
                          <a:solidFill>
                            <a:srgbClr val="222222"/>
                          </a:solidFill>
                          <a:latin typeface="Meiryo"/>
                          <a:ea typeface="Meiryo"/>
                          <a:cs typeface="Meiryo"/>
                        </a:rPr>
                        <a:t>最終年で見る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計算した最後の年の資源量が、初年の9割以上</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既定。ただし初年の値に左右される</a:t>
                      </a:r>
                    </a:p>
                  </a:txBody>
                  <a:tcPr marR="73152" marT="27432" marB="27432" anchor="ctr">
                    <a:solidFill>
                      <a:srgbClr val="FFFFFF"/>
                    </a:solidFill>
                  </a:tcPr>
                </a:tc>
                <a:extLst>
                  <a:ext uri="{0D108BD9-81ED-4DB2-BD59-A6C34878D82A}">
                    <a16:rowId xmlns:a16="http://schemas.microsoft.com/office/drawing/2014/main" val="10001"/>
                  </a:ext>
                </a:extLst>
              </a:tr>
              <a:tr h="658368">
                <a:tc>
                  <a:txBody>
                    <a:bodyPr/>
                    <a:lstStyle/>
                    <a:p>
                      <a:pPr algn="l"/>
                      <a:r>
                        <a:rPr sz="1350" b="0">
                          <a:solidFill>
                            <a:srgbClr val="222222"/>
                          </a:solidFill>
                          <a:latin typeface="Meiryo"/>
                          <a:ea typeface="Meiryo"/>
                          <a:cs typeface="Meiryo"/>
                        </a:rPr>
                        <a:t>漁獲ゼロの釣り合いと比べる</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漁獲ありの釣り合いが、漁獲ゼロの釣り合いの一定割合以上</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使えない（釣り合いが正にならないため）</a:t>
                      </a:r>
                    </a:p>
                  </a:txBody>
                  <a:tcPr marR="73152" marT="27432" marB="27432" anchor="ctr">
                    <a:solidFill>
                      <a:srgbClr val="F2F5F9"/>
                    </a:solidFill>
                  </a:tcPr>
                </a:tc>
                <a:extLst>
                  <a:ext uri="{0D108BD9-81ED-4DB2-BD59-A6C34878D82A}">
                    <a16:rowId xmlns:a16="http://schemas.microsoft.com/office/drawing/2014/main" val="10002"/>
                  </a:ext>
                </a:extLst>
              </a:tr>
              <a:tr h="658368">
                <a:tc>
                  <a:txBody>
                    <a:bodyPr/>
                    <a:lstStyle/>
                    <a:p>
                      <a:pPr algn="l"/>
                      <a:r>
                        <a:rPr sz="1350" b="0">
                          <a:solidFill>
                            <a:srgbClr val="222222"/>
                          </a:solidFill>
                          <a:latin typeface="Meiryo"/>
                          <a:ea typeface="Meiryo"/>
                          <a:cs typeface="Meiryo"/>
                        </a:rPr>
                        <a:t>長期の下限で見る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長く回したときの資源量の最小値が、基準の一定割合以上</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併用できる</a:t>
                      </a:r>
                    </a:p>
                  </a:txBody>
                  <a:tcPr marR="73152" marT="27432" marB="27432" anchor="ctr">
                    <a:solidFill>
                      <a:srgbClr val="FFFFFF"/>
                    </a:solidFill>
                  </a:tcPr>
                </a:tc>
                <a:extLst>
                  <a:ext uri="{0D108BD9-81ED-4DB2-BD59-A6C34878D82A}">
                    <a16:rowId xmlns:a16="http://schemas.microsoft.com/office/drawing/2014/main" val="10003"/>
                  </a:ext>
                </a:extLst>
              </a:tr>
              <a:tr h="658368">
                <a:tc>
                  <a:txBody>
                    <a:bodyPr/>
                    <a:lstStyle/>
                    <a:p>
                      <a:pPr algn="l"/>
                      <a:r>
                        <a:rPr sz="1350" b="0">
                          <a:solidFill>
                            <a:srgbClr val="222222"/>
                          </a:solidFill>
                          <a:latin typeface="Meiryo"/>
                          <a:ea typeface="Meiryo"/>
                          <a:cs typeface="Meiryo"/>
                        </a:rPr>
                        <a:t>期間平均で見る</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期間平均の資源量が、基準の一定割合以上</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併用できる</a:t>
                      </a:r>
                    </a:p>
                  </a:txBody>
                  <a:tcPr marR="73152" marT="27432" marB="27432" anchor="ctr">
                    <a:solidFill>
                      <a:srgbClr val="F2F5F9"/>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66928" y="4617720"/>
            <a:ext cx="10326319" cy="457200"/>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既定の判定は「最終年 ÷ 初年 ≧ 0.9」。初年の値がどの位相にあるかで結果が動くという弱点がある。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［予備］角16点で、釣り合いが正になるか調べた</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18</a:t>
            </a:r>
          </a:p>
        </p:txBody>
      </p:sp>
      <p:graphicFrame>
        <p:nvGraphicFramePr>
          <p:cNvPr id="4" name="Table 3"/>
          <p:cNvGraphicFramePr>
            <a:graphicFrameLocks noGrp="1"/>
          </p:cNvGraphicFramePr>
          <p:nvPr/>
        </p:nvGraphicFramePr>
        <p:xfrm>
          <a:off x="566928" y="1280160"/>
          <a:ext cx="11055096" cy="1591056"/>
        </p:xfrm>
        <a:graphic>
          <a:graphicData uri="http://schemas.openxmlformats.org/drawingml/2006/table">
            <a:tbl>
              <a:tblPr firstRow="1">
                <a:tableStyleId>{5C22544A-7EE6-4342-B048-85BDC9FD1C3A}</a:tableStyleId>
              </a:tblPr>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745736">
                  <a:extLst>
                    <a:ext uri="{9D8B030D-6E8A-4147-A177-3AD203B41FA5}">
                      <a16:colId xmlns:a16="http://schemas.microsoft.com/office/drawing/2014/main" val="20002"/>
                    </a:ext>
                  </a:extLst>
                </a:gridCol>
              </a:tblGrid>
              <a:tr h="457200">
                <a:tc>
                  <a:txBody>
                    <a:bodyPr/>
                    <a:lstStyle/>
                    <a:p>
                      <a:pPr algn="l"/>
                      <a:r>
                        <a:rPr sz="1350" b="1">
                          <a:solidFill>
                            <a:srgbClr val="FFFFFF"/>
                          </a:solidFill>
                          <a:latin typeface="Meiryo"/>
                          <a:ea typeface="Meiryo"/>
                          <a:cs typeface="Meiryo"/>
                        </a:rPr>
                        <a:t>時期</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4種すべて正になる角の数</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その例（千トン）</a:t>
                      </a:r>
                    </a:p>
                  </a:txBody>
                  <a:tcPr marR="73152" marT="27432" marB="27432" anchor="ctr">
                    <a:solidFill>
                      <a:srgbClr val="1F4E79"/>
                    </a:solidFill>
                  </a:tcPr>
                </a:tc>
                <a:extLst>
                  <a:ext uri="{0D108BD9-81ED-4DB2-BD59-A6C34878D82A}">
                    <a16:rowId xmlns:a16="http://schemas.microsoft.com/office/drawing/2014/main" val="10000"/>
                  </a:ext>
                </a:extLst>
              </a:tr>
              <a:tr h="566928">
                <a:tc>
                  <a:txBody>
                    <a:bodyPr/>
                    <a:lstStyle/>
                    <a:p>
                      <a:pPr algn="l"/>
                      <a:r>
                        <a:rPr sz="1350" b="0">
                          <a:solidFill>
                            <a:srgbClr val="222222"/>
                          </a:solidFill>
                          <a:latin typeface="Meiryo"/>
                          <a:ea typeface="Meiryo"/>
                          <a:cs typeface="Meiryo"/>
                        </a:rPr>
                        <a:t>大蛇行なし</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16点のうち 1点（f＝0, 0, 0.95, 0.95）</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237.1 ／ 2.1 ／ 857.8 ／ 6.3</a:t>
                      </a:r>
                    </a:p>
                  </a:txBody>
                  <a:tcPr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350" b="0">
                          <a:solidFill>
                            <a:srgbClr val="222222"/>
                          </a:solidFill>
                          <a:latin typeface="Meiryo"/>
                          <a:ea typeface="Meiryo"/>
                          <a:cs typeface="Meiryo"/>
                        </a:rPr>
                        <a:t>大蛇行</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16点のうち 4点（1つの面がまるごと）</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21.4 ／ 1494.2 ／ 390.9 ／ 9.1</a:t>
                      </a:r>
                    </a:p>
                  </a:txBody>
                  <a:tcPr marR="73152" marT="27432" marB="27432" anchor="ctr">
                    <a:solidFill>
                      <a:srgbClr val="F2F5F9"/>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66928" y="3154680"/>
            <a:ext cx="11057839" cy="2194560"/>
          </a:xfrm>
          <a:prstGeom prst="rect">
            <a:avLst/>
          </a:prstGeom>
          <a:noFill/>
        </p:spPr>
        <p:txBody>
          <a:bodyPr wrap="square" lIns="0" tIns="0" rIns="0" bIns="0" anchor="t">
            <a:spAutoFit/>
          </a:bodyPr>
          <a:lstStyle/>
          <a:p>
            <a:pPr algn="l">
              <a:lnSpc>
                <a:spcPct val="132000"/>
              </a:lnSpc>
              <a:spcAft>
                <a:spcPts val="900"/>
              </a:spcAft>
            </a:pPr>
            <a:r>
              <a:rPr sz="1550" b="0">
                <a:solidFill>
                  <a:srgbClr val="222222"/>
                </a:solidFill>
                <a:latin typeface="Meiryo"/>
                <a:ea typeface="Meiryo"/>
                <a:cs typeface="Meiryo"/>
              </a:rPr>
              <a:t>※「その例」の並びは マアジ／ウルメイワシ／ブリ／サワラ。</a:t>
            </a:r>
          </a:p>
          <a:p>
            <a:pPr algn="l">
              <a:lnSpc>
                <a:spcPct val="132000"/>
              </a:lnSpc>
              <a:spcAft>
                <a:spcPts val="900"/>
              </a:spcAft>
            </a:pPr>
            <a:r>
              <a:rPr sz="1550" b="0">
                <a:solidFill>
                  <a:srgbClr val="222222"/>
                </a:solidFill>
                <a:latin typeface="Meiryo"/>
                <a:ea typeface="Meiryo"/>
                <a:cs typeface="Meiryo"/>
              </a:rPr>
              <a:t>釣り合いの量は漁獲率の一次式なので、正になる漁獲率の集まりは平らな面で囲まれた領域になる。大蛇行では角4点すべてが正なので、その面はまるごと正である。</a:t>
            </a:r>
          </a:p>
          <a:p>
            <a:pPr algn="l">
              <a:lnSpc>
                <a:spcPct val="132000"/>
              </a:lnSpc>
              <a:spcAft>
                <a:spcPts val="900"/>
              </a:spcAft>
            </a:pPr>
            <a:r>
              <a:rPr sz="1550" b="0">
                <a:solidFill>
                  <a:srgbClr val="222222"/>
                </a:solidFill>
                <a:latin typeface="Meiryo"/>
                <a:ea typeface="Meiryo"/>
                <a:cs typeface="Meiryo"/>
              </a:rPr>
              <a:t>観測されている漁獲ゼロの点は、その領域の外側にある、という言い方が正確。</a:t>
            </a:r>
          </a:p>
          <a:p>
            <a:pPr algn="l">
              <a:lnSpc>
                <a:spcPct val="132000"/>
              </a:lnSpc>
              <a:spcAft>
                <a:spcPts val="900"/>
              </a:spcAft>
            </a:pPr>
            <a:r>
              <a:rPr sz="1550" b="0">
                <a:solidFill>
                  <a:srgbClr val="C0561A"/>
                </a:solidFill>
                <a:latin typeface="Meiryo"/>
                <a:ea typeface="Meiryo"/>
                <a:cs typeface="Meiryo"/>
              </a:rPr>
              <a:t>今後の課題：この「正になる領域」と、実際に持続の条件を満たすと判定される漁獲率の領域が重なるかどうかは、まだ突き合わせていない。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［予備］内側をいくら探しても、角を超えない</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19</a:t>
            </a:r>
          </a:p>
        </p:txBody>
      </p:sp>
      <p:pic>
        <p:nvPicPr>
          <p:cNvPr id="4" name="Picture 3" descr="12_角と内側.png"/>
          <p:cNvPicPr>
            <a:picLocks noChangeAspect="1"/>
          </p:cNvPicPr>
          <p:nvPr/>
        </p:nvPicPr>
        <p:blipFill>
          <a:blip r:embed="rId2"/>
          <a:stretch>
            <a:fillRect/>
          </a:stretch>
        </p:blipFill>
        <p:spPr>
          <a:xfrm>
            <a:off x="2377440" y="1280160"/>
            <a:ext cx="7406640" cy="3063240"/>
          </a:xfrm>
          <a:prstGeom prst="rect">
            <a:avLst/>
          </a:prstGeom>
        </p:spPr>
      </p:pic>
      <p:sp>
        <p:nvSpPr>
          <p:cNvPr id="5" name="figlabel"/>
          <p:cNvSpPr txBox="1"/>
          <p:nvPr/>
        </p:nvSpPr>
        <p:spPr>
          <a:xfrm>
            <a:off x="4896840" y="1385133"/>
            <a:ext cx="2960370" cy="241173"/>
          </a:xfrm>
          <a:prstGeom prst="rect">
            <a:avLst/>
          </a:prstGeom>
          <a:noFill/>
        </p:spPr>
        <p:txBody>
          <a:bodyPr wrap="none" lIns="0" tIns="0" rIns="0" bIns="0" anchor="ctr">
            <a:spAutoFit/>
          </a:bodyPr>
          <a:lstStyle/>
          <a:p>
            <a:pPr algn="ctr">
              <a:lnSpc>
                <a:spcPct val="120000"/>
              </a:lnSpc>
              <a:spcAft>
                <a:spcPts val="0"/>
              </a:spcAft>
            </a:pPr>
            <a:r>
              <a:rPr sz="1350" b="0">
                <a:solidFill>
                  <a:srgbClr val="222222"/>
                </a:solidFill>
                <a:latin typeface="Meiryo"/>
                <a:ea typeface="Meiryo"/>
                <a:cs typeface="Meiryo"/>
              </a:rPr>
              <a:t>内側をいくら探しても、角を超えない</a:t>
            </a:r>
          </a:p>
        </p:txBody>
      </p:sp>
      <p:sp>
        <p:nvSpPr>
          <p:cNvPr id="6" name="figlabel"/>
          <p:cNvSpPr txBox="1"/>
          <p:nvPr/>
        </p:nvSpPr>
        <p:spPr>
          <a:xfrm>
            <a:off x="6838459" y="1705556"/>
            <a:ext cx="1655064"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内側を2万点さがした最大</a:t>
            </a:r>
          </a:p>
        </p:txBody>
      </p:sp>
      <p:sp>
        <p:nvSpPr>
          <p:cNvPr id="7" name="figlabel"/>
          <p:cNvSpPr txBox="1"/>
          <p:nvPr/>
        </p:nvSpPr>
        <p:spPr>
          <a:xfrm>
            <a:off x="6838459" y="1906811"/>
            <a:ext cx="889508"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角16点の最大</a:t>
            </a:r>
          </a:p>
        </p:txBody>
      </p:sp>
      <p:sp>
        <p:nvSpPr>
          <p:cNvPr id="8" name="figlabel"/>
          <p:cNvSpPr txBox="1"/>
          <p:nvPr/>
        </p:nvSpPr>
        <p:spPr>
          <a:xfrm>
            <a:off x="4309313" y="4052851"/>
            <a:ext cx="83947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大蛇行なし</a:t>
            </a:r>
          </a:p>
        </p:txBody>
      </p:sp>
      <p:sp>
        <p:nvSpPr>
          <p:cNvPr id="9" name="figlabel"/>
          <p:cNvSpPr txBox="1"/>
          <p:nvPr/>
        </p:nvSpPr>
        <p:spPr>
          <a:xfrm>
            <a:off x="7764017" y="4052851"/>
            <a:ext cx="52197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大蛇行</a:t>
            </a:r>
          </a:p>
        </p:txBody>
      </p:sp>
      <p:sp>
        <p:nvSpPr>
          <p:cNvPr id="10" name="figlabel"/>
          <p:cNvSpPr txBox="1"/>
          <p:nvPr/>
        </p:nvSpPr>
        <p:spPr>
          <a:xfrm>
            <a:off x="2407066" y="1326108"/>
            <a:ext cx="1722120" cy="199898"/>
          </a:xfrm>
          <a:prstGeom prst="rect">
            <a:avLst/>
          </a:prstGeom>
          <a:noFill/>
        </p:spPr>
        <p:txBody>
          <a:bodyPr wrap="none" lIns="0" tIns="0" rIns="0" bIns="0" anchor="ctr">
            <a:spAutoFit/>
          </a:bodyPr>
          <a:lstStyle/>
          <a:p>
            <a:pPr algn="l">
              <a:lnSpc>
                <a:spcPct val="120000"/>
              </a:lnSpc>
              <a:spcAft>
                <a:spcPts val="0"/>
              </a:spcAft>
            </a:pPr>
            <a:r>
              <a:rPr sz="1100" b="0">
                <a:solidFill>
                  <a:srgbClr val="6E6E6E"/>
                </a:solidFill>
                <a:latin typeface="Meiryo"/>
                <a:ea typeface="Meiryo"/>
                <a:cs typeface="Meiryo"/>
              </a:rPr>
              <a:t>縦軸：とれる量（千トン）</a:t>
            </a:r>
          </a:p>
        </p:txBody>
      </p:sp>
      <p:sp>
        <p:nvSpPr>
          <p:cNvPr id="11" name="TextBox 10"/>
          <p:cNvSpPr txBox="1"/>
          <p:nvPr/>
        </p:nvSpPr>
        <p:spPr>
          <a:xfrm>
            <a:off x="566928" y="4892040"/>
            <a:ext cx="11057839" cy="1280160"/>
          </a:xfrm>
          <a:prstGeom prst="rect">
            <a:avLst/>
          </a:prstGeom>
          <a:noFill/>
        </p:spPr>
        <p:txBody>
          <a:bodyPr wrap="square" lIns="0" tIns="0" rIns="0" bIns="0" anchor="t">
            <a:spAutoFit/>
          </a:bodyPr>
          <a:lstStyle/>
          <a:p>
            <a:pPr algn="l">
              <a:lnSpc>
                <a:spcPct val="132000"/>
              </a:lnSpc>
              <a:spcAft>
                <a:spcPts val="600"/>
              </a:spcAft>
            </a:pPr>
            <a:r>
              <a:rPr sz="1600" b="0">
                <a:solidFill>
                  <a:srgbClr val="222222"/>
                </a:solidFill>
                <a:latin typeface="Meiryo"/>
                <a:ea typeface="Meiryo"/>
                <a:cs typeface="Meiryo"/>
              </a:rPr>
              <a:t>・自分の漁獲率に対する自分の釣り合いの量の変化は、両時期とも厳密に 0。</a:t>
            </a:r>
          </a:p>
          <a:p>
            <a:pPr algn="l">
              <a:lnSpc>
                <a:spcPct val="132000"/>
              </a:lnSpc>
              <a:spcAft>
                <a:spcPts val="600"/>
              </a:spcAft>
            </a:pPr>
            <a:r>
              <a:rPr sz="1600" b="0">
                <a:solidFill>
                  <a:srgbClr val="222222"/>
                </a:solidFill>
                <a:latin typeface="Meiryo"/>
                <a:ea typeface="Meiryo"/>
                <a:cs typeface="Meiryo"/>
              </a:rPr>
              <a:t>・とれる量を漁獲率の各方向で2回差分すると、計算機の精度でゼロ（＝直線）。</a:t>
            </a:r>
          </a:p>
          <a:p>
            <a:pPr algn="l">
              <a:lnSpc>
                <a:spcPct val="132000"/>
              </a:lnSpc>
              <a:spcAft>
                <a:spcPts val="600"/>
              </a:spcAft>
            </a:pPr>
            <a:r>
              <a:rPr sz="1600" b="0">
                <a:solidFill>
                  <a:srgbClr val="222222"/>
                </a:solidFill>
                <a:latin typeface="Meiryo"/>
                <a:ea typeface="Meiryo"/>
                <a:cs typeface="Meiryo"/>
              </a:rPr>
              <a:t>・角16点の最大が、内側にとった2万点の最大を上回る。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［予備］4種すべてに同じ漁獲率をかけた場合</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20</a:t>
            </a:r>
          </a:p>
        </p:txBody>
      </p:sp>
      <p:graphicFrame>
        <p:nvGraphicFramePr>
          <p:cNvPr id="4" name="Table 3"/>
          <p:cNvGraphicFramePr>
            <a:graphicFrameLocks noGrp="1"/>
          </p:cNvGraphicFramePr>
          <p:nvPr/>
        </p:nvGraphicFramePr>
        <p:xfrm>
          <a:off x="566928" y="1280160"/>
          <a:ext cx="11055096" cy="2240280"/>
        </p:xfrm>
        <a:graphic>
          <a:graphicData uri="http://schemas.openxmlformats.org/drawingml/2006/table">
            <a:tbl>
              <a:tblPr firstRow="1">
                <a:tableStyleId>{5C22544A-7EE6-4342-B048-85BDC9FD1C3A}</a:tableStyleId>
              </a:tblPr>
              <a:tblGrid>
                <a:gridCol w="2286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3145536">
                  <a:extLst>
                    <a:ext uri="{9D8B030D-6E8A-4147-A177-3AD203B41FA5}">
                      <a16:colId xmlns:a16="http://schemas.microsoft.com/office/drawing/2014/main" val="20003"/>
                    </a:ext>
                  </a:extLst>
                </a:gridCol>
              </a:tblGrid>
              <a:tr h="411480">
                <a:tc>
                  <a:txBody>
                    <a:bodyPr/>
                    <a:lstStyle/>
                    <a:p>
                      <a:pPr algn="l"/>
                      <a:r>
                        <a:rPr sz="1350" b="1">
                          <a:solidFill>
                            <a:srgbClr val="FFFFFF"/>
                          </a:solidFill>
                          <a:latin typeface="Meiryo"/>
                          <a:ea typeface="Meiryo"/>
                          <a:cs typeface="Meiryo"/>
                        </a:rPr>
                        <a:t>魚の組み合わせ</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時期</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最も多くとれる漁獲率</a:t>
                      </a:r>
                    </a:p>
                  </a:txBody>
                  <a:tcPr marR="73152" marT="27432" marB="27432" anchor="ctr">
                    <a:solidFill>
                      <a:srgbClr val="1F4E79"/>
                    </a:solidFill>
                  </a:tcPr>
                </a:tc>
                <a:tc>
                  <a:txBody>
                    <a:bodyPr/>
                    <a:lstStyle/>
                    <a:p>
                      <a:pPr algn="l"/>
                      <a:r>
                        <a:rPr sz="1350" b="1">
                          <a:solidFill>
                            <a:srgbClr val="FFFFFF"/>
                          </a:solidFill>
                          <a:latin typeface="Meiryo"/>
                          <a:ea typeface="Meiryo"/>
                          <a:cs typeface="Meiryo"/>
                        </a:rPr>
                        <a:t>そのときの量（千トン／年）</a:t>
                      </a:r>
                    </a:p>
                  </a:txBody>
                  <a:tcPr marR="73152" marT="27432" marB="27432" anchor="ctr">
                    <a:solidFill>
                      <a:srgbClr val="1F4E79"/>
                    </a:solidFill>
                  </a:tcPr>
                </a:tc>
                <a:extLst>
                  <a:ext uri="{0D108BD9-81ED-4DB2-BD59-A6C34878D82A}">
                    <a16:rowId xmlns:a16="http://schemas.microsoft.com/office/drawing/2014/main" val="10000"/>
                  </a:ext>
                </a:extLst>
              </a:tr>
              <a:tr h="457200">
                <a:tc>
                  <a:txBody>
                    <a:bodyPr/>
                    <a:lstStyle/>
                    <a:p>
                      <a:pPr algn="l"/>
                      <a:r>
                        <a:rPr sz="1350" b="0">
                          <a:solidFill>
                            <a:srgbClr val="222222"/>
                          </a:solidFill>
                          <a:latin typeface="Meiryo"/>
                          <a:ea typeface="Meiryo"/>
                          <a:cs typeface="Meiryo"/>
                        </a:rPr>
                        <a:t>マアジ版</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大蛇行なし</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0.373（内側に山がある）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161.1</a:t>
                      </a:r>
                    </a:p>
                  </a:txBody>
                  <a:tcPr marR="73152"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350" b="0">
                          <a:solidFill>
                            <a:srgbClr val="222222"/>
                          </a:solidFill>
                          <a:latin typeface="Meiryo"/>
                          <a:ea typeface="Meiryo"/>
                          <a:cs typeface="Meiryo"/>
                        </a:rPr>
                        <a:t>マアジ版</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大蛇行</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0.95（上限に張り付く）</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232.9</a:t>
                      </a:r>
                    </a:p>
                  </a:txBody>
                  <a:tcPr marR="73152" marT="27432" marB="27432" anchor="ctr">
                    <a:solidFill>
                      <a:srgbClr val="F2F5F9"/>
                    </a:solidFill>
                  </a:tcPr>
                </a:tc>
                <a:extLst>
                  <a:ext uri="{0D108BD9-81ED-4DB2-BD59-A6C34878D82A}">
                    <a16:rowId xmlns:a16="http://schemas.microsoft.com/office/drawing/2014/main" val="10002"/>
                  </a:ext>
                </a:extLst>
              </a:tr>
              <a:tr h="457200">
                <a:tc>
                  <a:txBody>
                    <a:bodyPr/>
                    <a:lstStyle/>
                    <a:p>
                      <a:pPr algn="l"/>
                      <a:r>
                        <a:rPr sz="1350" b="0">
                          <a:solidFill>
                            <a:srgbClr val="222222"/>
                          </a:solidFill>
                          <a:latin typeface="Meiryo"/>
                          <a:ea typeface="Meiryo"/>
                          <a:cs typeface="Meiryo"/>
                        </a:rPr>
                        <a:t>マイワシ版</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大蛇行なし</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0.228（内側に山がある）</a:t>
                      </a:r>
                    </a:p>
                  </a:txBody>
                  <a:tcPr marR="73152" marT="27432" marB="27432" anchor="ctr">
                    <a:solidFill>
                      <a:srgbClr val="FFFFFF"/>
                    </a:solidFill>
                  </a:tcPr>
                </a:tc>
                <a:tc>
                  <a:txBody>
                    <a:bodyPr/>
                    <a:lstStyle/>
                    <a:p>
                      <a:pPr algn="l"/>
                      <a:r>
                        <a:rPr sz="1350" b="0">
                          <a:solidFill>
                            <a:srgbClr val="222222"/>
                          </a:solidFill>
                          <a:latin typeface="Meiryo"/>
                          <a:ea typeface="Meiryo"/>
                          <a:cs typeface="Meiryo"/>
                        </a:rPr>
                        <a:t>―</a:t>
                      </a:r>
                    </a:p>
                  </a:txBody>
                  <a:tcPr marR="73152" marT="27432" marB="27432" anchor="ctr">
                    <a:solidFill>
                      <a:srgbClr val="FFFFFF"/>
                    </a:solidFill>
                  </a:tcPr>
                </a:tc>
                <a:extLst>
                  <a:ext uri="{0D108BD9-81ED-4DB2-BD59-A6C34878D82A}">
                    <a16:rowId xmlns:a16="http://schemas.microsoft.com/office/drawing/2014/main" val="10003"/>
                  </a:ext>
                </a:extLst>
              </a:tr>
              <a:tr h="457200">
                <a:tc>
                  <a:txBody>
                    <a:bodyPr/>
                    <a:lstStyle/>
                    <a:p>
                      <a:pPr algn="l"/>
                      <a:r>
                        <a:rPr sz="1350" b="0">
                          <a:solidFill>
                            <a:srgbClr val="222222"/>
                          </a:solidFill>
                          <a:latin typeface="Meiryo"/>
                          <a:ea typeface="Meiryo"/>
                          <a:cs typeface="Meiryo"/>
                        </a:rPr>
                        <a:t>マイワシ版</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大蛇行</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0.95（上限に張り付く）</a:t>
                      </a:r>
                    </a:p>
                  </a:txBody>
                  <a:tcPr marR="73152" marT="27432" marB="27432" anchor="ctr">
                    <a:solidFill>
                      <a:srgbClr val="F2F5F9"/>
                    </a:solidFill>
                  </a:tcPr>
                </a:tc>
                <a:tc>
                  <a:txBody>
                    <a:bodyPr/>
                    <a:lstStyle/>
                    <a:p>
                      <a:pPr algn="l"/>
                      <a:r>
                        <a:rPr sz="1350" b="0">
                          <a:solidFill>
                            <a:srgbClr val="222222"/>
                          </a:solidFill>
                          <a:latin typeface="Meiryo"/>
                          <a:ea typeface="Meiryo"/>
                          <a:cs typeface="Meiryo"/>
                        </a:rPr>
                        <a:t>―</a:t>
                      </a:r>
                    </a:p>
                  </a:txBody>
                  <a:tcPr marR="73152" marT="27432" marB="27432" anchor="ctr">
                    <a:solidFill>
                      <a:srgbClr val="F2F5F9"/>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66928" y="3977639"/>
            <a:ext cx="11057839" cy="1737360"/>
          </a:xfrm>
          <a:prstGeom prst="rect">
            <a:avLst/>
          </a:prstGeom>
          <a:noFill/>
        </p:spPr>
        <p:txBody>
          <a:bodyPr wrap="square" lIns="0" tIns="0" rIns="0" bIns="0" anchor="t">
            <a:spAutoFit/>
          </a:bodyPr>
          <a:lstStyle/>
          <a:p>
            <a:pPr algn="l">
              <a:lnSpc>
                <a:spcPct val="132000"/>
              </a:lnSpc>
              <a:spcAft>
                <a:spcPts val="900"/>
              </a:spcAft>
            </a:pPr>
            <a:r>
              <a:rPr sz="1550" b="0">
                <a:solidFill>
                  <a:srgbClr val="222222"/>
                </a:solidFill>
                <a:latin typeface="Meiryo"/>
                <a:ea typeface="Meiryo"/>
                <a:cs typeface="Meiryo"/>
              </a:rPr>
              <a:t>4種に同じ漁獲率をかけると1つの変数の問題になり、大蛇行なしでは内側に山が現れる。しかし大蛇行では上限に張り付いたままで、山の有無が時期で逆転する。</a:t>
            </a:r>
          </a:p>
          <a:p>
            <a:pPr algn="l">
              <a:lnSpc>
                <a:spcPct val="132000"/>
              </a:lnSpc>
              <a:spcAft>
                <a:spcPts val="900"/>
              </a:spcAft>
            </a:pPr>
            <a:r>
              <a:rPr sz="1550" b="0">
                <a:solidFill>
                  <a:srgbClr val="222222"/>
                </a:solidFill>
                <a:latin typeface="Meiryo"/>
                <a:ea typeface="Meiryo"/>
                <a:cs typeface="Meiryo"/>
              </a:rPr>
              <a:t>この山は混み合いが作るものではなく、「全種同じ漁獲率」という縛りと段のつながりが作る見かけの山。魚種の重みづけ（同じ重み）の決め方しだいで動くため、生き物の側の量ではない。</a:t>
            </a:r>
          </a:p>
          <a:p>
            <a:pPr algn="l">
              <a:lnSpc>
                <a:spcPct val="132000"/>
              </a:lnSpc>
              <a:spcAft>
                <a:spcPts val="900"/>
              </a:spcAft>
            </a:pPr>
            <a:r>
              <a:rPr sz="1550" b="1">
                <a:solidFill>
                  <a:srgbClr val="C0561A"/>
                </a:solidFill>
                <a:latin typeface="Meiryo"/>
                <a:ea typeface="Meiryo"/>
                <a:cs typeface="Meiryo"/>
              </a:rPr>
              <a:t>よって、主となる MSY の定義には採らない。</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［予備］餌の魚をマイワシに替えても結論は同じ</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21</a:t>
            </a:r>
          </a:p>
        </p:txBody>
      </p:sp>
      <p:sp>
        <p:nvSpPr>
          <p:cNvPr id="4" name="TextBox 3"/>
          <p:cNvSpPr txBox="1"/>
          <p:nvPr/>
        </p:nvSpPr>
        <p:spPr>
          <a:xfrm>
            <a:off x="566928" y="1280160"/>
            <a:ext cx="11057839" cy="3291840"/>
          </a:xfrm>
          <a:prstGeom prst="rect">
            <a:avLst/>
          </a:prstGeom>
          <a:noFill/>
        </p:spPr>
        <p:txBody>
          <a:bodyPr wrap="square" lIns="0" tIns="0" rIns="0" bIns="0" anchor="t">
            <a:spAutoFit/>
          </a:bodyPr>
          <a:lstStyle/>
          <a:p>
            <a:pPr algn="l">
              <a:lnSpc>
                <a:spcPct val="132000"/>
              </a:lnSpc>
              <a:spcAft>
                <a:spcPts val="1300"/>
              </a:spcAft>
            </a:pPr>
            <a:r>
              <a:rPr sz="1700" b="0">
                <a:solidFill>
                  <a:srgbClr val="222222"/>
                </a:solidFill>
                <a:latin typeface="Meiryo"/>
                <a:ea typeface="Meiryo"/>
                <a:cs typeface="Meiryo"/>
              </a:rPr>
              <a:t>・本研究では餌の魚 x1 をマアジにしているが、これはマイワシから置き換えたもの。</a:t>
            </a:r>
          </a:p>
          <a:p>
            <a:pPr algn="l">
              <a:lnSpc>
                <a:spcPct val="132000"/>
              </a:lnSpc>
              <a:spcAft>
                <a:spcPts val="1300"/>
              </a:spcAft>
            </a:pPr>
            <a:r>
              <a:rPr sz="1700" b="0">
                <a:solidFill>
                  <a:srgbClr val="222222"/>
                </a:solidFill>
                <a:latin typeface="Meiryo"/>
                <a:ea typeface="Meiryo"/>
                <a:cs typeface="Meiryo"/>
              </a:rPr>
              <a:t>・マイワシは1種ずつの解析が通常の条件で解けず、例外の設定が必要だったため置き換えた。</a:t>
            </a:r>
          </a:p>
          <a:p>
            <a:pPr algn="l">
              <a:lnSpc>
                <a:spcPct val="132000"/>
              </a:lnSpc>
              <a:spcAft>
                <a:spcPts val="1300"/>
              </a:spcAft>
            </a:pPr>
            <a:r>
              <a:rPr sz="1700" b="0">
                <a:solidFill>
                  <a:srgbClr val="222222"/>
                </a:solidFill>
                <a:latin typeface="Meiryo"/>
                <a:ea typeface="Meiryo"/>
                <a:cs typeface="Meiryo"/>
              </a:rPr>
              <a:t>・置き換える前のマイワシ版でも、後半の結論は変わらない。　上限に張り付くこと、漁獲ゼロの釣り合いが正にならないこと、いずれも同じ。</a:t>
            </a:r>
          </a:p>
          <a:p>
            <a:pPr algn="l">
              <a:lnSpc>
                <a:spcPct val="132000"/>
              </a:lnSpc>
              <a:spcAft>
                <a:spcPts val="1300"/>
              </a:spcAft>
            </a:pPr>
            <a:r>
              <a:rPr sz="1700" b="1">
                <a:solidFill>
                  <a:srgbClr val="C0561A"/>
                </a:solidFill>
                <a:latin typeface="Meiryo"/>
                <a:ea typeface="Meiryo"/>
                <a:cs typeface="Meiryo"/>
              </a:rPr>
              <a:t>・よって、結論は魚種の選び方に左右されない。</a:t>
            </a:r>
          </a:p>
        </p:txBody>
      </p:sp>
      <p:sp>
        <p:nvSpPr>
          <p:cNvPr id="5" name="Rectangle 4"/>
          <p:cNvSpPr/>
          <p:nvPr/>
        </p:nvSpPr>
        <p:spPr>
          <a:xfrm>
            <a:off x="566928" y="4709160"/>
            <a:ext cx="11057839" cy="1005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68096" y="4864608"/>
            <a:ext cx="10655503" cy="731520"/>
          </a:xfrm>
          <a:prstGeom prst="rect">
            <a:avLst/>
          </a:prstGeom>
          <a:noFill/>
        </p:spPr>
        <p:txBody>
          <a:bodyPr wrap="square" lIns="0" tIns="0" rIns="0" bIns="0" anchor="t">
            <a:spAutoFit/>
          </a:bodyPr>
          <a:lstStyle/>
          <a:p>
            <a:pPr algn="l">
              <a:lnSpc>
                <a:spcPct val="132000"/>
              </a:lnSpc>
              <a:spcAft>
                <a:spcPts val="600"/>
              </a:spcAft>
            </a:pPr>
            <a:r>
              <a:rPr sz="1500" b="0">
                <a:solidFill>
                  <a:srgbClr val="222222"/>
                </a:solidFill>
                <a:latin typeface="Meiryo"/>
                <a:ea typeface="Meiryo"/>
                <a:cs typeface="Meiryo"/>
              </a:rPr>
              <a:t>マアジの資源量と漁獲量は水産研究・教育機構「令和7年度 マアジ太平洋系群の資源評価」（1982〜2024年）から取得。1種ずつの解析と多種の式で同じデータを使っている。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［予備］漁獲率 f の作り方と、上限 0.95 の扱い</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22</a:t>
            </a:r>
          </a:p>
        </p:txBody>
      </p:sp>
      <p:sp>
        <p:nvSpPr>
          <p:cNvPr id="4" name="TextBox 3"/>
          <p:cNvSpPr txBox="1"/>
          <p:nvPr/>
        </p:nvSpPr>
        <p:spPr>
          <a:xfrm>
            <a:off x="566928" y="1280160"/>
            <a:ext cx="11057839" cy="3520440"/>
          </a:xfrm>
          <a:prstGeom prst="rect">
            <a:avLst/>
          </a:prstGeom>
          <a:noFill/>
        </p:spPr>
        <p:txBody>
          <a:bodyPr wrap="square" lIns="0" tIns="0" rIns="0" bIns="0" anchor="t">
            <a:spAutoFit/>
          </a:bodyPr>
          <a:lstStyle/>
          <a:p>
            <a:pPr algn="l">
              <a:lnSpc>
                <a:spcPct val="132000"/>
              </a:lnSpc>
              <a:spcAft>
                <a:spcPts val="1300"/>
              </a:spcAft>
            </a:pPr>
            <a:r>
              <a:rPr sz="1650" b="0">
                <a:solidFill>
                  <a:srgbClr val="222222"/>
                </a:solidFill>
                <a:latin typeface="Meiryo"/>
                <a:ea typeface="Meiryo"/>
                <a:cs typeface="Meiryo"/>
              </a:rPr>
              <a:t>・f ＝ その年の漁獲量 ÷ その年の資源量。推定する値ではなく、データから直接計算する。</a:t>
            </a:r>
          </a:p>
          <a:p>
            <a:pPr algn="l">
              <a:lnSpc>
                <a:spcPct val="132000"/>
              </a:lnSpc>
              <a:spcAft>
                <a:spcPts val="1300"/>
              </a:spcAft>
            </a:pPr>
            <a:r>
              <a:rPr sz="1650" b="0">
                <a:solidFill>
                  <a:srgbClr val="222222"/>
                </a:solidFill>
                <a:latin typeface="Meiryo"/>
                <a:ea typeface="Meiryo"/>
                <a:cs typeface="Meiryo"/>
              </a:rPr>
              <a:t>・資源量は資源評価の出力なので、f の誤差は資源量の誤差と連動する。ここは限界として認める。</a:t>
            </a:r>
          </a:p>
          <a:p>
            <a:pPr algn="l">
              <a:lnSpc>
                <a:spcPct val="132000"/>
              </a:lnSpc>
              <a:spcAft>
                <a:spcPts val="1300"/>
              </a:spcAft>
            </a:pPr>
            <a:r>
              <a:rPr sz="1650" b="0">
                <a:solidFill>
                  <a:srgbClr val="222222"/>
                </a:solidFill>
                <a:latin typeface="Meiryo"/>
                <a:ea typeface="Meiryo"/>
                <a:cs typeface="Meiryo"/>
              </a:rPr>
              <a:t>・1 を超えないよう 0.95 で頭を打たせている。この 0.95 に生き物の側の根拠はない。</a:t>
            </a:r>
          </a:p>
          <a:p>
            <a:pPr algn="l">
              <a:lnSpc>
                <a:spcPct val="132000"/>
              </a:lnSpc>
              <a:spcAft>
                <a:spcPts val="1300"/>
              </a:spcAft>
            </a:pPr>
            <a:r>
              <a:rPr sz="1650" b="1">
                <a:solidFill>
                  <a:srgbClr val="C0561A"/>
                </a:solidFill>
                <a:latin typeface="Meiryo"/>
                <a:ea typeface="Meiryo"/>
                <a:cs typeface="Meiryo"/>
              </a:rPr>
              <a:t>・結果2が示すのは、まさにこの 0.95 という設定が答えを決めてしまうということ。管理の基準として使うなら、漁具や操業の物理的な上限など、根拠のある値を置く必要がある。</a:t>
            </a:r>
          </a:p>
        </p:txBody>
      </p:sp>
      <p:sp>
        <p:nvSpPr>
          <p:cNvPr id="5" name="Rectangle 4"/>
          <p:cNvSpPr/>
          <p:nvPr/>
        </p:nvSpPr>
        <p:spPr>
          <a:xfrm>
            <a:off x="566928" y="4983480"/>
            <a:ext cx="11057839" cy="9144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68096" y="5138928"/>
            <a:ext cx="10655503" cy="640080"/>
          </a:xfrm>
          <a:prstGeom prst="rect">
            <a:avLst/>
          </a:prstGeom>
          <a:noFill/>
        </p:spPr>
        <p:txBody>
          <a:bodyPr wrap="square" lIns="0" tIns="0" rIns="0" bIns="0" anchor="t">
            <a:spAutoFit/>
          </a:bodyPr>
          <a:lstStyle/>
          <a:p>
            <a:pPr algn="l">
              <a:lnSpc>
                <a:spcPct val="132000"/>
              </a:lnSpc>
              <a:spcAft>
                <a:spcPts val="600"/>
              </a:spcAft>
            </a:pPr>
            <a:r>
              <a:rPr sz="1550" b="0">
                <a:solidFill>
                  <a:srgbClr val="222222"/>
                </a:solidFill>
                <a:latin typeface="Meiryo"/>
                <a:ea typeface="Meiryo"/>
                <a:cs typeface="Meiryo"/>
              </a:rPr>
              <a:t>1994〜2024年の平均：マアジ 0.431／ウルメイワシ 0.113／ブリ 0.374／サワラ 0.363。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［予備］有限の期間 T で測っても、同じ結論になる</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23</a:t>
            </a:r>
          </a:p>
        </p:txBody>
      </p:sp>
      <p:sp>
        <p:nvSpPr>
          <p:cNvPr id="4" name="TextBox 3"/>
          <p:cNvSpPr txBox="1"/>
          <p:nvPr/>
        </p:nvSpPr>
        <p:spPr>
          <a:xfrm>
            <a:off x="566928" y="1133856"/>
            <a:ext cx="576072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① 1匹あたりの式を 0〜T で積分して T で割る</a:t>
            </a:r>
          </a:p>
        </p:txBody>
      </p:sp>
      <mc:AlternateContent xmlns:mc="http://schemas.openxmlformats.org/markup-compatibility/2006">
        <mc:Choice xmlns:a14="http://schemas.microsoft.com/office/drawing/2010/main" Requires="a14">
          <p:sp>
            <p:nvSpPr>
              <p:cNvPr id="5" name="TextBox 4"/>
              <p:cNvSpPr txBox="1"/>
              <p:nvPr/>
            </p:nvSpPr>
            <p:spPr>
              <a:xfrm>
                <a:off x="704088" y="1463040"/>
                <a:ext cx="5623560" cy="1627632"/>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500" b="0" i="1" dirty="0">
                              <a:solidFill>
                                <a:srgbClr val="222222"/>
                              </a:solidFill>
                              <a:latin typeface="Cambria Math" panose="02040503050406030204" pitchFamily="18" charset="0"/>
                            </a:rPr>
                          </m:ctrlPr>
                        </m:sSubPr>
                        <m:e>
                          <m:bar>
                            <m:barPr>
                              <m:pos m:val="top"/>
                              <m:ctrlPr>
                                <a:rPr lang="en-US" sz="1500" b="0" i="1" dirty="0">
                                  <a:solidFill>
                                    <a:srgbClr val="222222"/>
                                  </a:solidFill>
                                  <a:latin typeface="Cambria Math" panose="02040503050406030204" pitchFamily="18" charset="0"/>
                                </a:rPr>
                              </m:ctrlPr>
                            </m:barPr>
                            <m:e>
                              <m:r>
                                <a:rPr lang="en-US" sz="1500" b="0" i="1" dirty="0">
                                  <a:solidFill>
                                    <a:srgbClr val="222222"/>
                                  </a:solidFill>
                                  <a:latin typeface="Cambria Math" panose="02040503050406030204" pitchFamily="18" charset="0"/>
                                </a:rPr>
                                <m:t>𝑦</m:t>
                              </m:r>
                            </m:e>
                          </m:bar>
                        </m:e>
                        <m:sub>
                          <m:r>
                            <a:rPr lang="en-US" sz="1500" b="0" i="1" dirty="0">
                              <a:solidFill>
                                <a:srgbClr val="222222"/>
                              </a:solidFill>
                              <a:latin typeface="Cambria Math" panose="02040503050406030204" pitchFamily="18" charset="0"/>
                            </a:rPr>
                            <m:t>𝑗</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1</m:t>
                          </m:r>
                        </m:num>
                        <m:den>
                          <m:r>
                            <a:rPr lang="en-US" sz="1500" b="0" i="1" dirty="0">
                              <a:solidFill>
                                <a:srgbClr val="222222"/>
                              </a:solidFill>
                              <a:latin typeface="Cambria Math" panose="02040503050406030204" pitchFamily="18" charset="0"/>
                            </a:rPr>
                            <m:t>𝑇</m:t>
                          </m:r>
                        </m:den>
                      </m:f>
                      <m:nary>
                        <m:naryPr>
                          <m:limLoc m:val="subSup"/>
                          <m:ctrlPr>
                            <a:rPr lang="en-US" sz="1500" b="0" i="1" dirty="0">
                              <a:solidFill>
                                <a:srgbClr val="222222"/>
                              </a:solidFill>
                              <a:latin typeface="Cambria Math" panose="02040503050406030204" pitchFamily="18" charset="0"/>
                            </a:rPr>
                          </m:ctrlPr>
                        </m:naryPr>
                        <m:sub>
                          <m:r>
                            <a:rPr lang="en-US" sz="1500" b="0" i="0" dirty="0">
                              <a:solidFill>
                                <a:srgbClr val="222222"/>
                              </a:solidFill>
                              <a:latin typeface="Cambria Math" panose="02040503050406030204" pitchFamily="18" charset="0"/>
                            </a:rPr>
                            <m:t>0</m:t>
                          </m:r>
                        </m:sub>
                        <m:sup>
                          <m:r>
                            <a:rPr lang="en-US" sz="1500" b="0" i="1" dirty="0">
                              <a:solidFill>
                                <a:srgbClr val="222222"/>
                              </a:solidFill>
                              <a:latin typeface="Cambria Math" panose="02040503050406030204" pitchFamily="18" charset="0"/>
                            </a:rPr>
                            <m:t>𝑇</m:t>
                          </m:r>
                        </m:sup>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1" dirty="0">
                                  <a:solidFill>
                                    <a:srgbClr val="222222"/>
                                  </a:solidFill>
                                  <a:latin typeface="Cambria Math" panose="02040503050406030204" pitchFamily="18" charset="0"/>
                                </a:rPr>
                                <m:t>𝑗</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𝑡</m:t>
                              </m:r>
                            </m:e>
                          </m:d>
                          <m:r>
                            <a:rPr lang="en-US" sz="1500" b="0" i="0" dirty="0">
                              <a:solidFill>
                                <a:srgbClr val="222222"/>
                              </a:solidFill>
                              <a:latin typeface="Cambria Math" panose="02040503050406030204" pitchFamily="18" charset="0"/>
                            </a:rPr>
                            <m:t> </m:t>
                          </m:r>
                          <m:r>
                            <a:rPr lang="en-US" sz="1500" b="0" i="0" dirty="0">
                              <a:solidFill>
                                <a:srgbClr val="222222"/>
                              </a:solidFill>
                              <a:latin typeface="Cambria Math" panose="02040503050406030204" pitchFamily="18" charset="0"/>
                            </a:rPr>
                            <m:t>𝑑</m:t>
                          </m:r>
                          <m:r>
                            <a:rPr lang="en-US" sz="1500" b="0" i="1" dirty="0">
                              <a:solidFill>
                                <a:srgbClr val="222222"/>
                              </a:solidFill>
                              <a:latin typeface="Cambria Math" panose="02040503050406030204" pitchFamily="18" charset="0"/>
                            </a:rPr>
                            <m:t>𝑡</m:t>
                          </m:r>
                        </m:e>
                      </m:nary>
                    </m:oMath>
                  </m:oMathPara>
                </a14:m>
                <a:endParaRPr lang="en-US" sz="1500" dirty="0"/>
              </a:p>
              <a:p>
                <a:pPr marL="0" indent="0">
                  <a:spcAft>
                    <a:spcPts val="700"/>
                  </a:spcAft>
                </a:pPr>
                <a14:m>
                  <m:oMathPara xmlns:m="http://schemas.openxmlformats.org/officeDocument/2006/math">
                    <m:oMathParaPr>
                      <m:jc m:val="left"/>
                    </m:oMathParaPr>
                    <m:oMath xmlns:m="http://schemas.openxmlformats.org/officeDocument/2006/math">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𝜀</m:t>
                          </m: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𝑙𝑜𝑔</m:t>
                          </m:r>
                          <m:r>
                            <a:rPr lang="en-US" sz="1500" b="0" i="0" dirty="0">
                              <a:solidFill>
                                <a:srgbClr val="222222"/>
                              </a:solidFill>
                              <a:latin typeface="Cambria Math" panose="02040503050406030204" pitchFamily="18" charset="0"/>
                            </a:rPr>
                            <m:t>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r>
                            <a:rPr lang="en-US" sz="1500" b="0" i="0" dirty="0">
                              <a:solidFill>
                                <a:srgbClr val="222222"/>
                              </a:solidFill>
                              <a:latin typeface="Cambria Math" panose="02040503050406030204" pitchFamily="18" charset="0"/>
                            </a:rPr>
                            <m:t>𝑙𝑜𝑔</m:t>
                          </m:r>
                          <m:r>
                            <a:rPr lang="en-US" sz="1500" b="0" i="0" dirty="0">
                              <a:solidFill>
                                <a:srgbClr val="222222"/>
                              </a:solidFill>
                              <a:latin typeface="Cambria Math" panose="02040503050406030204" pitchFamily="18" charset="0"/>
                            </a:rPr>
                            <m:t>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0" dirty="0">
                                  <a:solidFill>
                                    <a:srgbClr val="222222"/>
                                  </a:solidFill>
                                  <a:latin typeface="Cambria Math" panose="02040503050406030204" pitchFamily="18" charset="0"/>
                                </a:rPr>
                                <m:t>0</m:t>
                              </m:r>
                            </m:e>
                          </m:d>
                        </m:num>
                        <m:den>
                          <m:r>
                            <a:rPr lang="en-US" sz="1500" b="0" i="1" dirty="0">
                              <a:solidFill>
                                <a:srgbClr val="222222"/>
                              </a:solidFill>
                              <a:latin typeface="Cambria Math" panose="02040503050406030204" pitchFamily="18" charset="0"/>
                            </a:rPr>
                            <m:t>𝑇</m:t>
                          </m:r>
                        </m:den>
                      </m:f>
                    </m:oMath>
                  </m:oMathPara>
                </a14:m>
                <a:endParaRPr lang="en-US" sz="1500" dirty="0"/>
              </a:p>
              <a:p>
                <a:pPr marL="0" indent="0">
                  <a:spcAft>
                    <a:spcPts val="700"/>
                  </a:spcAft>
                </a:pPr>
                <a14:m>
                  <m:oMathPara xmlns:m="http://schemas.openxmlformats.org/officeDocument/2006/math">
                    <m:oMathParaPr>
                      <m:jc m:val="left"/>
                    </m:oMathParaPr>
                    <m:oMath xmlns:m="http://schemas.openxmlformats.org/officeDocument/2006/math">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11</m:t>
                          </m:r>
                        </m:sub>
                      </m:sSub>
                      <m:sSub>
                        <m:sSubPr>
                          <m:ctrlPr>
                            <a:rPr lang="en-US" sz="1500" b="0" i="1" dirty="0">
                              <a:solidFill>
                                <a:srgbClr val="222222"/>
                              </a:solidFill>
                              <a:latin typeface="Cambria Math" panose="02040503050406030204" pitchFamily="18" charset="0"/>
                            </a:rPr>
                          </m:ctrlPr>
                        </m:sSubPr>
                        <m:e>
                          <m:bar>
                            <m:barPr>
                              <m:pos m:val="top"/>
                              <m:ctrlPr>
                                <a:rPr lang="en-US" sz="1500" b="0" i="1" dirty="0">
                                  <a:solidFill>
                                    <a:srgbClr val="222222"/>
                                  </a:solidFill>
                                  <a:latin typeface="Cambria Math" panose="02040503050406030204" pitchFamily="18" charset="0"/>
                                </a:rPr>
                              </m:ctrlPr>
                            </m:barPr>
                            <m:e>
                              <m:r>
                                <a:rPr lang="en-US" sz="1500" b="0" i="1" dirty="0">
                                  <a:solidFill>
                                    <a:srgbClr val="222222"/>
                                  </a:solidFill>
                                  <a:latin typeface="Cambria Math" panose="02040503050406030204" pitchFamily="18" charset="0"/>
                                </a:rPr>
                                <m:t>𝑦</m:t>
                              </m:r>
                            </m:e>
                          </m:ba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12</m:t>
                          </m:r>
                        </m:sub>
                      </m:sSub>
                      <m:sSub>
                        <m:sSubPr>
                          <m:ctrlPr>
                            <a:rPr lang="en-US" sz="1500" b="0" i="1" dirty="0">
                              <a:solidFill>
                                <a:srgbClr val="222222"/>
                              </a:solidFill>
                              <a:latin typeface="Cambria Math" panose="02040503050406030204" pitchFamily="18" charset="0"/>
                            </a:rPr>
                          </m:ctrlPr>
                        </m:sSubPr>
                        <m:e>
                          <m:bar>
                            <m:barPr>
                              <m:pos m:val="top"/>
                              <m:ctrlPr>
                                <a:rPr lang="en-US" sz="1500" b="0" i="1" dirty="0">
                                  <a:solidFill>
                                    <a:srgbClr val="222222"/>
                                  </a:solidFill>
                                  <a:latin typeface="Cambria Math" panose="02040503050406030204" pitchFamily="18" charset="0"/>
                                </a:rPr>
                              </m:ctrlPr>
                            </m:barPr>
                            <m:e>
                              <m:r>
                                <a:rPr lang="en-US" sz="1500" b="0" i="1" dirty="0">
                                  <a:solidFill>
                                    <a:srgbClr val="222222"/>
                                  </a:solidFill>
                                  <a:latin typeface="Cambria Math" panose="02040503050406030204" pitchFamily="18" charset="0"/>
                                </a:rPr>
                                <m:t>𝑦</m:t>
                              </m:r>
                            </m:e>
                          </m:bar>
                        </m:e>
                        <m:sub>
                          <m:r>
                            <a:rPr lang="en-US" sz="1500" b="0" i="0" dirty="0">
                              <a:solidFill>
                                <a:srgbClr val="222222"/>
                              </a:solidFill>
                              <a:latin typeface="Cambria Math" panose="02040503050406030204" pitchFamily="18" charset="0"/>
                            </a:rPr>
                            <m:t>2</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𝑎</m:t>
                          </m:r>
                        </m:e>
                        <m:sub>
                          <m:r>
                            <a:rPr lang="en-US" sz="1500" b="0" i="0" dirty="0">
                              <a:solidFill>
                                <a:srgbClr val="222222"/>
                              </a:solidFill>
                              <a:latin typeface="Cambria Math" panose="02040503050406030204" pitchFamily="18" charset="0"/>
                            </a:rPr>
                            <m:t>1</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𝜀</m:t>
                          </m: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oMath>
                  </m:oMathPara>
                </a14:m>
                <a:endParaRPr lang="en-US" sz="1500" dirty="0"/>
              </a:p>
            </p:txBody>
          </p:sp>
        </mc:Choice>
        <mc:Fallback>
          <p:sp>
            <p:nvSpPr>
              <p:cNvPr id="5" name="TextBox 4"/>
              <p:cNvSpPr txBox="1">
                <a:spLocks noRot="1" noChangeAspect="1" noMove="1" noResize="1" noEditPoints="1" noAdjustHandles="1" noChangeArrowheads="1" noChangeShapeType="1" noTextEdit="1"/>
              </p:cNvSpPr>
              <p:nvPr/>
            </p:nvSpPr>
            <p:spPr>
              <a:xfrm>
                <a:off x="704088" y="1463040"/>
                <a:ext cx="5623560" cy="1627632"/>
              </a:xfrm>
              <a:prstGeom prst="rect">
                <a:avLst/>
              </a:prstGeom>
              <a:blipFill>
                <a:blip r:embed="rId2"/>
                <a:stretch>
                  <a:fillRect l="-1126" t="-58140" b="-17054"/>
                </a:stretch>
              </a:blipFill>
            </p:spPr>
            <p:txBody>
              <a:bodyPr/>
              <a:lstStyle/>
              <a:p>
                <a:r>
                  <a:rPr lang="ja-JP" altLang="en-US">
                    <a:noFill/>
                  </a:rPr>
                  <a:t> </a:t>
                </a:r>
              </a:p>
            </p:txBody>
          </p:sp>
        </mc:Fallback>
      </mc:AlternateContent>
      <p:sp>
        <p:nvSpPr>
          <p:cNvPr id="6" name="TextBox 5"/>
          <p:cNvSpPr txBox="1"/>
          <p:nvPr/>
        </p:nvSpPr>
        <p:spPr>
          <a:xfrm>
            <a:off x="704088" y="3145536"/>
            <a:ext cx="5623560" cy="594360"/>
          </a:xfrm>
          <a:prstGeom prst="rect">
            <a:avLst/>
          </a:prstGeom>
          <a:noFill/>
        </p:spPr>
        <p:txBody>
          <a:bodyPr wrap="square" lIns="0" tIns="0" rIns="0" bIns="0" anchor="t">
            <a:spAutoFit/>
          </a:bodyPr>
          <a:lstStyle/>
          <a:p>
            <a:pPr algn="l">
              <a:lnSpc>
                <a:spcPct val="132000"/>
              </a:lnSpc>
              <a:spcAft>
                <a:spcPts val="600"/>
              </a:spcAft>
            </a:pPr>
            <a:r>
              <a:rPr sz="1450" b="1">
                <a:solidFill>
                  <a:srgbClr val="C0561A"/>
                </a:solidFill>
                <a:latin typeface="Meiryo"/>
                <a:ea typeface="Meiryo"/>
                <a:cs typeface="Meiryo"/>
              </a:rPr>
              <a:t>釣り合いの式と同じ形。右辺が a1 から a1 − ε1(T) に変わっただけ。</a:t>
            </a:r>
          </a:p>
        </p:txBody>
      </p:sp>
      <p:sp>
        <p:nvSpPr>
          <p:cNvPr id="7" name="TextBox 6"/>
          <p:cNvSpPr txBox="1"/>
          <p:nvPr/>
        </p:nvSpPr>
        <p:spPr>
          <a:xfrm>
            <a:off x="566928" y="3803904"/>
            <a:ext cx="576072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② 同じ消去をすると、ずれがそのまま出る</a:t>
            </a:r>
          </a:p>
        </p:txBody>
      </p:sp>
      <mc:AlternateContent xmlns:mc="http://schemas.openxmlformats.org/markup-compatibility/2006">
        <mc:Choice xmlns:a14="http://schemas.microsoft.com/office/drawing/2010/main" Requires="a14">
          <p:sp>
            <p:nvSpPr>
              <p:cNvPr id="8" name="TextBox 7"/>
              <p:cNvSpPr txBox="1"/>
              <p:nvPr/>
            </p:nvSpPr>
            <p:spPr>
              <a:xfrm>
                <a:off x="704088" y="4114800"/>
                <a:ext cx="5623560" cy="11155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500" b="0" i="1" dirty="0">
                              <a:solidFill>
                                <a:srgbClr val="222222"/>
                              </a:solidFill>
                              <a:latin typeface="Cambria Math" panose="02040503050406030204" pitchFamily="18" charset="0"/>
                            </a:rPr>
                          </m:ctrlPr>
                        </m:sSubPr>
                        <m:e>
                          <m:bar>
                            <m:barPr>
                              <m:pos m:val="top"/>
                              <m:ctrlPr>
                                <a:rPr lang="en-US" sz="1500" b="0" i="1" dirty="0">
                                  <a:solidFill>
                                    <a:srgbClr val="222222"/>
                                  </a:solidFill>
                                  <a:latin typeface="Cambria Math" panose="02040503050406030204" pitchFamily="18" charset="0"/>
                                </a:rPr>
                              </m:ctrlPr>
                            </m:barPr>
                            <m:e>
                              <m:r>
                                <a:rPr lang="en-US" sz="1500" b="0" i="1" dirty="0">
                                  <a:solidFill>
                                    <a:srgbClr val="222222"/>
                                  </a:solidFill>
                                  <a:latin typeface="Cambria Math" panose="02040503050406030204" pitchFamily="18" charset="0"/>
                                </a:rPr>
                                <m:t>𝑦</m:t>
                              </m:r>
                            </m:e>
                          </m:ba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0" dirty="0">
                                  <a:solidFill>
                                    <a:srgbClr val="222222"/>
                                  </a:solidFill>
                                  <a:latin typeface="Cambria Math" panose="02040503050406030204" pitchFamily="18" charset="0"/>
                                </a:rPr>
                                <m:t>1</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𝜀</m:t>
                              </m: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22</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𝜀</m:t>
                              </m:r>
                            </m:e>
                            <m:sub>
                              <m:r>
                                <a:rPr lang="en-US" sz="1500" b="0" i="0" dirty="0">
                                  <a:solidFill>
                                    <a:srgbClr val="222222"/>
                                  </a:solidFill>
                                  <a:latin typeface="Cambria Math" panose="02040503050406030204" pitchFamily="18" charset="0"/>
                                </a:rPr>
                                <m:t>2</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12</m:t>
                              </m:r>
                            </m:sub>
                          </m:sSub>
                        </m:num>
                        <m:den>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𝛥</m:t>
                              </m:r>
                            </m:e>
                            <m:sub>
                              <m:r>
                                <a:rPr lang="en-US" sz="1500" b="0" i="1" dirty="0">
                                  <a:solidFill>
                                    <a:srgbClr val="222222"/>
                                  </a:solidFill>
                                  <a:latin typeface="Cambria Math" panose="02040503050406030204" pitchFamily="18" charset="0"/>
                                </a:rPr>
                                <m:t>𝜆</m:t>
                              </m:r>
                            </m:sub>
                          </m:sSub>
                        </m:den>
                      </m:f>
                    </m:oMath>
                  </m:oMathPara>
                </a14:m>
                <a:endParaRPr lang="en-US" sz="1500" dirty="0"/>
              </a:p>
              <a:p>
                <a:pPr marL="0" indent="0">
                  <a:spcAft>
                    <a:spcPts val="700"/>
                  </a:spcAft>
                </a:pPr>
                <a14:m>
                  <m:oMathPara xmlns:m="http://schemas.openxmlformats.org/officeDocument/2006/math">
                    <m:oMathParaPr>
                      <m:jc m:val="left"/>
                    </m:oMathParaPr>
                    <m:oMath xmlns:m="http://schemas.openxmlformats.org/officeDocument/2006/math">
                      <m:sSub>
                        <m:sSubPr>
                          <m:ctrlPr>
                            <a:rPr lang="en-US" sz="1500" b="0" i="1" dirty="0">
                              <a:solidFill>
                                <a:srgbClr val="222222"/>
                              </a:solidFill>
                              <a:latin typeface="Cambria Math" panose="02040503050406030204" pitchFamily="18" charset="0"/>
                            </a:rPr>
                          </m:ctrlPr>
                        </m:sSubPr>
                        <m:e>
                          <m:bar>
                            <m:barPr>
                              <m:pos m:val="top"/>
                              <m:ctrlPr>
                                <a:rPr lang="en-US" sz="1500" b="0" i="1" dirty="0">
                                  <a:solidFill>
                                    <a:srgbClr val="222222"/>
                                  </a:solidFill>
                                  <a:latin typeface="Cambria Math" panose="02040503050406030204" pitchFamily="18" charset="0"/>
                                </a:rPr>
                              </m:ctrlPr>
                            </m:barPr>
                            <m:e>
                              <m:r>
                                <a:rPr lang="en-US" sz="1500" b="0" i="1" dirty="0">
                                  <a:solidFill>
                                    <a:srgbClr val="222222"/>
                                  </a:solidFill>
                                  <a:latin typeface="Cambria Math" panose="02040503050406030204" pitchFamily="18" charset="0"/>
                                </a:rPr>
                                <m:t>𝑥</m:t>
                              </m:r>
                            </m:e>
                          </m:ba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sSup>
                        <m:sSupPr>
                          <m:ctrlPr>
                            <a:rPr lang="en-US" sz="1500" b="0" i="1" dirty="0">
                              <a:solidFill>
                                <a:srgbClr val="222222"/>
                              </a:solidFill>
                              <a:latin typeface="Cambria Math" panose="02040503050406030204" pitchFamily="18" charset="0"/>
                            </a:rPr>
                          </m:ctrlPr>
                        </m:sSupPr>
                        <m:e>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0" dirty="0">
                                  <a:solidFill>
                                    <a:srgbClr val="222222"/>
                                  </a:solidFill>
                                  <a:latin typeface="Cambria Math" panose="02040503050406030204" pitchFamily="18" charset="0"/>
                                </a:rPr>
                                <m:t>1</m:t>
                              </m:r>
                            </m:sub>
                          </m:sSub>
                        </m:e>
                        <m:sup>
                          <m:r>
                            <a:rPr lang="en-US" sz="1500" b="0" i="0" dirty="0">
                              <a:solidFill>
                                <a:srgbClr val="222222"/>
                              </a:solidFill>
                              <a:latin typeface="Cambria Math" panose="02040503050406030204" pitchFamily="18" charset="0"/>
                            </a:rPr>
                            <m:t>∗</m:t>
                          </m:r>
                        </m:sup>
                      </m:sSup>
                      <m:r>
                        <a:rPr lang="en-US" sz="1500" b="0" i="0" dirty="0">
                          <a:solidFill>
                            <a:srgbClr val="222222"/>
                          </a:solidFill>
                          <a:latin typeface="Cambria Math" panose="02040503050406030204" pitchFamily="18" charset="0"/>
                        </a:rPr>
                        <m:t> = </m:t>
                      </m:r>
                      <m:f>
                        <m:fPr>
                          <m:ctrlPr>
                            <a:rPr lang="en-US" sz="1500" b="0" i="1" dirty="0">
                              <a:solidFill>
                                <a:srgbClr val="222222"/>
                              </a:solidFill>
                              <a:latin typeface="Cambria Math" panose="02040503050406030204" pitchFamily="18" charset="0"/>
                            </a:rPr>
                          </m:ctrlPr>
                        </m:fPr>
                        <m:num>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𝛿</m:t>
                              </m:r>
                            </m:e>
                            <m:sub>
                              <m:r>
                                <a:rPr lang="en-US" sz="1500" b="0" i="0" dirty="0">
                                  <a:solidFill>
                                    <a:srgbClr val="222222"/>
                                  </a:solidFill>
                                  <a:latin typeface="Cambria Math" panose="02040503050406030204" pitchFamily="18" charset="0"/>
                                </a:rPr>
                                <m:t>1</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𝑑</m:t>
                              </m:r>
                            </m:e>
                            <m:sub>
                              <m:r>
                                <a:rPr lang="en-US" sz="1500" b="0" i="0" dirty="0">
                                  <a:solidFill>
                                    <a:srgbClr val="222222"/>
                                  </a:solidFill>
                                  <a:latin typeface="Cambria Math" panose="02040503050406030204" pitchFamily="18" charset="0"/>
                                </a:rPr>
                                <m:t>2</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22</m:t>
                              </m:r>
                            </m:sub>
                          </m:sSub>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𝛿</m:t>
                              </m:r>
                            </m:e>
                            <m:sub>
                              <m:r>
                                <a:rPr lang="en-US" sz="1500" b="0" i="0" dirty="0">
                                  <a:solidFill>
                                    <a:srgbClr val="222222"/>
                                  </a:solidFill>
                                  <a:latin typeface="Cambria Math" panose="02040503050406030204" pitchFamily="18" charset="0"/>
                                </a:rPr>
                                <m:t>2</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𝑑</m:t>
                              </m:r>
                            </m:e>
                            <m:sub>
                              <m:r>
                                <a:rPr lang="en-US" sz="1500" b="0" i="0" dirty="0">
                                  <a:solidFill>
                                    <a:srgbClr val="222222"/>
                                  </a:solidFill>
                                  <a:latin typeface="Cambria Math" panose="02040503050406030204" pitchFamily="18" charset="0"/>
                                </a:rPr>
                                <m:t>1</m:t>
                              </m:r>
                            </m:sub>
                          </m:sSub>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𝜆</m:t>
                              </m:r>
                            </m:e>
                            <m:sub>
                              <m:r>
                                <a:rPr lang="en-US" sz="1500" b="0" i="0" dirty="0">
                                  <a:solidFill>
                                    <a:srgbClr val="222222"/>
                                  </a:solidFill>
                                  <a:latin typeface="Cambria Math" panose="02040503050406030204" pitchFamily="18" charset="0"/>
                                </a:rPr>
                                <m:t>21</m:t>
                              </m:r>
                            </m:sub>
                          </m:sSub>
                        </m:num>
                        <m:den>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𝛥</m:t>
                              </m:r>
                            </m:e>
                            <m:sub>
                              <m:r>
                                <a:rPr lang="en-US" sz="1500" b="0" i="1" dirty="0">
                                  <a:solidFill>
                                    <a:srgbClr val="222222"/>
                                  </a:solidFill>
                                  <a:latin typeface="Cambria Math" panose="02040503050406030204" pitchFamily="18" charset="0"/>
                                </a:rPr>
                                <m:t>𝐶</m:t>
                              </m:r>
                            </m:sub>
                          </m:sSub>
                        </m:den>
                      </m:f>
                    </m:oMath>
                  </m:oMathPara>
                </a14:m>
                <a:endParaRPr lang="en-US" sz="1500" dirty="0"/>
              </a:p>
            </p:txBody>
          </p:sp>
        </mc:Choice>
        <mc:Fallback>
          <p:sp>
            <p:nvSpPr>
              <p:cNvPr id="8" name="TextBox 7"/>
              <p:cNvSpPr txBox="1">
                <a:spLocks noRot="1" noChangeAspect="1" noMove="1" noResize="1" noEditPoints="1" noAdjustHandles="1" noChangeArrowheads="1" noChangeShapeType="1" noTextEdit="1"/>
              </p:cNvSpPr>
              <p:nvPr/>
            </p:nvSpPr>
            <p:spPr>
              <a:xfrm>
                <a:off x="704088" y="4114800"/>
                <a:ext cx="5623560" cy="1115568"/>
              </a:xfrm>
              <a:prstGeom prst="rect">
                <a:avLst/>
              </a:prstGeom>
              <a:blipFill>
                <a:blip r:embed="rId3"/>
                <a:stretch>
                  <a:fillRect l="-1126" t="-2273"/>
                </a:stretch>
              </a:blipFill>
            </p:spPr>
            <p:txBody>
              <a:bodyPr/>
              <a:lstStyle/>
              <a:p>
                <a:r>
                  <a:rPr lang="ja-JP" altLang="en-US">
                    <a:noFill/>
                  </a:rPr>
                  <a:t> </a:t>
                </a:r>
              </a:p>
            </p:txBody>
          </p:sp>
        </mc:Fallback>
      </mc:AlternateContent>
      <p:sp>
        <p:nvSpPr>
          <p:cNvPr id="9" name="TextBox 8"/>
          <p:cNvSpPr txBox="1"/>
          <p:nvPr/>
        </p:nvSpPr>
        <p:spPr>
          <a:xfrm>
            <a:off x="6537960" y="1133856"/>
            <a:ext cx="507492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③ 資源量が有界なら、ずれは 1/T の速さで消える</a:t>
            </a:r>
          </a:p>
        </p:txBody>
      </p:sp>
      <mc:AlternateContent xmlns:mc="http://schemas.openxmlformats.org/markup-compatibility/2006">
        <mc:Choice xmlns:a14="http://schemas.microsoft.com/office/drawing/2010/main" Requires="a14">
          <p:sp>
            <p:nvSpPr>
              <p:cNvPr id="10" name="TextBox 9"/>
              <p:cNvSpPr txBox="1"/>
              <p:nvPr/>
            </p:nvSpPr>
            <p:spPr>
              <a:xfrm>
                <a:off x="6675120" y="1481328"/>
                <a:ext cx="4937760" cy="111556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r>
                        <a:rPr lang="en-US" sz="1500" b="0" i="0" dirty="0">
                          <a:solidFill>
                            <a:srgbClr val="222222"/>
                          </a:solidFill>
                          <a:latin typeface="Cambria Math" panose="02040503050406030204" pitchFamily="18" charset="0"/>
                        </a:rPr>
                        <m:t>0 &lt; </m:t>
                      </m:r>
                      <m:r>
                        <a:rPr lang="en-US" sz="1500" b="0" i="1" dirty="0">
                          <a:solidFill>
                            <a:srgbClr val="222222"/>
                          </a:solidFill>
                          <a:latin typeface="Cambria Math" panose="02040503050406030204" pitchFamily="18" charset="0"/>
                        </a:rPr>
                        <m:t>𝑚</m:t>
                      </m:r>
                      <m:r>
                        <a:rPr lang="en-US" sz="1500" b="0" i="0" dirty="0">
                          <a:solidFill>
                            <a:srgbClr val="222222"/>
                          </a:solidFill>
                          <a:latin typeface="Cambria Math" panose="02040503050406030204" pitchFamily="18" charset="0"/>
                        </a:rPr>
                        <m:t> ≤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𝑥</m:t>
                          </m:r>
                        </m:e>
                        <m:sub>
                          <m:r>
                            <a:rPr lang="en-US" sz="1500" b="0" i="1" dirty="0">
                              <a:solidFill>
                                <a:srgbClr val="222222"/>
                              </a:solidFill>
                              <a:latin typeface="Cambria Math" panose="02040503050406030204" pitchFamily="18" charset="0"/>
                            </a:rPr>
                            <m:t>𝑖</m:t>
                          </m:r>
                        </m:sub>
                      </m:sSub>
                      <m:r>
                        <a:rPr lang="en-US" sz="1500" b="0" i="0" dirty="0">
                          <a:solidFill>
                            <a:srgbClr val="222222"/>
                          </a:solidFill>
                          <a:latin typeface="Cambria Math" panose="02040503050406030204" pitchFamily="18" charset="0"/>
                        </a:rPr>
                        <m:t>,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𝑦</m:t>
                          </m:r>
                        </m:e>
                        <m:sub>
                          <m:r>
                            <a:rPr lang="en-US" sz="1500" b="0" i="1" dirty="0">
                              <a:solidFill>
                                <a:srgbClr val="222222"/>
                              </a:solidFill>
                              <a:latin typeface="Cambria Math" panose="02040503050406030204" pitchFamily="18" charset="0"/>
                            </a:rPr>
                            <m:t>𝑗</m:t>
                          </m:r>
                        </m:sub>
                      </m:sSub>
                      <m:r>
                        <a:rPr lang="en-US" sz="1500" b="0" i="0" dirty="0">
                          <a:solidFill>
                            <a:srgbClr val="222222"/>
                          </a:solidFill>
                          <a:latin typeface="Cambria Math" panose="02040503050406030204" pitchFamily="18" charset="0"/>
                        </a:rPr>
                        <m:t> ≤ </m:t>
                      </m:r>
                      <m:r>
                        <a:rPr lang="en-US" sz="1500" b="0" i="1" dirty="0">
                          <a:solidFill>
                            <a:srgbClr val="222222"/>
                          </a:solidFill>
                          <a:latin typeface="Cambria Math" panose="02040503050406030204" pitchFamily="18" charset="0"/>
                        </a:rPr>
                        <m:t>𝑀</m:t>
                      </m:r>
                      <m:r>
                        <a:rPr lang="en-US" sz="1500" b="0" i="0" dirty="0">
                          <a:solidFill>
                            <a:srgbClr val="222222"/>
                          </a:solidFill>
                          <a:latin typeface="Cambria Math" panose="02040503050406030204" pitchFamily="18" charset="0"/>
                        </a:rPr>
                        <m:t> &lt; </m:t>
                      </m:r>
                      <m:r>
                        <a:rPr lang="en-US" sz="1500" b="0" i="1" dirty="0">
                          <a:solidFill>
                            <a:srgbClr val="222222"/>
                          </a:solidFill>
                          <a:latin typeface="Cambria Math" panose="02040503050406030204" pitchFamily="18" charset="0"/>
                        </a:rPr>
                        <m:t>∞</m:t>
                      </m:r>
                    </m:oMath>
                  </m:oMathPara>
                </a14:m>
                <a:endParaRPr lang="en-US" sz="1500" dirty="0"/>
              </a:p>
              <a:p>
                <a:pPr marL="0" indent="0">
                  <a:spcAft>
                    <a:spcPts val="700"/>
                  </a:spcAft>
                </a:pPr>
                <a14:m>
                  <m:oMathPara xmlns:m="http://schemas.openxmlformats.org/officeDocument/2006/math">
                    <m:oMathParaPr>
                      <m:jc m:val="left"/>
                    </m:oMathParaPr>
                    <m:oMath xmlns:m="http://schemas.openxmlformats.org/officeDocument/2006/math">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𝜀</m:t>
                          </m:r>
                        </m:e>
                        <m:sub>
                          <m:r>
                            <a:rPr lang="en-US" sz="1500" b="0" i="1" dirty="0">
                              <a:solidFill>
                                <a:srgbClr val="222222"/>
                              </a:solidFill>
                              <a:latin typeface="Cambria Math" panose="02040503050406030204" pitchFamily="18" charset="0"/>
                            </a:rPr>
                            <m:t>𝑖</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m:t>
                      </m:r>
                      <m:sSub>
                        <m:sSubPr>
                          <m:ctrlPr>
                            <a:rPr lang="en-US" sz="1500" b="0" i="1" dirty="0">
                              <a:solidFill>
                                <a:srgbClr val="222222"/>
                              </a:solidFill>
                              <a:latin typeface="Cambria Math" panose="02040503050406030204" pitchFamily="18" charset="0"/>
                            </a:rPr>
                          </m:ctrlPr>
                        </m:sSubPr>
                        <m:e>
                          <m:r>
                            <a:rPr lang="en-US" sz="1500" b="0" i="1" dirty="0">
                              <a:solidFill>
                                <a:srgbClr val="222222"/>
                              </a:solidFill>
                              <a:latin typeface="Cambria Math" panose="02040503050406030204" pitchFamily="18" charset="0"/>
                            </a:rPr>
                            <m:t>𝛿</m:t>
                          </m:r>
                        </m:e>
                        <m:sub>
                          <m:r>
                            <a:rPr lang="en-US" sz="1500" b="0" i="1" dirty="0">
                              <a:solidFill>
                                <a:srgbClr val="222222"/>
                              </a:solidFill>
                              <a:latin typeface="Cambria Math" panose="02040503050406030204" pitchFamily="18" charset="0"/>
                            </a:rPr>
                            <m:t>𝑗</m:t>
                          </m:r>
                        </m:sub>
                      </m:sSub>
                      <m:d>
                        <m:dPr>
                          <m:ctrlPr>
                            <a:rPr lang="en-US" sz="1500" b="0" i="1" dirty="0">
                              <a:solidFill>
                                <a:srgbClr val="222222"/>
                              </a:solidFill>
                              <a:latin typeface="Cambria Math" panose="02040503050406030204" pitchFamily="18" charset="0"/>
                            </a:rPr>
                          </m:ctrlPr>
                        </m:dPr>
                        <m:e>
                          <m:r>
                            <a:rPr lang="en-US" sz="1500" b="0" i="1" dirty="0">
                              <a:solidFill>
                                <a:srgbClr val="222222"/>
                              </a:solidFill>
                              <a:latin typeface="Cambria Math" panose="02040503050406030204" pitchFamily="18" charset="0"/>
                            </a:rPr>
                            <m:t>𝑇</m:t>
                          </m:r>
                        </m:e>
                      </m:d>
                      <m:r>
                        <a:rPr lang="en-US" sz="1500" b="0" i="0" dirty="0">
                          <a:solidFill>
                            <a:srgbClr val="222222"/>
                          </a:solidFill>
                          <a:latin typeface="Cambria Math" panose="02040503050406030204" pitchFamily="18" charset="0"/>
                        </a:rPr>
                        <m:t> = </m:t>
                      </m:r>
                      <m:r>
                        <a:rPr lang="en-US" sz="1500" b="0" i="0" dirty="0">
                          <a:solidFill>
                            <a:srgbClr val="222222"/>
                          </a:solidFill>
                          <a:latin typeface="Cambria Math" panose="02040503050406030204" pitchFamily="18" charset="0"/>
                        </a:rPr>
                        <m:t>𝑂</m:t>
                      </m:r>
                      <m:d>
                        <m:dPr>
                          <m:ctrlPr>
                            <a:rPr lang="en-US" sz="1500" b="0" i="1" dirty="0">
                              <a:solidFill>
                                <a:srgbClr val="222222"/>
                              </a:solidFill>
                              <a:latin typeface="Cambria Math" panose="02040503050406030204" pitchFamily="18" charset="0"/>
                            </a:rPr>
                          </m:ctrlPr>
                        </m:dPr>
                        <m:e>
                          <m:f>
                            <m:fPr>
                              <m:ctrlPr>
                                <a:rPr lang="en-US" sz="1500" b="0" i="1" dirty="0">
                                  <a:solidFill>
                                    <a:srgbClr val="222222"/>
                                  </a:solidFill>
                                  <a:latin typeface="Cambria Math" panose="02040503050406030204" pitchFamily="18" charset="0"/>
                                </a:rPr>
                              </m:ctrlPr>
                            </m:fPr>
                            <m:num>
                              <m:r>
                                <a:rPr lang="en-US" sz="1500" b="0" i="0" dirty="0">
                                  <a:solidFill>
                                    <a:srgbClr val="222222"/>
                                  </a:solidFill>
                                  <a:latin typeface="Cambria Math" panose="02040503050406030204" pitchFamily="18" charset="0"/>
                                </a:rPr>
                                <m:t>1</m:t>
                              </m:r>
                            </m:num>
                            <m:den>
                              <m:r>
                                <a:rPr lang="en-US" sz="1500" b="0" i="1" dirty="0">
                                  <a:solidFill>
                                    <a:srgbClr val="222222"/>
                                  </a:solidFill>
                                  <a:latin typeface="Cambria Math" panose="02040503050406030204" pitchFamily="18" charset="0"/>
                                </a:rPr>
                                <m:t>𝑇</m:t>
                              </m:r>
                            </m:den>
                          </m:f>
                        </m:e>
                      </m:d>
                    </m:oMath>
                  </m:oMathPara>
                </a14:m>
                <a:endParaRPr lang="en-US" sz="1500" dirty="0"/>
              </a:p>
            </p:txBody>
          </p:sp>
        </mc:Choice>
        <mc:Fallback>
          <p:sp>
            <p:nvSpPr>
              <p:cNvPr id="10" name="TextBox 9"/>
              <p:cNvSpPr txBox="1">
                <a:spLocks noRot="1" noChangeAspect="1" noMove="1" noResize="1" noEditPoints="1" noAdjustHandles="1" noChangeArrowheads="1" noChangeShapeType="1" noTextEdit="1"/>
              </p:cNvSpPr>
              <p:nvPr/>
            </p:nvSpPr>
            <p:spPr>
              <a:xfrm>
                <a:off x="6675120" y="1481328"/>
                <a:ext cx="4937760" cy="1115568"/>
              </a:xfrm>
              <a:prstGeom prst="rect">
                <a:avLst/>
              </a:prstGeom>
              <a:blipFill>
                <a:blip r:embed="rId4"/>
                <a:stretch>
                  <a:fillRect l="-1282" t="-1124"/>
                </a:stretch>
              </a:blipFill>
            </p:spPr>
            <p:txBody>
              <a:bodyPr/>
              <a:lstStyle/>
              <a:p>
                <a:r>
                  <a:rPr lang="ja-JP" altLang="en-US">
                    <a:noFill/>
                  </a:rPr>
                  <a:t> </a:t>
                </a:r>
              </a:p>
            </p:txBody>
          </p:sp>
        </mc:Fallback>
      </mc:AlternateContent>
      <p:sp>
        <p:nvSpPr>
          <p:cNvPr id="11" name="TextBox 10"/>
          <p:cNvSpPr txBox="1"/>
          <p:nvPr/>
        </p:nvSpPr>
        <p:spPr>
          <a:xfrm>
            <a:off x="6675120" y="2651760"/>
            <a:ext cx="4937760" cy="603504"/>
          </a:xfrm>
          <a:prstGeom prst="rect">
            <a:avLst/>
          </a:prstGeom>
          <a:noFill/>
        </p:spPr>
        <p:txBody>
          <a:bodyPr wrap="square" lIns="0" tIns="0" rIns="0" bIns="0" anchor="t">
            <a:spAutoFit/>
          </a:bodyPr>
          <a:lstStyle/>
          <a:p>
            <a:pPr algn="l">
              <a:lnSpc>
                <a:spcPct val="132000"/>
              </a:lnSpc>
              <a:spcAft>
                <a:spcPts val="600"/>
              </a:spcAft>
            </a:pPr>
            <a:r>
              <a:rPr sz="1450" b="0">
                <a:solidFill>
                  <a:srgbClr val="222222"/>
                </a:solidFill>
                <a:latin typeface="Meiryo"/>
                <a:ea typeface="Meiryo"/>
                <a:cs typeface="Meiryo"/>
              </a:rPr>
              <a:t>資源量が 0 に落ちも発散もしないかぎり、対数の差を T で割った量は小さくなる。</a:t>
            </a:r>
          </a:p>
        </p:txBody>
      </p:sp>
      <p:sp>
        <p:nvSpPr>
          <p:cNvPr id="12" name="TextBox 11"/>
          <p:cNvSpPr txBox="1"/>
          <p:nvPr/>
        </p:nvSpPr>
        <p:spPr>
          <a:xfrm>
            <a:off x="6537960" y="3328416"/>
            <a:ext cx="5074920" cy="292608"/>
          </a:xfrm>
          <a:prstGeom prst="rect">
            <a:avLst/>
          </a:prstGeom>
          <a:noFill/>
        </p:spPr>
        <p:txBody>
          <a:bodyPr wrap="square" lIns="0" tIns="0" rIns="0" bIns="0" anchor="t">
            <a:spAutoFit/>
          </a:bodyPr>
          <a:lstStyle/>
          <a:p>
            <a:pPr algn="l">
              <a:lnSpc>
                <a:spcPct val="132000"/>
              </a:lnSpc>
              <a:spcAft>
                <a:spcPts val="600"/>
              </a:spcAft>
            </a:pPr>
            <a:r>
              <a:rPr sz="1550" b="1">
                <a:solidFill>
                  <a:srgbClr val="1F4E79"/>
                </a:solidFill>
                <a:latin typeface="Meiryo"/>
                <a:ea typeface="Meiryo"/>
                <a:cs typeface="Meiryo"/>
              </a:rPr>
              <a:t>④ よって、時間平均でとれる量は</a:t>
            </a:r>
          </a:p>
        </p:txBody>
      </p:sp>
      <mc:AlternateContent xmlns:mc="http://schemas.openxmlformats.org/markup-compatibility/2006">
        <mc:Choice xmlns:a14="http://schemas.microsoft.com/office/drawing/2010/main" Requires="a14">
          <p:sp>
            <p:nvSpPr>
              <p:cNvPr id="13" name="TextBox 12"/>
              <p:cNvSpPr txBox="1"/>
              <p:nvPr/>
            </p:nvSpPr>
            <p:spPr>
              <a:xfrm>
                <a:off x="6675120" y="3657600"/>
                <a:ext cx="4937760" cy="777240"/>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𝑌</m:t>
                          </m:r>
                        </m:e>
                        <m:sub>
                          <m:r>
                            <a:rPr lang="en-US" sz="1600" b="0" i="1" dirty="0">
                              <a:solidFill>
                                <a:srgbClr val="222222"/>
                              </a:solidFill>
                              <a:latin typeface="Cambria Math" panose="02040503050406030204" pitchFamily="18" charset="0"/>
                            </a:rPr>
                            <m:t>𝑇</m:t>
                          </m:r>
                        </m:sub>
                      </m:sSub>
                      <m:d>
                        <m:dPr>
                          <m:ctrlPr>
                            <a:rPr lang="en-US" sz="1600" b="0" i="1" dirty="0">
                              <a:solidFill>
                                <a:srgbClr val="222222"/>
                              </a:solidFill>
                              <a:latin typeface="Cambria Math" panose="02040503050406030204" pitchFamily="18" charset="0"/>
                            </a:rPr>
                          </m:ctrlPr>
                        </m:dPr>
                        <m:e>
                          <m:r>
                            <a:rPr lang="en-US" sz="1600" b="0" i="1" dirty="0">
                              <a:solidFill>
                                <a:srgbClr val="222222"/>
                              </a:solidFill>
                              <a:latin typeface="Cambria Math" panose="02040503050406030204" pitchFamily="18" charset="0"/>
                            </a:rPr>
                            <m:t>𝑓</m:t>
                          </m:r>
                        </m:e>
                      </m:d>
                      <m:r>
                        <a:rPr lang="en-US" sz="1600" b="0" i="0" dirty="0">
                          <a:solidFill>
                            <a:srgbClr val="222222"/>
                          </a:solidFill>
                          <a:latin typeface="Cambria Math" panose="02040503050406030204" pitchFamily="18" charset="0"/>
                        </a:rPr>
                        <m:t> = </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𝑌</m:t>
                          </m:r>
                        </m:e>
                        <m:sub>
                          <m:r>
                            <a:rPr lang="en-US" sz="1600" b="0" i="0" dirty="0">
                              <a:solidFill>
                                <a:srgbClr val="222222"/>
                              </a:solidFill>
                              <a:latin typeface="Cambria Math" panose="02040503050406030204" pitchFamily="18" charset="0"/>
                            </a:rPr>
                            <m:t>𝑒𝑞</m:t>
                          </m:r>
                        </m:sub>
                      </m:sSub>
                      <m:d>
                        <m:dPr>
                          <m:ctrlPr>
                            <a:rPr lang="en-US" sz="1600" b="0" i="1" dirty="0">
                              <a:solidFill>
                                <a:srgbClr val="222222"/>
                              </a:solidFill>
                              <a:latin typeface="Cambria Math" panose="02040503050406030204" pitchFamily="18" charset="0"/>
                            </a:rPr>
                          </m:ctrlPr>
                        </m:dPr>
                        <m:e>
                          <m:r>
                            <a:rPr lang="en-US" sz="1600" b="0" i="1" dirty="0">
                              <a:solidFill>
                                <a:srgbClr val="222222"/>
                              </a:solidFill>
                              <a:latin typeface="Cambria Math" panose="02040503050406030204" pitchFamily="18" charset="0"/>
                            </a:rPr>
                            <m:t>𝑓</m:t>
                          </m:r>
                        </m:e>
                      </m:d>
                      <m:r>
                        <a:rPr lang="en-US" sz="1600" b="0" i="0" dirty="0">
                          <a:solidFill>
                            <a:srgbClr val="222222"/>
                          </a:solidFill>
                          <a:latin typeface="Cambria Math" panose="02040503050406030204" pitchFamily="18" charset="0"/>
                        </a:rPr>
                        <m:t> + </m:t>
                      </m:r>
                      <m:r>
                        <a:rPr lang="en-US" sz="1600" b="0" i="0" dirty="0">
                          <a:solidFill>
                            <a:srgbClr val="222222"/>
                          </a:solidFill>
                          <a:latin typeface="Cambria Math" panose="02040503050406030204" pitchFamily="18" charset="0"/>
                        </a:rPr>
                        <m:t>𝑂</m:t>
                      </m:r>
                      <m:d>
                        <m:dPr>
                          <m:ctrlPr>
                            <a:rPr lang="en-US" sz="1600" b="0" i="1" dirty="0">
                              <a:solidFill>
                                <a:srgbClr val="222222"/>
                              </a:solidFill>
                              <a:latin typeface="Cambria Math" panose="02040503050406030204" pitchFamily="18" charset="0"/>
                            </a:rPr>
                          </m:ctrlPr>
                        </m:dPr>
                        <m:e>
                          <m:f>
                            <m:fPr>
                              <m:ctrlPr>
                                <a:rPr lang="en-US" sz="1600" b="0" i="1" dirty="0">
                                  <a:solidFill>
                                    <a:srgbClr val="222222"/>
                                  </a:solidFill>
                                  <a:latin typeface="Cambria Math" panose="02040503050406030204" pitchFamily="18" charset="0"/>
                                </a:rPr>
                              </m:ctrlPr>
                            </m:fPr>
                            <m:num>
                              <m:r>
                                <a:rPr lang="en-US" sz="1600" b="0" i="0" dirty="0">
                                  <a:solidFill>
                                    <a:srgbClr val="222222"/>
                                  </a:solidFill>
                                  <a:latin typeface="Cambria Math" panose="02040503050406030204" pitchFamily="18" charset="0"/>
                                </a:rPr>
                                <m:t>1</m:t>
                              </m:r>
                            </m:num>
                            <m:den>
                              <m:r>
                                <a:rPr lang="en-US" sz="1600" b="0" i="1" dirty="0">
                                  <a:solidFill>
                                    <a:srgbClr val="222222"/>
                                  </a:solidFill>
                                  <a:latin typeface="Cambria Math" panose="02040503050406030204" pitchFamily="18" charset="0"/>
                                </a:rPr>
                                <m:t>𝑇</m:t>
                              </m:r>
                            </m:den>
                          </m:f>
                        </m:e>
                      </m:d>
                    </m:oMath>
                  </m:oMathPara>
                </a14:m>
                <a:endParaRPr lang="en-US" sz="1600" dirty="0"/>
              </a:p>
            </p:txBody>
          </p:sp>
        </mc:Choice>
        <mc:Fallback>
          <p:sp>
            <p:nvSpPr>
              <p:cNvPr id="13" name="TextBox 12"/>
              <p:cNvSpPr txBox="1">
                <a:spLocks noRot="1" noChangeAspect="1" noMove="1" noResize="1" noEditPoints="1" noAdjustHandles="1" noChangeArrowheads="1" noChangeShapeType="1" noTextEdit="1"/>
              </p:cNvSpPr>
              <p:nvPr/>
            </p:nvSpPr>
            <p:spPr>
              <a:xfrm>
                <a:off x="6675120" y="3657600"/>
                <a:ext cx="4937760" cy="777240"/>
              </a:xfrm>
              <a:prstGeom prst="rect">
                <a:avLst/>
              </a:prstGeom>
              <a:blipFill>
                <a:blip r:embed="rId5"/>
                <a:stretch>
                  <a:fillRect l="-1538" t="-1613"/>
                </a:stretch>
              </a:blipFill>
            </p:spPr>
            <p:txBody>
              <a:bodyPr/>
              <a:lstStyle/>
              <a:p>
                <a:r>
                  <a:rPr lang="ja-JP" altLang="en-US">
                    <a:noFill/>
                  </a:rPr>
                  <a:t> </a:t>
                </a:r>
              </a:p>
            </p:txBody>
          </p:sp>
        </mc:Fallback>
      </mc:AlternateContent>
      <p:sp>
        <p:nvSpPr>
          <p:cNvPr id="14" name="Rectangle 13"/>
          <p:cNvSpPr/>
          <p:nvPr/>
        </p:nvSpPr>
        <p:spPr>
          <a:xfrm>
            <a:off x="6537960" y="4535424"/>
            <a:ext cx="5074920" cy="1316736"/>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702552" y="4654296"/>
            <a:ext cx="4745736" cy="1097280"/>
          </a:xfrm>
          <a:prstGeom prst="rect">
            <a:avLst/>
          </a:prstGeom>
          <a:noFill/>
        </p:spPr>
        <p:txBody>
          <a:bodyPr wrap="square" lIns="0" tIns="0" rIns="0" bIns="0" anchor="t">
            <a:spAutoFit/>
          </a:bodyPr>
          <a:lstStyle/>
          <a:p>
            <a:pPr algn="l">
              <a:lnSpc>
                <a:spcPct val="132000"/>
              </a:lnSpc>
              <a:spcAft>
                <a:spcPts val="600"/>
              </a:spcAft>
            </a:pPr>
            <a:r>
              <a:rPr sz="1550" b="1">
                <a:solidFill>
                  <a:srgbClr val="C0561A"/>
                </a:solidFill>
                <a:latin typeface="Meiryo"/>
                <a:ea typeface="Meiryo"/>
                <a:cs typeface="Meiryo"/>
              </a:rPr>
              <a:t>有限の期間で測った漁獲量は、釣り合いで計算した量と 1/T の程度しか違わない。だから前の「一次式になる」話は、実際の計算にもそのまま効く。</a:t>
            </a:r>
          </a:p>
        </p:txBody>
      </p:sp>
      <p:sp>
        <p:nvSpPr>
          <p:cNvPr id="16" name="TextBox 15"/>
          <p:cNvSpPr txBox="1"/>
          <p:nvPr/>
        </p:nvSpPr>
        <p:spPr>
          <a:xfrm>
            <a:off x="566928" y="5925312"/>
            <a:ext cx="9869119" cy="502920"/>
          </a:xfrm>
          <a:prstGeom prst="rect">
            <a:avLst/>
          </a:prstGeom>
          <a:noFill/>
        </p:spPr>
        <p:txBody>
          <a:bodyPr wrap="square" lIns="0" tIns="0" rIns="0" bIns="0" anchor="t">
            <a:spAutoFit/>
          </a:bodyPr>
          <a:lstStyle/>
          <a:p>
            <a:pPr algn="l">
              <a:lnSpc>
                <a:spcPct val="132000"/>
              </a:lnSpc>
              <a:spcAft>
                <a:spcPts val="600"/>
              </a:spcAft>
            </a:pPr>
            <a:r>
              <a:rPr sz="1150" b="0">
                <a:solidFill>
                  <a:srgbClr val="6E6E6E"/>
                </a:solidFill>
                <a:latin typeface="Meiryo"/>
                <a:ea typeface="Meiryo"/>
                <a:cs typeface="Meiryo"/>
              </a:rPr>
              <a:t>a1 = r_x1 − f_x1、b1 = r_y1 + f_y1。ε は餌の魚、δ は食べる魚の対数の差を T で割った量。※ここまでの流れ自体は Volterra の原理の範囲。</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［予備］行列で見ると：効いているのは「ゼロの置き方」</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24</a:t>
            </a:r>
          </a:p>
        </p:txBody>
      </p:sp>
      <p:sp>
        <p:nvSpPr>
          <p:cNvPr id="4" name="TextBox 3"/>
          <p:cNvSpPr txBox="1"/>
          <p:nvPr/>
        </p:nvSpPr>
        <p:spPr>
          <a:xfrm>
            <a:off x="566928" y="1170432"/>
            <a:ext cx="11057839" cy="292608"/>
          </a:xfrm>
          <a:prstGeom prst="rect">
            <a:avLst/>
          </a:prstGeom>
          <a:noFill/>
        </p:spPr>
        <p:txBody>
          <a:bodyPr wrap="square" lIns="0" tIns="0" rIns="0" bIns="0" anchor="t">
            <a:spAutoFit/>
          </a:bodyPr>
          <a:lstStyle/>
          <a:p>
            <a:pPr algn="l">
              <a:lnSpc>
                <a:spcPct val="132000"/>
              </a:lnSpc>
              <a:spcAft>
                <a:spcPts val="600"/>
              </a:spcAft>
            </a:pPr>
            <a:r>
              <a:rPr sz="1600" b="1">
                <a:solidFill>
                  <a:srgbClr val="1F4E79"/>
                </a:solidFill>
                <a:latin typeface="Meiryo"/>
                <a:ea typeface="Meiryo"/>
                <a:cs typeface="Meiryo"/>
              </a:rPr>
              <a:t>① まとめて書く</a:t>
            </a:r>
          </a:p>
        </p:txBody>
      </p:sp>
      <mc:AlternateContent xmlns:mc="http://schemas.openxmlformats.org/markup-compatibility/2006">
        <mc:Choice xmlns:a14="http://schemas.microsoft.com/office/drawing/2010/main" Requires="a14">
          <p:sp>
            <p:nvSpPr>
              <p:cNvPr id="5" name="TextBox 4"/>
              <p:cNvSpPr txBox="1"/>
              <p:nvPr/>
            </p:nvSpPr>
            <p:spPr>
              <a:xfrm>
                <a:off x="704088" y="1499616"/>
                <a:ext cx="10783519" cy="1078992"/>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f>
                        <m:fPr>
                          <m:ctrlPr>
                            <a:rPr lang="en-US" sz="1600" b="0" i="1" dirty="0">
                              <a:solidFill>
                                <a:srgbClr val="222222"/>
                              </a:solidFill>
                              <a:latin typeface="Cambria Math" panose="02040503050406030204" pitchFamily="18" charset="0"/>
                            </a:rPr>
                          </m:ctrlPr>
                        </m:fPr>
                        <m:num>
                          <m:r>
                            <a:rPr lang="en-US" sz="1600" b="0" i="0" dirty="0">
                              <a:solidFill>
                                <a:srgbClr val="222222"/>
                              </a:solidFill>
                              <a:latin typeface="Cambria Math" panose="02040503050406030204" pitchFamily="18" charset="0"/>
                            </a:rPr>
                            <m:t>𝑑</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𝐵</m:t>
                              </m:r>
                            </m:e>
                            <m:sub>
                              <m:r>
                                <a:rPr lang="en-US" sz="1600" b="0" i="1" dirty="0">
                                  <a:solidFill>
                                    <a:srgbClr val="222222"/>
                                  </a:solidFill>
                                  <a:latin typeface="Cambria Math" panose="02040503050406030204" pitchFamily="18" charset="0"/>
                                </a:rPr>
                                <m:t>𝑖</m:t>
                              </m:r>
                            </m:sub>
                          </m:sSub>
                        </m:num>
                        <m:den>
                          <m:r>
                            <a:rPr lang="en-US" sz="1600" b="0" i="0" dirty="0">
                              <a:solidFill>
                                <a:srgbClr val="222222"/>
                              </a:solidFill>
                              <a:latin typeface="Cambria Math" panose="02040503050406030204" pitchFamily="18" charset="0"/>
                            </a:rPr>
                            <m:t>𝑑</m:t>
                          </m:r>
                          <m:r>
                            <a:rPr lang="en-US" sz="1600" b="0" i="1" dirty="0">
                              <a:solidFill>
                                <a:srgbClr val="222222"/>
                              </a:solidFill>
                              <a:latin typeface="Cambria Math" panose="02040503050406030204" pitchFamily="18" charset="0"/>
                            </a:rPr>
                            <m:t>𝑡</m:t>
                          </m:r>
                        </m:den>
                      </m:f>
                      <m:r>
                        <a:rPr lang="en-US" sz="1600" b="0" i="0" dirty="0">
                          <a:solidFill>
                            <a:srgbClr val="222222"/>
                          </a:solidFill>
                          <a:latin typeface="Cambria Math" panose="02040503050406030204" pitchFamily="18" charset="0"/>
                        </a:rPr>
                        <m:t> = </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𝐵</m:t>
                          </m:r>
                        </m:e>
                        <m:sub>
                          <m:r>
                            <a:rPr lang="en-US" sz="1600" b="0" i="1" dirty="0">
                              <a:solidFill>
                                <a:srgbClr val="222222"/>
                              </a:solidFill>
                              <a:latin typeface="Cambria Math" panose="02040503050406030204" pitchFamily="18" charset="0"/>
                            </a:rPr>
                            <m:t>𝑖</m:t>
                          </m:r>
                        </m:sub>
                      </m:sSub>
                      <m:d>
                        <m:dPr>
                          <m:ctrlPr>
                            <a:rPr lang="en-US" sz="1600" b="0" i="1" dirty="0">
                              <a:solidFill>
                                <a:srgbClr val="222222"/>
                              </a:solidFill>
                              <a:latin typeface="Cambria Math" panose="02040503050406030204" pitchFamily="18" charset="0"/>
                            </a:rPr>
                          </m:ctrlPr>
                        </m:dPr>
                        <m:e>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𝜌</m:t>
                              </m:r>
                            </m:e>
                            <m:sub>
                              <m:r>
                                <a:rPr lang="en-US" sz="1600" b="0" i="1" dirty="0">
                                  <a:solidFill>
                                    <a:srgbClr val="222222"/>
                                  </a:solidFill>
                                  <a:latin typeface="Cambria Math" panose="02040503050406030204" pitchFamily="18" charset="0"/>
                                </a:rPr>
                                <m:t>𝑖</m:t>
                              </m:r>
                            </m:sub>
                          </m:sSub>
                          <m:r>
                            <a:rPr lang="en-US" sz="1600" b="0" i="0" dirty="0">
                              <a:solidFill>
                                <a:srgbClr val="222222"/>
                              </a:solidFill>
                              <a:latin typeface="Cambria Math" panose="02040503050406030204" pitchFamily="18" charset="0"/>
                            </a:rPr>
                            <m:t> − </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𝑓</m:t>
                              </m:r>
                            </m:e>
                            <m:sub>
                              <m:r>
                                <a:rPr lang="en-US" sz="1600" b="0" i="1" dirty="0">
                                  <a:solidFill>
                                    <a:srgbClr val="222222"/>
                                  </a:solidFill>
                                  <a:latin typeface="Cambria Math" panose="02040503050406030204" pitchFamily="18" charset="0"/>
                                </a:rPr>
                                <m:t>𝑖</m:t>
                              </m:r>
                            </m:sub>
                          </m:sSub>
                          <m:r>
                            <a:rPr lang="en-US" sz="1600" b="0" i="0" dirty="0">
                              <a:solidFill>
                                <a:srgbClr val="222222"/>
                              </a:solidFill>
                              <a:latin typeface="Cambria Math" panose="02040503050406030204" pitchFamily="18" charset="0"/>
                            </a:rPr>
                            <m:t> + </m:t>
                          </m:r>
                          <m:nary>
                            <m:naryPr>
                              <m:chr m:val="∑"/>
                              <m:limLoc m:val="subSup"/>
                              <m:ctrlPr>
                                <a:rPr lang="en-US" sz="1600" b="0" i="1" dirty="0">
                                  <a:solidFill>
                                    <a:srgbClr val="222222"/>
                                  </a:solidFill>
                                  <a:latin typeface="Cambria Math" panose="02040503050406030204" pitchFamily="18" charset="0"/>
                                </a:rPr>
                              </m:ctrlPr>
                            </m:naryPr>
                            <m:sub>
                              <m:r>
                                <a:rPr lang="en-US" sz="1600" b="0" i="1" dirty="0">
                                  <a:solidFill>
                                    <a:srgbClr val="222222"/>
                                  </a:solidFill>
                                  <a:latin typeface="Cambria Math" panose="02040503050406030204" pitchFamily="18" charset="0"/>
                                </a:rPr>
                                <m:t>𝑗</m:t>
                              </m:r>
                            </m:sub>
                            <m:sup/>
                            <m:e>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𝐴</m:t>
                                  </m:r>
                                </m:e>
                                <m:sub>
                                  <m:r>
                                    <a:rPr lang="en-US" sz="1600" b="0" i="1" dirty="0">
                                      <a:solidFill>
                                        <a:srgbClr val="222222"/>
                                      </a:solidFill>
                                      <a:latin typeface="Cambria Math" panose="02040503050406030204" pitchFamily="18" charset="0"/>
                                    </a:rPr>
                                    <m:t>𝑖𝑗</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𝐵</m:t>
                                  </m:r>
                                </m:e>
                                <m:sub>
                                  <m:r>
                                    <a:rPr lang="en-US" sz="1600" b="0" i="1" dirty="0">
                                      <a:solidFill>
                                        <a:srgbClr val="222222"/>
                                      </a:solidFill>
                                      <a:latin typeface="Cambria Math" panose="02040503050406030204" pitchFamily="18" charset="0"/>
                                    </a:rPr>
                                    <m:t>𝑗</m:t>
                                  </m:r>
                                </m:sub>
                              </m:sSub>
                            </m:e>
                          </m:nary>
                        </m:e>
                      </m:d>
                    </m:oMath>
                  </m:oMathPara>
                </a14:m>
                <a:endParaRPr lang="en-US" sz="1600" dirty="0"/>
              </a:p>
              <a:p>
                <a:pPr marL="0" indent="0">
                  <a:spcAft>
                    <a:spcPts val="700"/>
                  </a:spcAft>
                </a:pPr>
                <a14:m>
                  <m:oMathPara xmlns:m="http://schemas.openxmlformats.org/officeDocument/2006/math">
                    <m:oMathParaPr>
                      <m:jc m:val="left"/>
                    </m:oMathParaPr>
                    <m:oMath xmlns:m="http://schemas.openxmlformats.org/officeDocument/2006/math">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𝐵</m:t>
                          </m:r>
                        </m:e>
                        <m:sup>
                          <m:r>
                            <a:rPr lang="en-US" sz="1600" b="0" i="0" dirty="0">
                              <a:solidFill>
                                <a:srgbClr val="222222"/>
                              </a:solidFill>
                              <a:latin typeface="Cambria Math" panose="02040503050406030204" pitchFamily="18" charset="0"/>
                            </a:rPr>
                            <m:t>∗</m:t>
                          </m:r>
                        </m:sup>
                      </m:sSup>
                      <m:d>
                        <m:dPr>
                          <m:ctrlPr>
                            <a:rPr lang="en-US" sz="1600" b="0" i="1" dirty="0">
                              <a:solidFill>
                                <a:srgbClr val="222222"/>
                              </a:solidFill>
                              <a:latin typeface="Cambria Math" panose="02040503050406030204" pitchFamily="18" charset="0"/>
                            </a:rPr>
                          </m:ctrlPr>
                        </m:dPr>
                        <m:e>
                          <m:r>
                            <a:rPr lang="en-US" sz="1600" b="0" i="1" dirty="0">
                              <a:solidFill>
                                <a:srgbClr val="222222"/>
                              </a:solidFill>
                              <a:latin typeface="Cambria Math" panose="02040503050406030204" pitchFamily="18" charset="0"/>
                            </a:rPr>
                            <m:t>𝑓</m:t>
                          </m:r>
                        </m:e>
                      </m:d>
                      <m:r>
                        <a:rPr lang="en-US" sz="1600" b="0" i="0" dirty="0">
                          <a:solidFill>
                            <a:srgbClr val="222222"/>
                          </a:solidFill>
                          <a:latin typeface="Cambria Math" panose="02040503050406030204" pitchFamily="18" charset="0"/>
                        </a:rPr>
                        <m:t> = </m:t>
                      </m:r>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𝐵</m:t>
                          </m:r>
                        </m:e>
                        <m:sup>
                          <m:r>
                            <a:rPr lang="en-US" sz="1600" b="0" i="0" dirty="0">
                              <a:solidFill>
                                <a:srgbClr val="222222"/>
                              </a:solidFill>
                              <a:latin typeface="Cambria Math" panose="02040503050406030204" pitchFamily="18" charset="0"/>
                            </a:rPr>
                            <m:t>∗</m:t>
                          </m:r>
                        </m:sup>
                      </m:sSup>
                      <m:d>
                        <m:dPr>
                          <m:ctrlPr>
                            <a:rPr lang="en-US" sz="1600" b="0" i="1" dirty="0">
                              <a:solidFill>
                                <a:srgbClr val="222222"/>
                              </a:solidFill>
                              <a:latin typeface="Cambria Math" panose="02040503050406030204" pitchFamily="18" charset="0"/>
                            </a:rPr>
                          </m:ctrlPr>
                        </m:dPr>
                        <m:e>
                          <m:r>
                            <a:rPr lang="en-US" sz="1600" b="0" i="0" dirty="0">
                              <a:solidFill>
                                <a:srgbClr val="222222"/>
                              </a:solidFill>
                              <a:latin typeface="Cambria Math" panose="02040503050406030204" pitchFamily="18" charset="0"/>
                            </a:rPr>
                            <m:t>0</m:t>
                          </m:r>
                        </m:e>
                      </m:d>
                      <m:r>
                        <a:rPr lang="en-US" sz="1600" b="0" i="0" dirty="0">
                          <a:solidFill>
                            <a:srgbClr val="222222"/>
                          </a:solidFill>
                          <a:latin typeface="Cambria Math" panose="02040503050406030204" pitchFamily="18" charset="0"/>
                        </a:rPr>
                        <m:t> + </m:t>
                      </m:r>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𝐴</m:t>
                          </m:r>
                        </m:e>
                        <m:sup>
                          <m:r>
                            <a:rPr lang="en-US" sz="1600" b="0" i="0" dirty="0">
                              <a:solidFill>
                                <a:srgbClr val="222222"/>
                              </a:solidFill>
                              <a:latin typeface="Cambria Math" panose="02040503050406030204" pitchFamily="18" charset="0"/>
                            </a:rPr>
                            <m:t>−1</m:t>
                          </m:r>
                        </m:sup>
                      </m:sSup>
                      <m:r>
                        <a:rPr lang="en-US" sz="1600" b="0" i="0" dirty="0">
                          <a:solidFill>
                            <a:srgbClr val="222222"/>
                          </a:solidFill>
                          <a:latin typeface="Cambria Math" panose="02040503050406030204" pitchFamily="18" charset="0"/>
                        </a:rPr>
                        <m:t> </m:t>
                      </m:r>
                      <m:r>
                        <a:rPr lang="en-US" sz="1600" b="0" i="1" dirty="0">
                          <a:solidFill>
                            <a:srgbClr val="222222"/>
                          </a:solidFill>
                          <a:latin typeface="Cambria Math" panose="02040503050406030204" pitchFamily="18" charset="0"/>
                        </a:rPr>
                        <m:t>𝑓</m:t>
                      </m:r>
                    </m:oMath>
                  </m:oMathPara>
                </a14:m>
                <a:endParaRPr lang="en-US" sz="1600" dirty="0"/>
              </a:p>
            </p:txBody>
          </p:sp>
        </mc:Choice>
        <mc:Fallback>
          <p:sp>
            <p:nvSpPr>
              <p:cNvPr id="5" name="TextBox 4"/>
              <p:cNvSpPr txBox="1">
                <a:spLocks noRot="1" noChangeAspect="1" noMove="1" noResize="1" noEditPoints="1" noAdjustHandles="1" noChangeArrowheads="1" noChangeShapeType="1" noTextEdit="1"/>
              </p:cNvSpPr>
              <p:nvPr/>
            </p:nvSpPr>
            <p:spPr>
              <a:xfrm>
                <a:off x="704088" y="1499616"/>
                <a:ext cx="10783519" cy="1078992"/>
              </a:xfrm>
              <a:prstGeom prst="rect">
                <a:avLst/>
              </a:prstGeom>
              <a:blipFill>
                <a:blip r:embed="rId2"/>
                <a:stretch>
                  <a:fillRect l="-706" t="-81395" b="-73256"/>
                </a:stretch>
              </a:blipFill>
            </p:spPr>
            <p:txBody>
              <a:bodyPr/>
              <a:lstStyle/>
              <a:p>
                <a:r>
                  <a:rPr lang="ja-JP" altLang="en-US">
                    <a:noFill/>
                  </a:rPr>
                  <a:t> </a:t>
                </a:r>
              </a:p>
            </p:txBody>
          </p:sp>
        </mc:Fallback>
      </mc:AlternateContent>
      <p:sp>
        <p:nvSpPr>
          <p:cNvPr id="6" name="TextBox 5"/>
          <p:cNvSpPr txBox="1"/>
          <p:nvPr/>
        </p:nvSpPr>
        <p:spPr>
          <a:xfrm>
            <a:off x="566928" y="2798064"/>
            <a:ext cx="11057839" cy="292608"/>
          </a:xfrm>
          <a:prstGeom prst="rect">
            <a:avLst/>
          </a:prstGeom>
          <a:noFill/>
        </p:spPr>
        <p:txBody>
          <a:bodyPr wrap="square" lIns="0" tIns="0" rIns="0" bIns="0" anchor="t">
            <a:spAutoFit/>
          </a:bodyPr>
          <a:lstStyle/>
          <a:p>
            <a:pPr algn="l">
              <a:lnSpc>
                <a:spcPct val="132000"/>
              </a:lnSpc>
              <a:spcAft>
                <a:spcPts val="600"/>
              </a:spcAft>
            </a:pPr>
            <a:r>
              <a:rPr sz="1600" b="1">
                <a:solidFill>
                  <a:srgbClr val="1F4E79"/>
                </a:solidFill>
                <a:latin typeface="Meiryo"/>
                <a:ea typeface="Meiryo"/>
                <a:cs typeface="Meiryo"/>
              </a:rPr>
              <a:t>② 効き方は A の逆行列で決まる</a:t>
            </a:r>
          </a:p>
        </p:txBody>
      </p:sp>
      <mc:AlternateContent xmlns:mc="http://schemas.openxmlformats.org/markup-compatibility/2006">
        <mc:Choice xmlns:a14="http://schemas.microsoft.com/office/drawing/2010/main" Requires="a14">
          <p:sp>
            <p:nvSpPr>
              <p:cNvPr id="7" name="TextBox 6"/>
              <p:cNvSpPr txBox="1"/>
              <p:nvPr/>
            </p:nvSpPr>
            <p:spPr>
              <a:xfrm>
                <a:off x="704088" y="3127248"/>
                <a:ext cx="10783519" cy="676656"/>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f>
                        <m:fPr>
                          <m:ctrlPr>
                            <a:rPr lang="en-US" sz="1600" b="0" i="1" dirty="0">
                              <a:solidFill>
                                <a:srgbClr val="222222"/>
                              </a:solidFill>
                              <a:latin typeface="Cambria Math" panose="02040503050406030204" pitchFamily="18" charset="0"/>
                            </a:rPr>
                          </m:ctrlPr>
                        </m:fPr>
                        <m:num>
                          <m:r>
                            <a:rPr lang="en-US" sz="1600" b="0" i="0" dirty="0">
                              <a:solidFill>
                                <a:srgbClr val="222222"/>
                              </a:solidFill>
                              <a:latin typeface="Cambria Math" panose="02040503050406030204" pitchFamily="18" charset="0"/>
                            </a:rPr>
                            <m:t>𝜕</m:t>
                          </m:r>
                          <m:sSup>
                            <m:sSupPr>
                              <m:ctrlPr>
                                <a:rPr lang="en-US" sz="1600" b="0" i="1" dirty="0">
                                  <a:solidFill>
                                    <a:srgbClr val="222222"/>
                                  </a:solidFill>
                                  <a:latin typeface="Cambria Math" panose="02040503050406030204" pitchFamily="18" charset="0"/>
                                </a:rPr>
                              </m:ctrlPr>
                            </m:sSupPr>
                            <m:e>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𝐵</m:t>
                                  </m:r>
                                </m:e>
                                <m:sub>
                                  <m:r>
                                    <a:rPr lang="en-US" sz="1600" b="0" i="1" dirty="0">
                                      <a:solidFill>
                                        <a:srgbClr val="222222"/>
                                      </a:solidFill>
                                      <a:latin typeface="Cambria Math" panose="02040503050406030204" pitchFamily="18" charset="0"/>
                                    </a:rPr>
                                    <m:t>𝑖</m:t>
                                  </m:r>
                                </m:sub>
                              </m:sSub>
                            </m:e>
                            <m:sup>
                              <m:r>
                                <a:rPr lang="en-US" sz="1600" b="0" i="0" dirty="0">
                                  <a:solidFill>
                                    <a:srgbClr val="222222"/>
                                  </a:solidFill>
                                  <a:latin typeface="Cambria Math" panose="02040503050406030204" pitchFamily="18" charset="0"/>
                                </a:rPr>
                                <m:t>∗</m:t>
                              </m:r>
                            </m:sup>
                          </m:sSup>
                        </m:num>
                        <m:den>
                          <m:r>
                            <a:rPr lang="en-US" sz="1600" b="0" i="0" dirty="0">
                              <a:solidFill>
                                <a:srgbClr val="222222"/>
                              </a:solidFill>
                              <a:latin typeface="Cambria Math" panose="02040503050406030204" pitchFamily="18" charset="0"/>
                            </a:rPr>
                            <m:t>𝜕</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𝑓</m:t>
                              </m:r>
                            </m:e>
                            <m:sub>
                              <m:r>
                                <a:rPr lang="en-US" sz="1600" b="0" i="1" dirty="0">
                                  <a:solidFill>
                                    <a:srgbClr val="222222"/>
                                  </a:solidFill>
                                  <a:latin typeface="Cambria Math" panose="02040503050406030204" pitchFamily="18" charset="0"/>
                                </a:rPr>
                                <m:t>𝑗</m:t>
                              </m:r>
                            </m:sub>
                          </m:sSub>
                        </m:den>
                      </m:f>
                      <m:r>
                        <a:rPr lang="en-US" sz="1600" b="0" i="0" dirty="0">
                          <a:solidFill>
                            <a:srgbClr val="222222"/>
                          </a:solidFill>
                          <a:latin typeface="Cambria Math" panose="02040503050406030204" pitchFamily="18" charset="0"/>
                        </a:rPr>
                        <m:t> = </m:t>
                      </m:r>
                      <m:sSub>
                        <m:sSubPr>
                          <m:ctrlPr>
                            <a:rPr lang="en-US" sz="1600" b="0" i="1" dirty="0">
                              <a:solidFill>
                                <a:srgbClr val="222222"/>
                              </a:solidFill>
                              <a:latin typeface="Cambria Math" panose="02040503050406030204" pitchFamily="18" charset="0"/>
                            </a:rPr>
                          </m:ctrlPr>
                        </m:sSubPr>
                        <m:e>
                          <m:d>
                            <m:dPr>
                              <m:ctrlPr>
                                <a:rPr lang="en-US" sz="1600" b="0" i="1" dirty="0">
                                  <a:solidFill>
                                    <a:srgbClr val="222222"/>
                                  </a:solidFill>
                                  <a:latin typeface="Cambria Math" panose="02040503050406030204" pitchFamily="18" charset="0"/>
                                </a:rPr>
                              </m:ctrlPr>
                            </m:dPr>
                            <m:e>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𝐴</m:t>
                                  </m:r>
                                </m:e>
                                <m:sup>
                                  <m:r>
                                    <a:rPr lang="en-US" sz="1600" b="0" i="0" dirty="0">
                                      <a:solidFill>
                                        <a:srgbClr val="222222"/>
                                      </a:solidFill>
                                      <a:latin typeface="Cambria Math" panose="02040503050406030204" pitchFamily="18" charset="0"/>
                                    </a:rPr>
                                    <m:t>−1</m:t>
                                  </m:r>
                                </m:sup>
                              </m:sSup>
                            </m:e>
                          </m:d>
                        </m:e>
                        <m:sub>
                          <m:r>
                            <a:rPr lang="en-US" sz="1600" b="0" i="1" dirty="0">
                              <a:solidFill>
                                <a:srgbClr val="222222"/>
                              </a:solidFill>
                              <a:latin typeface="Cambria Math" panose="02040503050406030204" pitchFamily="18" charset="0"/>
                            </a:rPr>
                            <m:t>𝑖𝑗</m:t>
                          </m:r>
                        </m:sub>
                      </m:sSub>
                    </m:oMath>
                  </m:oMathPara>
                </a14:m>
                <a:endParaRPr lang="en-US" sz="1600" dirty="0"/>
              </a:p>
            </p:txBody>
          </p:sp>
        </mc:Choice>
        <mc:Fallback>
          <p:sp>
            <p:nvSpPr>
              <p:cNvPr id="7" name="TextBox 6"/>
              <p:cNvSpPr txBox="1">
                <a:spLocks noRot="1" noChangeAspect="1" noMove="1" noResize="1" noEditPoints="1" noAdjustHandles="1" noChangeArrowheads="1" noChangeShapeType="1" noTextEdit="1"/>
              </p:cNvSpPr>
              <p:nvPr/>
            </p:nvSpPr>
            <p:spPr>
              <a:xfrm>
                <a:off x="704088" y="3127248"/>
                <a:ext cx="10783519" cy="676656"/>
              </a:xfrm>
              <a:prstGeom prst="rect">
                <a:avLst/>
              </a:prstGeom>
              <a:blipFill>
                <a:blip r:embed="rId3"/>
                <a:stretch>
                  <a:fillRect l="-706"/>
                </a:stretch>
              </a:blipFill>
            </p:spPr>
            <p:txBody>
              <a:bodyPr/>
              <a:lstStyle/>
              <a:p>
                <a:r>
                  <a:rPr lang="ja-JP" altLang="en-US">
                    <a:noFill/>
                  </a:rPr>
                  <a:t> </a:t>
                </a:r>
              </a:p>
            </p:txBody>
          </p:sp>
        </mc:Fallback>
      </mc:AlternateContent>
      <p:sp>
        <p:nvSpPr>
          <p:cNvPr id="8" name="TextBox 7"/>
          <p:cNvSpPr txBox="1"/>
          <p:nvPr/>
        </p:nvSpPr>
        <p:spPr>
          <a:xfrm>
            <a:off x="566928" y="3877056"/>
            <a:ext cx="11057839" cy="1005840"/>
          </a:xfrm>
          <a:prstGeom prst="rect">
            <a:avLst/>
          </a:prstGeom>
          <a:noFill/>
        </p:spPr>
        <p:txBody>
          <a:bodyPr wrap="square" lIns="0" tIns="0" rIns="0" bIns="0" anchor="t">
            <a:spAutoFit/>
          </a:bodyPr>
          <a:lstStyle/>
          <a:p>
            <a:pPr algn="l">
              <a:lnSpc>
                <a:spcPct val="132000"/>
              </a:lnSpc>
              <a:spcAft>
                <a:spcPts val="800"/>
              </a:spcAft>
            </a:pPr>
            <a:r>
              <a:rPr sz="1550" b="0">
                <a:solidFill>
                  <a:srgbClr val="222222"/>
                </a:solidFill>
                <a:latin typeface="Meiryo"/>
                <a:ea typeface="Meiryo"/>
                <a:cs typeface="Meiryo"/>
              </a:rPr>
              <a:t>「自分の漁獲が自分に効かない」とは、A の逆行列の対角がゼロだということ。</a:t>
            </a:r>
          </a:p>
          <a:p>
            <a:pPr algn="l">
              <a:lnSpc>
                <a:spcPct val="132000"/>
              </a:lnSpc>
              <a:spcAft>
                <a:spcPts val="800"/>
              </a:spcAft>
            </a:pPr>
            <a:r>
              <a:rPr sz="1550" b="0">
                <a:solidFill>
                  <a:srgbClr val="C0561A"/>
                </a:solidFill>
                <a:latin typeface="Meiryo"/>
                <a:ea typeface="Meiryo"/>
                <a:cs typeface="Meiryo"/>
              </a:rPr>
              <a:t>注意：A の対角がゼロでも、逆行列の対角がゼロとは限らない。反例 A ＝ [[0,1,1],[1,0,1],[1,1,0]] の逆行列の対角は −1/2。</a:t>
            </a:r>
          </a:p>
        </p:txBody>
      </p:sp>
      <p:sp>
        <p:nvSpPr>
          <p:cNvPr id="9" name="TextBox 8"/>
          <p:cNvSpPr txBox="1"/>
          <p:nvPr/>
        </p:nvSpPr>
        <p:spPr>
          <a:xfrm>
            <a:off x="566928" y="4956048"/>
            <a:ext cx="11057839" cy="292608"/>
          </a:xfrm>
          <a:prstGeom prst="rect">
            <a:avLst/>
          </a:prstGeom>
          <a:noFill/>
        </p:spPr>
        <p:txBody>
          <a:bodyPr wrap="square" lIns="0" tIns="0" rIns="0" bIns="0" anchor="t">
            <a:spAutoFit/>
          </a:bodyPr>
          <a:lstStyle/>
          <a:p>
            <a:pPr algn="l">
              <a:lnSpc>
                <a:spcPct val="132000"/>
              </a:lnSpc>
              <a:spcAft>
                <a:spcPts val="600"/>
              </a:spcAft>
            </a:pPr>
            <a:r>
              <a:rPr sz="1600" b="1">
                <a:solidFill>
                  <a:srgbClr val="1F4E79"/>
                </a:solidFill>
                <a:latin typeface="Meiryo"/>
                <a:ea typeface="Meiryo"/>
                <a:cs typeface="Meiryo"/>
              </a:rPr>
              <a:t>③ 今回のモデルで成り立つ理由</a:t>
            </a:r>
          </a:p>
        </p:txBody>
      </p:sp>
      <p:sp>
        <p:nvSpPr>
          <p:cNvPr id="10" name="TextBox 9"/>
          <p:cNvSpPr txBox="1"/>
          <p:nvPr/>
        </p:nvSpPr>
        <p:spPr>
          <a:xfrm>
            <a:off x="704088" y="5266944"/>
            <a:ext cx="9966960" cy="960120"/>
          </a:xfrm>
          <a:prstGeom prst="rect">
            <a:avLst/>
          </a:prstGeom>
          <a:noFill/>
        </p:spPr>
        <p:txBody>
          <a:bodyPr wrap="square" lIns="0" tIns="0" rIns="0" bIns="0" anchor="t">
            <a:spAutoFit/>
          </a:bodyPr>
          <a:lstStyle/>
          <a:p>
            <a:pPr algn="l">
              <a:lnSpc>
                <a:spcPct val="132000"/>
              </a:lnSpc>
              <a:spcAft>
                <a:spcPts val="600"/>
              </a:spcAft>
            </a:pPr>
            <a:r>
              <a:rPr sz="1500" b="0">
                <a:solidFill>
                  <a:srgbClr val="222222"/>
                </a:solidFill>
                <a:latin typeface="Meiryo"/>
                <a:ea typeface="Meiryo"/>
                <a:cs typeface="Meiryo"/>
              </a:rPr>
              <a:t>A は餌の段と食べる段の「あいだ」にしか値がない形（5枚目の灰色の位置がゼロ）。このとき逆行列も同じ形になり、対角がゼロになる。</a:t>
            </a:r>
          </a:p>
          <a:p>
            <a:pPr algn="l">
              <a:lnSpc>
                <a:spcPct val="132000"/>
              </a:lnSpc>
              <a:spcAft>
                <a:spcPts val="600"/>
              </a:spcAft>
            </a:pPr>
            <a:r>
              <a:rPr sz="1500" b="0">
                <a:solidFill>
                  <a:srgbClr val="222222"/>
                </a:solidFill>
                <a:latin typeface="Meiryo"/>
                <a:ea typeface="Meiryo"/>
                <a:cs typeface="Meiryo"/>
              </a:rPr>
              <a:t>餌の魚どうしの取り合いを入れると対角はゼロでなくなり、内側の最大が戻りうる。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25</a:t>
            </a:r>
          </a:p>
        </p:txBody>
      </p:sp>
      <mc:AlternateContent xmlns:mc="http://schemas.openxmlformats.org/markup-compatibility/2006">
        <mc:Choice xmlns:a14="http://schemas.microsoft.com/office/drawing/2010/main" Requires="a14">
          <p:sp>
            <p:nvSpPr>
              <p:cNvPr id="3" name="TextBox 2"/>
              <p:cNvSpPr txBox="1"/>
              <p:nvPr/>
            </p:nvSpPr>
            <p:spPr>
              <a:xfrm>
                <a:off x="3581247" y="1014983"/>
                <a:ext cx="1463040" cy="54864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2100" b="0" i="1" dirty="0">
                          <a:solidFill>
                            <a:srgbClr val="222222"/>
                          </a:solidFill>
                          <a:latin typeface="Cambria Math" panose="02040503050406030204" pitchFamily="18" charset="0"/>
                        </a:rPr>
                        <m:t>𝐴</m:t>
                      </m:r>
                      <m:r>
                        <a:rPr lang="en-US" sz="2100" b="0" i="0" dirty="0">
                          <a:solidFill>
                            <a:srgbClr val="222222"/>
                          </a:solidFill>
                          <a:latin typeface="Cambria Math" panose="02040503050406030204" pitchFamily="18" charset="0"/>
                        </a:rPr>
                        <m:t> = </m:t>
                      </m:r>
                    </m:oMath>
                  </m:oMathPara>
                </a14:m>
                <a:endParaRPr lang="en-US" sz="2100" dirty="0"/>
              </a:p>
            </p:txBody>
          </p:sp>
        </mc:Choice>
        <mc:Fallback>
          <p:sp>
            <p:nvSpPr>
              <p:cNvPr id="3" name="TextBox 2"/>
              <p:cNvSpPr txBox="1">
                <a:spLocks noRot="1" noChangeAspect="1" noMove="1" noResize="1" noEditPoints="1" noAdjustHandles="1" noChangeArrowheads="1" noChangeShapeType="1" noTextEdit="1"/>
              </p:cNvSpPr>
              <p:nvPr/>
            </p:nvSpPr>
            <p:spPr>
              <a:xfrm>
                <a:off x="3581247" y="1014983"/>
                <a:ext cx="1463040" cy="548640"/>
              </a:xfrm>
              <a:prstGeom prst="rect">
                <a:avLst/>
              </a:prstGeom>
              <a:blipFill>
                <a:blip r:embed="rId2"/>
                <a:stretch>
                  <a:fillRect b="-454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5190591" y="411480"/>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4" name="TextBox 3"/>
              <p:cNvSpPr txBox="1">
                <a:spLocks noRot="1" noChangeAspect="1" noMove="1" noResize="1" noEditPoints="1" noAdjustHandles="1" noChangeArrowheads="1" noChangeShapeType="1" noTextEdit="1"/>
              </p:cNvSpPr>
              <p:nvPr/>
            </p:nvSpPr>
            <p:spPr>
              <a:xfrm>
                <a:off x="5190591" y="411480"/>
                <a:ext cx="914400" cy="43891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6104991" y="411480"/>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5" name="TextBox 4"/>
              <p:cNvSpPr txBox="1">
                <a:spLocks noRot="1" noChangeAspect="1" noMove="1" noResize="1" noEditPoints="1" noAdjustHandles="1" noChangeArrowheads="1" noChangeShapeType="1" noTextEdit="1"/>
              </p:cNvSpPr>
              <p:nvPr/>
            </p:nvSpPr>
            <p:spPr>
              <a:xfrm>
                <a:off x="6104991" y="411480"/>
                <a:ext cx="914400" cy="43891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7019391" y="411480"/>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11</m:t>
                          </m:r>
                        </m:sub>
                      </m:sSub>
                    </m:oMath>
                  </m:oMathPara>
                </a14:m>
                <a:endParaRPr lang="en-US" sz="1600" dirty="0"/>
              </a:p>
            </p:txBody>
          </p:sp>
        </mc:Choice>
        <mc:Fallback>
          <p:sp>
            <p:nvSpPr>
              <p:cNvPr id="6" name="TextBox 5"/>
              <p:cNvSpPr txBox="1">
                <a:spLocks noRot="1" noChangeAspect="1" noMove="1" noResize="1" noEditPoints="1" noAdjustHandles="1" noChangeArrowheads="1" noChangeShapeType="1" noTextEdit="1"/>
              </p:cNvSpPr>
              <p:nvPr/>
            </p:nvSpPr>
            <p:spPr>
              <a:xfrm>
                <a:off x="7019391" y="411480"/>
                <a:ext cx="914400" cy="43891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7933791" y="411480"/>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12</m:t>
                          </m:r>
                        </m:sub>
                      </m:sSub>
                    </m:oMath>
                  </m:oMathPara>
                </a14:m>
                <a:endParaRPr lang="en-US" sz="1600" dirty="0"/>
              </a:p>
            </p:txBody>
          </p:sp>
        </mc:Choice>
        <mc:Fallback>
          <p:sp>
            <p:nvSpPr>
              <p:cNvPr id="7" name="TextBox 6"/>
              <p:cNvSpPr txBox="1">
                <a:spLocks noRot="1" noChangeAspect="1" noMove="1" noResize="1" noEditPoints="1" noAdjustHandles="1" noChangeArrowheads="1" noChangeShapeType="1" noTextEdit="1"/>
              </p:cNvSpPr>
              <p:nvPr/>
            </p:nvSpPr>
            <p:spPr>
              <a:xfrm>
                <a:off x="7933791" y="411480"/>
                <a:ext cx="914400" cy="43891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190591" y="850392"/>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8" name="TextBox 7"/>
              <p:cNvSpPr txBox="1">
                <a:spLocks noRot="1" noChangeAspect="1" noMove="1" noResize="1" noEditPoints="1" noAdjustHandles="1" noChangeArrowheads="1" noChangeShapeType="1" noTextEdit="1"/>
              </p:cNvSpPr>
              <p:nvPr/>
            </p:nvSpPr>
            <p:spPr>
              <a:xfrm>
                <a:off x="5190591" y="850392"/>
                <a:ext cx="914400" cy="43891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6104991" y="850392"/>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9" name="TextBox 8"/>
              <p:cNvSpPr txBox="1">
                <a:spLocks noRot="1" noChangeAspect="1" noMove="1" noResize="1" noEditPoints="1" noAdjustHandles="1" noChangeArrowheads="1" noChangeShapeType="1" noTextEdit="1"/>
              </p:cNvSpPr>
              <p:nvPr/>
            </p:nvSpPr>
            <p:spPr>
              <a:xfrm>
                <a:off x="6104991" y="850392"/>
                <a:ext cx="914400" cy="43891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7019391" y="850392"/>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21</m:t>
                          </m:r>
                        </m:sub>
                      </m:sSub>
                    </m:oMath>
                  </m:oMathPara>
                </a14:m>
                <a:endParaRPr lang="en-US" sz="1600" dirty="0"/>
              </a:p>
            </p:txBody>
          </p:sp>
        </mc:Choice>
        <mc:Fallback>
          <p:sp>
            <p:nvSpPr>
              <p:cNvPr id="10" name="TextBox 9"/>
              <p:cNvSpPr txBox="1">
                <a:spLocks noRot="1" noChangeAspect="1" noMove="1" noResize="1" noEditPoints="1" noAdjustHandles="1" noChangeArrowheads="1" noChangeShapeType="1" noTextEdit="1"/>
              </p:cNvSpPr>
              <p:nvPr/>
            </p:nvSpPr>
            <p:spPr>
              <a:xfrm>
                <a:off x="7019391" y="850392"/>
                <a:ext cx="914400" cy="43891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7933791" y="850392"/>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m:t>
                      </m:r>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22</m:t>
                          </m:r>
                        </m:sub>
                      </m:sSub>
                    </m:oMath>
                  </m:oMathPara>
                </a14:m>
                <a:endParaRPr lang="en-US" sz="1600" dirty="0"/>
              </a:p>
            </p:txBody>
          </p:sp>
        </mc:Choice>
        <mc:Fallback>
          <p:sp>
            <p:nvSpPr>
              <p:cNvPr id="11" name="TextBox 10"/>
              <p:cNvSpPr txBox="1">
                <a:spLocks noRot="1" noChangeAspect="1" noMove="1" noResize="1" noEditPoints="1" noAdjustHandles="1" noChangeArrowheads="1" noChangeShapeType="1" noTextEdit="1"/>
              </p:cNvSpPr>
              <p:nvPr/>
            </p:nvSpPr>
            <p:spPr>
              <a:xfrm>
                <a:off x="7933791" y="850392"/>
                <a:ext cx="914400" cy="438912"/>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190591" y="1289304"/>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𝑐</m:t>
                          </m:r>
                        </m:e>
                        <m:sub>
                          <m:r>
                            <a:rPr lang="en-US" sz="1600" b="0" i="0" dirty="0">
                              <a:solidFill>
                                <a:srgbClr val="222222"/>
                              </a:solidFill>
                              <a:latin typeface="Cambria Math" panose="02040503050406030204" pitchFamily="18" charset="0"/>
                            </a:rPr>
                            <m:t>1</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11</m:t>
                          </m:r>
                        </m:sub>
                      </m:sSub>
                    </m:oMath>
                  </m:oMathPara>
                </a14:m>
                <a:endParaRPr lang="en-US" sz="1600" dirty="0"/>
              </a:p>
            </p:txBody>
          </p:sp>
        </mc:Choice>
        <mc:Fallback>
          <p:sp>
            <p:nvSpPr>
              <p:cNvPr id="12" name="TextBox 11"/>
              <p:cNvSpPr txBox="1">
                <a:spLocks noRot="1" noChangeAspect="1" noMove="1" noResize="1" noEditPoints="1" noAdjustHandles="1" noChangeArrowheads="1" noChangeShapeType="1" noTextEdit="1"/>
              </p:cNvSpPr>
              <p:nvPr/>
            </p:nvSpPr>
            <p:spPr>
              <a:xfrm>
                <a:off x="5190591" y="1289304"/>
                <a:ext cx="914400" cy="438912"/>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104991" y="1289304"/>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𝑑</m:t>
                          </m:r>
                        </m:e>
                        <m:sub>
                          <m:r>
                            <a:rPr lang="en-US" sz="1600" b="0" i="0" dirty="0">
                              <a:solidFill>
                                <a:srgbClr val="222222"/>
                              </a:solidFill>
                              <a:latin typeface="Cambria Math" panose="02040503050406030204" pitchFamily="18" charset="0"/>
                            </a:rPr>
                            <m:t>1</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21</m:t>
                          </m:r>
                        </m:sub>
                      </m:sSub>
                    </m:oMath>
                  </m:oMathPara>
                </a14:m>
                <a:endParaRPr lang="en-US" sz="1600" dirty="0"/>
              </a:p>
            </p:txBody>
          </p:sp>
        </mc:Choice>
        <mc:Fallback>
          <p:sp>
            <p:nvSpPr>
              <p:cNvPr id="13" name="TextBox 12"/>
              <p:cNvSpPr txBox="1">
                <a:spLocks noRot="1" noChangeAspect="1" noMove="1" noResize="1" noEditPoints="1" noAdjustHandles="1" noChangeArrowheads="1" noChangeShapeType="1" noTextEdit="1"/>
              </p:cNvSpPr>
              <p:nvPr/>
            </p:nvSpPr>
            <p:spPr>
              <a:xfrm>
                <a:off x="6104991" y="1289304"/>
                <a:ext cx="914400" cy="438912"/>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7019391" y="1289304"/>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14" name="TextBox 13"/>
              <p:cNvSpPr txBox="1">
                <a:spLocks noRot="1" noChangeAspect="1" noMove="1" noResize="1" noEditPoints="1" noAdjustHandles="1" noChangeArrowheads="1" noChangeShapeType="1" noTextEdit="1"/>
              </p:cNvSpPr>
              <p:nvPr/>
            </p:nvSpPr>
            <p:spPr>
              <a:xfrm>
                <a:off x="7019391" y="1289304"/>
                <a:ext cx="914400" cy="43891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7933791" y="1289304"/>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15" name="TextBox 14"/>
              <p:cNvSpPr txBox="1">
                <a:spLocks noRot="1" noChangeAspect="1" noMove="1" noResize="1" noEditPoints="1" noAdjustHandles="1" noChangeArrowheads="1" noChangeShapeType="1" noTextEdit="1"/>
              </p:cNvSpPr>
              <p:nvPr/>
            </p:nvSpPr>
            <p:spPr>
              <a:xfrm>
                <a:off x="7933791" y="1289304"/>
                <a:ext cx="914400" cy="43891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5190591" y="1728216"/>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𝑐</m:t>
                          </m:r>
                        </m:e>
                        <m:sub>
                          <m:r>
                            <a:rPr lang="en-US" sz="1600" b="0" i="0" dirty="0">
                              <a:solidFill>
                                <a:srgbClr val="222222"/>
                              </a:solidFill>
                              <a:latin typeface="Cambria Math" panose="02040503050406030204" pitchFamily="18" charset="0"/>
                            </a:rPr>
                            <m:t>2</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12</m:t>
                          </m:r>
                        </m:sub>
                      </m:sSub>
                    </m:oMath>
                  </m:oMathPara>
                </a14:m>
                <a:endParaRPr lang="en-US" sz="1600" dirty="0"/>
              </a:p>
            </p:txBody>
          </p:sp>
        </mc:Choice>
        <mc:Fallback>
          <p:sp>
            <p:nvSpPr>
              <p:cNvPr id="16" name="TextBox 15"/>
              <p:cNvSpPr txBox="1">
                <a:spLocks noRot="1" noChangeAspect="1" noMove="1" noResize="1" noEditPoints="1" noAdjustHandles="1" noChangeArrowheads="1" noChangeShapeType="1" noTextEdit="1"/>
              </p:cNvSpPr>
              <p:nvPr/>
            </p:nvSpPr>
            <p:spPr>
              <a:xfrm>
                <a:off x="5190591" y="1728216"/>
                <a:ext cx="914400" cy="438912"/>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6104991" y="1728216"/>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𝑑</m:t>
                          </m:r>
                        </m:e>
                        <m:sub>
                          <m:r>
                            <a:rPr lang="en-US" sz="1600" b="0" i="0" dirty="0">
                              <a:solidFill>
                                <a:srgbClr val="222222"/>
                              </a:solidFill>
                              <a:latin typeface="Cambria Math" panose="02040503050406030204" pitchFamily="18" charset="0"/>
                            </a:rPr>
                            <m:t>2</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22</m:t>
                          </m:r>
                        </m:sub>
                      </m:sSub>
                    </m:oMath>
                  </m:oMathPara>
                </a14:m>
                <a:endParaRPr lang="en-US" sz="1600" dirty="0"/>
              </a:p>
            </p:txBody>
          </p:sp>
        </mc:Choice>
        <mc:Fallback>
          <p:sp>
            <p:nvSpPr>
              <p:cNvPr id="17" name="TextBox 16"/>
              <p:cNvSpPr txBox="1">
                <a:spLocks noRot="1" noChangeAspect="1" noMove="1" noResize="1" noEditPoints="1" noAdjustHandles="1" noChangeArrowheads="1" noChangeShapeType="1" noTextEdit="1"/>
              </p:cNvSpPr>
              <p:nvPr/>
            </p:nvSpPr>
            <p:spPr>
              <a:xfrm>
                <a:off x="6104991" y="1728216"/>
                <a:ext cx="914400" cy="438912"/>
              </a:xfrm>
              <a:prstGeom prst="rect">
                <a:avLst/>
              </a:prstGeom>
              <a:blipFill>
                <a:blip r:embed="rId12"/>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7019391" y="1728216"/>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18" name="TextBox 17"/>
              <p:cNvSpPr txBox="1">
                <a:spLocks noRot="1" noChangeAspect="1" noMove="1" noResize="1" noEditPoints="1" noAdjustHandles="1" noChangeArrowheads="1" noChangeShapeType="1" noTextEdit="1"/>
              </p:cNvSpPr>
              <p:nvPr/>
            </p:nvSpPr>
            <p:spPr>
              <a:xfrm>
                <a:off x="7019391" y="1728216"/>
                <a:ext cx="914400" cy="43891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7933791" y="1728216"/>
                <a:ext cx="914400" cy="438912"/>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19" name="TextBox 18"/>
              <p:cNvSpPr txBox="1">
                <a:spLocks noRot="1" noChangeAspect="1" noMove="1" noResize="1" noEditPoints="1" noAdjustHandles="1" noChangeArrowheads="1" noChangeShapeType="1" noTextEdit="1"/>
              </p:cNvSpPr>
              <p:nvPr/>
            </p:nvSpPr>
            <p:spPr>
              <a:xfrm>
                <a:off x="7933791" y="1728216"/>
                <a:ext cx="914400" cy="438912"/>
              </a:xfrm>
              <a:prstGeom prst="rect">
                <a:avLst/>
              </a:prstGeom>
              <a:blipFill>
                <a:blip r:embed="rId6"/>
                <a:stretch>
                  <a:fillRect/>
                </a:stretch>
              </a:blipFill>
            </p:spPr>
            <p:txBody>
              <a:bodyPr/>
              <a:lstStyle/>
              <a:p>
                <a:r>
                  <a:rPr lang="ja-JP" altLang="en-US">
                    <a:noFill/>
                  </a:rPr>
                  <a:t> </a:t>
                </a:r>
              </a:p>
            </p:txBody>
          </p:sp>
        </mc:Fallback>
      </mc:AlternateContent>
      <p:sp>
        <p:nvSpPr>
          <p:cNvPr id="20" name="Left Bracket 19"/>
          <p:cNvSpPr/>
          <p:nvPr/>
        </p:nvSpPr>
        <p:spPr>
          <a:xfrm>
            <a:off x="5071719" y="365760"/>
            <a:ext cx="109728" cy="1847088"/>
          </a:xfrm>
          <a:prstGeom prst="lef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Bracket 20"/>
          <p:cNvSpPr/>
          <p:nvPr/>
        </p:nvSpPr>
        <p:spPr>
          <a:xfrm>
            <a:off x="8875623" y="365760"/>
            <a:ext cx="109728" cy="1847088"/>
          </a:xfrm>
          <a:prstGeom prst="righ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22" name="TextBox 21"/>
              <p:cNvSpPr txBox="1"/>
              <p:nvPr/>
            </p:nvSpPr>
            <p:spPr>
              <a:xfrm>
                <a:off x="3718407" y="2651760"/>
                <a:ext cx="1463040" cy="54864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p>
                        <m:sSupPr>
                          <m:ctrlPr>
                            <a:rPr lang="en-US" sz="1900" b="0" i="1" dirty="0">
                              <a:solidFill>
                                <a:srgbClr val="222222"/>
                              </a:solidFill>
                              <a:latin typeface="Cambria Math" panose="02040503050406030204" pitchFamily="18" charset="0"/>
                            </a:rPr>
                          </m:ctrlPr>
                        </m:sSupPr>
                        <m:e>
                          <m:r>
                            <a:rPr lang="en-US" sz="1900" b="0" i="1" dirty="0">
                              <a:solidFill>
                                <a:srgbClr val="222222"/>
                              </a:solidFill>
                              <a:latin typeface="Cambria Math" panose="02040503050406030204" pitchFamily="18" charset="0"/>
                            </a:rPr>
                            <m:t>𝐴</m:t>
                          </m:r>
                        </m:e>
                        <m:sup>
                          <m:r>
                            <a:rPr lang="en-US" sz="1900" b="0" i="0" dirty="0">
                              <a:solidFill>
                                <a:srgbClr val="222222"/>
                              </a:solidFill>
                              <a:latin typeface="Cambria Math" panose="02040503050406030204" pitchFamily="18" charset="0"/>
                            </a:rPr>
                            <m:t>−1</m:t>
                          </m:r>
                        </m:sup>
                      </m:sSup>
                      <m:r>
                        <a:rPr lang="en-US" sz="1900" b="0" i="0" dirty="0">
                          <a:solidFill>
                            <a:srgbClr val="222222"/>
                          </a:solidFill>
                          <a:latin typeface="Cambria Math" panose="02040503050406030204" pitchFamily="18" charset="0"/>
                        </a:rPr>
                        <m:t> = </m:t>
                      </m:r>
                    </m:oMath>
                  </m:oMathPara>
                </a14:m>
                <a:endParaRPr lang="en-US" sz="1900" dirty="0"/>
              </a:p>
            </p:txBody>
          </p:sp>
        </mc:Choice>
        <mc:Fallback>
          <p:sp>
            <p:nvSpPr>
              <p:cNvPr id="22" name="TextBox 21"/>
              <p:cNvSpPr txBox="1">
                <a:spLocks noRot="1" noChangeAspect="1" noMove="1" noResize="1" noEditPoints="1" noAdjustHandles="1" noChangeArrowheads="1" noChangeShapeType="1" noTextEdit="1"/>
              </p:cNvSpPr>
              <p:nvPr/>
            </p:nvSpPr>
            <p:spPr>
              <a:xfrm>
                <a:off x="3718407" y="2651760"/>
                <a:ext cx="1463040" cy="548640"/>
              </a:xfrm>
              <a:prstGeom prst="rect">
                <a:avLst/>
              </a:prstGeom>
              <a:blipFill>
                <a:blip r:embed="rId1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5327751" y="2423160"/>
                <a:ext cx="1783080" cy="50292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23" name="TextBox 22"/>
              <p:cNvSpPr txBox="1">
                <a:spLocks noRot="1" noChangeAspect="1" noMove="1" noResize="1" noEditPoints="1" noAdjustHandles="1" noChangeArrowheads="1" noChangeShapeType="1" noTextEdit="1"/>
              </p:cNvSpPr>
              <p:nvPr/>
            </p:nvSpPr>
            <p:spPr>
              <a:xfrm>
                <a:off x="5327751" y="2423160"/>
                <a:ext cx="1783080" cy="502920"/>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4" name="TextBox 23"/>
              <p:cNvSpPr txBox="1"/>
              <p:nvPr/>
            </p:nvSpPr>
            <p:spPr>
              <a:xfrm>
                <a:off x="7110831" y="2423160"/>
                <a:ext cx="1783080" cy="50292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p>
                        <m:sSupPr>
                          <m:ctrlPr>
                            <a:rPr lang="en-US" sz="1600" b="0" i="1" dirty="0">
                              <a:solidFill>
                                <a:srgbClr val="222222"/>
                              </a:solidFill>
                              <a:latin typeface="Cambria Math" panose="02040503050406030204" pitchFamily="18" charset="0"/>
                            </a:rPr>
                          </m:ctrlPr>
                        </m:sSupPr>
                        <m:e>
                          <m:d>
                            <m:dPr>
                              <m:ctrlPr>
                                <a:rPr lang="en-US" sz="1600" b="0" i="1" dirty="0">
                                  <a:solidFill>
                                    <a:srgbClr val="222222"/>
                                  </a:solidFill>
                                  <a:latin typeface="Cambria Math" panose="02040503050406030204" pitchFamily="18" charset="0"/>
                                </a:rPr>
                              </m:ctrlPr>
                            </m:dPr>
                            <m:e>
                              <m:r>
                                <a:rPr lang="en-US" sz="1600" b="0" i="1" dirty="0">
                                  <a:solidFill>
                                    <a:srgbClr val="222222"/>
                                  </a:solidFill>
                                  <a:latin typeface="Cambria Math" panose="02040503050406030204" pitchFamily="18" charset="0"/>
                                </a:rPr>
                                <m:t>𝐶</m:t>
                              </m:r>
                              <m:r>
                                <a:rPr lang="en-US" sz="1600" b="0" i="0" dirty="0">
                                  <a:solidFill>
                                    <a:srgbClr val="222222"/>
                                  </a:solidFill>
                                  <a:latin typeface="Cambria Math" panose="02040503050406030204" pitchFamily="18" charset="0"/>
                                </a:rPr>
                                <m:t> ∘ </m:t>
                              </m:r>
                              <m:r>
                                <a:rPr lang="en-US" sz="1600" b="0" i="1" dirty="0">
                                  <a:solidFill>
                                    <a:srgbClr val="222222"/>
                                  </a:solidFill>
                                  <a:latin typeface="Cambria Math" panose="02040503050406030204" pitchFamily="18" charset="0"/>
                                </a:rPr>
                                <m:t>𝐿</m:t>
                              </m:r>
                            </m:e>
                          </m:d>
                        </m:e>
                        <m:sup>
                          <m:r>
                            <a:rPr lang="en-US" sz="1600" b="0" i="0" dirty="0">
                              <a:solidFill>
                                <a:srgbClr val="222222"/>
                              </a:solidFill>
                              <a:latin typeface="Cambria Math" panose="02040503050406030204" pitchFamily="18" charset="0"/>
                            </a:rPr>
                            <m:t>−1</m:t>
                          </m:r>
                        </m:sup>
                      </m:sSup>
                    </m:oMath>
                  </m:oMathPara>
                </a14:m>
                <a:endParaRPr lang="en-US" sz="1600" dirty="0"/>
              </a:p>
            </p:txBody>
          </p:sp>
        </mc:Choice>
        <mc:Fallback>
          <p:sp>
            <p:nvSpPr>
              <p:cNvPr id="24" name="TextBox 23"/>
              <p:cNvSpPr txBox="1">
                <a:spLocks noRot="1" noChangeAspect="1" noMove="1" noResize="1" noEditPoints="1" noAdjustHandles="1" noChangeArrowheads="1" noChangeShapeType="1" noTextEdit="1"/>
              </p:cNvSpPr>
              <p:nvPr/>
            </p:nvSpPr>
            <p:spPr>
              <a:xfrm>
                <a:off x="7110831" y="2423160"/>
                <a:ext cx="1783080" cy="502920"/>
              </a:xfrm>
              <a:prstGeom prst="rect">
                <a:avLst/>
              </a:prstGeom>
              <a:blipFill>
                <a:blip r:embed="rId1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5" name="TextBox 24"/>
              <p:cNvSpPr txBox="1"/>
              <p:nvPr/>
            </p:nvSpPr>
            <p:spPr>
              <a:xfrm>
                <a:off x="5327751" y="2926080"/>
                <a:ext cx="1783080" cy="50292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m:t>
                      </m:r>
                      <m:sSup>
                        <m:sSupPr>
                          <m:ctrlPr>
                            <a:rPr lang="en-US" sz="1600" b="0" i="1" dirty="0">
                              <a:solidFill>
                                <a:srgbClr val="222222"/>
                              </a:solidFill>
                              <a:latin typeface="Cambria Math" panose="02040503050406030204" pitchFamily="18" charset="0"/>
                            </a:rPr>
                          </m:ctrlPr>
                        </m:sSupPr>
                        <m:e>
                          <m:r>
                            <a:rPr lang="en-US" sz="1600" b="0" i="1" dirty="0">
                              <a:solidFill>
                                <a:srgbClr val="222222"/>
                              </a:solidFill>
                              <a:latin typeface="Cambria Math" panose="02040503050406030204" pitchFamily="18" charset="0"/>
                            </a:rPr>
                            <m:t>𝐿</m:t>
                          </m:r>
                        </m:e>
                        <m:sup>
                          <m:r>
                            <a:rPr lang="en-US" sz="1600" b="0" i="0" dirty="0">
                              <a:solidFill>
                                <a:srgbClr val="222222"/>
                              </a:solidFill>
                              <a:latin typeface="Cambria Math" panose="02040503050406030204" pitchFamily="18" charset="0"/>
                            </a:rPr>
                            <m:t>−1</m:t>
                          </m:r>
                        </m:sup>
                      </m:sSup>
                    </m:oMath>
                  </m:oMathPara>
                </a14:m>
                <a:endParaRPr lang="en-US" sz="1600" dirty="0"/>
              </a:p>
            </p:txBody>
          </p:sp>
        </mc:Choice>
        <mc:Fallback>
          <p:sp>
            <p:nvSpPr>
              <p:cNvPr id="25" name="TextBox 24"/>
              <p:cNvSpPr txBox="1">
                <a:spLocks noRot="1" noChangeAspect="1" noMove="1" noResize="1" noEditPoints="1" noAdjustHandles="1" noChangeArrowheads="1" noChangeShapeType="1" noTextEdit="1"/>
              </p:cNvSpPr>
              <p:nvPr/>
            </p:nvSpPr>
            <p:spPr>
              <a:xfrm>
                <a:off x="5327751" y="2926080"/>
                <a:ext cx="1783080" cy="502920"/>
              </a:xfrm>
              <a:prstGeom prst="rect">
                <a:avLst/>
              </a:prstGeom>
              <a:blipFill>
                <a:blip r:embed="rId1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6" name="TextBox 25"/>
              <p:cNvSpPr txBox="1"/>
              <p:nvPr/>
            </p:nvSpPr>
            <p:spPr>
              <a:xfrm>
                <a:off x="7110831" y="2926080"/>
                <a:ext cx="1783080" cy="50292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600" b="0" i="0" dirty="0">
                          <a:solidFill>
                            <a:srgbClr val="222222"/>
                          </a:solidFill>
                          <a:latin typeface="Cambria Math" panose="02040503050406030204" pitchFamily="18" charset="0"/>
                        </a:rPr>
                        <m:t>0</m:t>
                      </m:r>
                    </m:oMath>
                  </m:oMathPara>
                </a14:m>
                <a:endParaRPr lang="en-US" sz="1600" dirty="0"/>
              </a:p>
            </p:txBody>
          </p:sp>
        </mc:Choice>
        <mc:Fallback>
          <p:sp>
            <p:nvSpPr>
              <p:cNvPr id="26" name="TextBox 25"/>
              <p:cNvSpPr txBox="1">
                <a:spLocks noRot="1" noChangeAspect="1" noMove="1" noResize="1" noEditPoints="1" noAdjustHandles="1" noChangeArrowheads="1" noChangeShapeType="1" noTextEdit="1"/>
              </p:cNvSpPr>
              <p:nvPr/>
            </p:nvSpPr>
            <p:spPr>
              <a:xfrm>
                <a:off x="7110831" y="2926080"/>
                <a:ext cx="1783080" cy="502920"/>
              </a:xfrm>
              <a:prstGeom prst="rect">
                <a:avLst/>
              </a:prstGeom>
              <a:blipFill>
                <a:blip r:embed="rId17"/>
                <a:stretch>
                  <a:fillRect/>
                </a:stretch>
              </a:blipFill>
            </p:spPr>
            <p:txBody>
              <a:bodyPr/>
              <a:lstStyle/>
              <a:p>
                <a:r>
                  <a:rPr lang="ja-JP" altLang="en-US">
                    <a:noFill/>
                  </a:rPr>
                  <a:t> </a:t>
                </a:r>
              </a:p>
            </p:txBody>
          </p:sp>
        </mc:Fallback>
      </mc:AlternateContent>
      <p:sp>
        <p:nvSpPr>
          <p:cNvPr id="27" name="Left Bracket 26"/>
          <p:cNvSpPr/>
          <p:nvPr/>
        </p:nvSpPr>
        <p:spPr>
          <a:xfrm>
            <a:off x="5208879" y="2377440"/>
            <a:ext cx="109728" cy="1097280"/>
          </a:xfrm>
          <a:prstGeom prst="lef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ight Bracket 27"/>
          <p:cNvSpPr/>
          <p:nvPr/>
        </p:nvSpPr>
        <p:spPr>
          <a:xfrm>
            <a:off x="8921343" y="2377440"/>
            <a:ext cx="109728" cy="1097280"/>
          </a:xfrm>
          <a:prstGeom prst="righ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29" name="TextBox 28"/>
              <p:cNvSpPr txBox="1"/>
              <p:nvPr/>
            </p:nvSpPr>
            <p:spPr>
              <a:xfrm>
                <a:off x="566928" y="3703320"/>
                <a:ext cx="11057839" cy="640080"/>
              </a:xfrm>
              <a:prstGeom prst="rect">
                <a:avLst/>
              </a:prstGeom>
              <a:noFill/>
            </p:spPr>
            <p:txBody>
              <a:bodyPr wrap="square" lIns="0" tIns="0" rIns="0" bIns="0">
                <a:spAutoFit/>
              </a:bodyPr>
              <a:lstStyle/>
              <a:p>
                <a:pPr marL="0" indent="0"/>
                <a14:m>
                  <m:oMathPara xmlns:m="http://schemas.openxmlformats.org/officeDocument/2006/math">
                    <m:oMathParaPr>
                      <m:jc m:val="center"/>
                    </m:oMathParaPr>
                    <m:oMath xmlns:m="http://schemas.openxmlformats.org/officeDocument/2006/math">
                      <m:r>
                        <a:rPr lang="en-US" sz="2400" b="0" i="1" dirty="0">
                          <a:solidFill>
                            <a:srgbClr val="C0561A"/>
                          </a:solidFill>
                          <a:latin typeface="Cambria Math" panose="02040503050406030204" pitchFamily="18" charset="0"/>
                        </a:rPr>
                        <m:t>𝑌</m:t>
                      </m:r>
                      <m:d>
                        <m:dPr>
                          <m:ctrlPr>
                            <a:rPr lang="en-US" sz="2400" b="0" i="1" dirty="0">
                              <a:solidFill>
                                <a:srgbClr val="C0561A"/>
                              </a:solidFill>
                              <a:latin typeface="Cambria Math" panose="02040503050406030204" pitchFamily="18" charset="0"/>
                            </a:rPr>
                          </m:ctrlPr>
                        </m:dPr>
                        <m:e>
                          <m:r>
                            <a:rPr lang="en-US" sz="2400" b="0" i="1" dirty="0">
                              <a:solidFill>
                                <a:srgbClr val="C0561A"/>
                              </a:solidFill>
                              <a:latin typeface="Cambria Math" panose="02040503050406030204" pitchFamily="18" charset="0"/>
                            </a:rPr>
                            <m:t>𝑓</m:t>
                          </m:r>
                        </m:e>
                      </m:d>
                      <m:r>
                        <a:rPr lang="en-US" sz="2400" b="0" i="0" dirty="0">
                          <a:solidFill>
                            <a:srgbClr val="C0561A"/>
                          </a:solidFill>
                          <a:latin typeface="Cambria Math" panose="02040503050406030204" pitchFamily="18" charset="0"/>
                        </a:rPr>
                        <m:t> = </m:t>
                      </m:r>
                      <m:sSup>
                        <m:sSupPr>
                          <m:ctrlPr>
                            <a:rPr lang="en-US" sz="2400" b="0" i="1" dirty="0">
                              <a:solidFill>
                                <a:srgbClr val="C0561A"/>
                              </a:solidFill>
                              <a:latin typeface="Cambria Math" panose="02040503050406030204" pitchFamily="18" charset="0"/>
                            </a:rPr>
                          </m:ctrlPr>
                        </m:sSupPr>
                        <m:e>
                          <m:sSub>
                            <m:sSubPr>
                              <m:ctrlPr>
                                <a:rPr lang="en-US" sz="2400" b="0" i="1" dirty="0">
                                  <a:solidFill>
                                    <a:srgbClr val="C0561A"/>
                                  </a:solidFill>
                                  <a:latin typeface="Cambria Math" panose="02040503050406030204" pitchFamily="18" charset="0"/>
                                </a:rPr>
                              </m:ctrlPr>
                            </m:sSubPr>
                            <m:e>
                              <m:r>
                                <a:rPr lang="en-US" sz="2400" b="0" i="1" dirty="0">
                                  <a:solidFill>
                                    <a:srgbClr val="C0561A"/>
                                  </a:solidFill>
                                  <a:latin typeface="Cambria Math" panose="02040503050406030204" pitchFamily="18" charset="0"/>
                                </a:rPr>
                                <m:t>𝑓</m:t>
                              </m:r>
                            </m:e>
                            <m:sub>
                              <m:r>
                                <a:rPr lang="en-US" sz="2400" b="0" i="1" dirty="0">
                                  <a:solidFill>
                                    <a:srgbClr val="C0561A"/>
                                  </a:solidFill>
                                  <a:latin typeface="Cambria Math" panose="02040503050406030204" pitchFamily="18" charset="0"/>
                                </a:rPr>
                                <m:t>𝑥</m:t>
                              </m:r>
                            </m:sub>
                          </m:sSub>
                        </m:e>
                        <m:sup>
                          <m:r>
                            <a:rPr lang="en-US" sz="2400" b="0" i="0" dirty="0">
                              <a:solidFill>
                                <a:srgbClr val="C0561A"/>
                              </a:solidFill>
                              <a:latin typeface="Cambria Math" panose="02040503050406030204" pitchFamily="18" charset="0"/>
                            </a:rPr>
                            <m:t>𝑇</m:t>
                          </m:r>
                        </m:sup>
                      </m:sSup>
                      <m:sSub>
                        <m:sSubPr>
                          <m:ctrlPr>
                            <a:rPr lang="en-US" sz="2400" b="0" i="1" dirty="0">
                              <a:solidFill>
                                <a:srgbClr val="C0561A"/>
                              </a:solidFill>
                              <a:latin typeface="Cambria Math" panose="02040503050406030204" pitchFamily="18" charset="0"/>
                            </a:rPr>
                          </m:ctrlPr>
                        </m:sSubPr>
                        <m:e>
                          <m:r>
                            <a:rPr lang="en-US" sz="2400" b="0" i="1" dirty="0">
                              <a:solidFill>
                                <a:srgbClr val="C0561A"/>
                              </a:solidFill>
                              <a:latin typeface="Cambria Math" panose="02040503050406030204" pitchFamily="18" charset="0"/>
                            </a:rPr>
                            <m:t>𝑥</m:t>
                          </m:r>
                        </m:e>
                        <m:sub>
                          <m:r>
                            <a:rPr lang="en-US" sz="2400" b="0" i="0" dirty="0">
                              <a:solidFill>
                                <a:srgbClr val="C0561A"/>
                              </a:solidFill>
                              <a:latin typeface="Cambria Math" panose="02040503050406030204" pitchFamily="18" charset="0"/>
                            </a:rPr>
                            <m:t>0</m:t>
                          </m:r>
                        </m:sub>
                      </m:sSub>
                      <m:r>
                        <a:rPr lang="en-US" sz="2400" b="0" i="0" dirty="0">
                          <a:solidFill>
                            <a:srgbClr val="C0561A"/>
                          </a:solidFill>
                          <a:latin typeface="Cambria Math" panose="02040503050406030204" pitchFamily="18" charset="0"/>
                        </a:rPr>
                        <m:t> + </m:t>
                      </m:r>
                      <m:sSup>
                        <m:sSupPr>
                          <m:ctrlPr>
                            <a:rPr lang="en-US" sz="2400" b="0" i="1" dirty="0">
                              <a:solidFill>
                                <a:srgbClr val="C0561A"/>
                              </a:solidFill>
                              <a:latin typeface="Cambria Math" panose="02040503050406030204" pitchFamily="18" charset="0"/>
                            </a:rPr>
                          </m:ctrlPr>
                        </m:sSupPr>
                        <m:e>
                          <m:sSub>
                            <m:sSubPr>
                              <m:ctrlPr>
                                <a:rPr lang="en-US" sz="2400" b="0" i="1" dirty="0">
                                  <a:solidFill>
                                    <a:srgbClr val="C0561A"/>
                                  </a:solidFill>
                                  <a:latin typeface="Cambria Math" panose="02040503050406030204" pitchFamily="18" charset="0"/>
                                </a:rPr>
                              </m:ctrlPr>
                            </m:sSubPr>
                            <m:e>
                              <m:r>
                                <a:rPr lang="en-US" sz="2400" b="0" i="1" dirty="0">
                                  <a:solidFill>
                                    <a:srgbClr val="C0561A"/>
                                  </a:solidFill>
                                  <a:latin typeface="Cambria Math" panose="02040503050406030204" pitchFamily="18" charset="0"/>
                                </a:rPr>
                                <m:t>𝑓</m:t>
                              </m:r>
                            </m:e>
                            <m:sub>
                              <m:r>
                                <a:rPr lang="en-US" sz="2400" b="0" i="1" dirty="0">
                                  <a:solidFill>
                                    <a:srgbClr val="C0561A"/>
                                  </a:solidFill>
                                  <a:latin typeface="Cambria Math" panose="02040503050406030204" pitchFamily="18" charset="0"/>
                                </a:rPr>
                                <m:t>𝑦</m:t>
                              </m:r>
                            </m:sub>
                          </m:sSub>
                        </m:e>
                        <m:sup>
                          <m:r>
                            <a:rPr lang="en-US" sz="2400" b="0" i="0" dirty="0">
                              <a:solidFill>
                                <a:srgbClr val="C0561A"/>
                              </a:solidFill>
                              <a:latin typeface="Cambria Math" panose="02040503050406030204" pitchFamily="18" charset="0"/>
                            </a:rPr>
                            <m:t>𝑇</m:t>
                          </m:r>
                        </m:sup>
                      </m:sSup>
                      <m:sSub>
                        <m:sSubPr>
                          <m:ctrlPr>
                            <a:rPr lang="en-US" sz="2400" b="0" i="1" dirty="0">
                              <a:solidFill>
                                <a:srgbClr val="C0561A"/>
                              </a:solidFill>
                              <a:latin typeface="Cambria Math" panose="02040503050406030204" pitchFamily="18" charset="0"/>
                            </a:rPr>
                          </m:ctrlPr>
                        </m:sSubPr>
                        <m:e>
                          <m:r>
                            <a:rPr lang="en-US" sz="2400" b="0" i="1" dirty="0">
                              <a:solidFill>
                                <a:srgbClr val="C0561A"/>
                              </a:solidFill>
                              <a:latin typeface="Cambria Math" panose="02040503050406030204" pitchFamily="18" charset="0"/>
                            </a:rPr>
                            <m:t>𝑦</m:t>
                          </m:r>
                        </m:e>
                        <m:sub>
                          <m:r>
                            <a:rPr lang="en-US" sz="2400" b="0" i="0" dirty="0">
                              <a:solidFill>
                                <a:srgbClr val="C0561A"/>
                              </a:solidFill>
                              <a:latin typeface="Cambria Math" panose="02040503050406030204" pitchFamily="18" charset="0"/>
                            </a:rPr>
                            <m:t>0</m:t>
                          </m:r>
                        </m:sub>
                      </m:sSub>
                      <m:r>
                        <a:rPr lang="en-US" sz="2400" b="0" i="0" dirty="0">
                          <a:solidFill>
                            <a:srgbClr val="C0561A"/>
                          </a:solidFill>
                          <a:latin typeface="Cambria Math" panose="02040503050406030204" pitchFamily="18" charset="0"/>
                        </a:rPr>
                        <m:t> + </m:t>
                      </m:r>
                      <m:sSup>
                        <m:sSupPr>
                          <m:ctrlPr>
                            <a:rPr lang="en-US" sz="2400" b="0" i="1" dirty="0">
                              <a:solidFill>
                                <a:srgbClr val="C0561A"/>
                              </a:solidFill>
                              <a:latin typeface="Cambria Math" panose="02040503050406030204" pitchFamily="18" charset="0"/>
                            </a:rPr>
                          </m:ctrlPr>
                        </m:sSupPr>
                        <m:e>
                          <m:sSub>
                            <m:sSubPr>
                              <m:ctrlPr>
                                <a:rPr lang="en-US" sz="2400" b="0" i="1" dirty="0">
                                  <a:solidFill>
                                    <a:srgbClr val="C0561A"/>
                                  </a:solidFill>
                                  <a:latin typeface="Cambria Math" panose="02040503050406030204" pitchFamily="18" charset="0"/>
                                </a:rPr>
                              </m:ctrlPr>
                            </m:sSubPr>
                            <m:e>
                              <m:r>
                                <a:rPr lang="en-US" sz="2400" b="0" i="1" dirty="0">
                                  <a:solidFill>
                                    <a:srgbClr val="C0561A"/>
                                  </a:solidFill>
                                  <a:latin typeface="Cambria Math" panose="02040503050406030204" pitchFamily="18" charset="0"/>
                                </a:rPr>
                                <m:t>𝑓</m:t>
                              </m:r>
                            </m:e>
                            <m:sub>
                              <m:r>
                                <a:rPr lang="en-US" sz="2400" b="0" i="1" dirty="0">
                                  <a:solidFill>
                                    <a:srgbClr val="C0561A"/>
                                  </a:solidFill>
                                  <a:latin typeface="Cambria Math" panose="02040503050406030204" pitchFamily="18" charset="0"/>
                                </a:rPr>
                                <m:t>𝑥</m:t>
                              </m:r>
                            </m:sub>
                          </m:sSub>
                        </m:e>
                        <m:sup>
                          <m:r>
                            <a:rPr lang="en-US" sz="2400" b="0" i="0" dirty="0">
                              <a:solidFill>
                                <a:srgbClr val="C0561A"/>
                              </a:solidFill>
                              <a:latin typeface="Cambria Math" panose="02040503050406030204" pitchFamily="18" charset="0"/>
                            </a:rPr>
                            <m:t>𝑇</m:t>
                          </m:r>
                        </m:sup>
                      </m:sSup>
                      <m:d>
                        <m:dPr>
                          <m:begChr m:val="["/>
                          <m:endChr m:val="]"/>
                          <m:ctrlPr>
                            <a:rPr lang="en-US" sz="2400" b="0" i="1" dirty="0">
                              <a:solidFill>
                                <a:srgbClr val="C0561A"/>
                              </a:solidFill>
                              <a:latin typeface="Cambria Math" panose="02040503050406030204" pitchFamily="18" charset="0"/>
                            </a:rPr>
                          </m:ctrlPr>
                        </m:dPr>
                        <m:e>
                          <m:sSup>
                            <m:sSupPr>
                              <m:ctrlPr>
                                <a:rPr lang="en-US" sz="2400" b="0" i="1" dirty="0">
                                  <a:solidFill>
                                    <a:srgbClr val="C0561A"/>
                                  </a:solidFill>
                                  <a:latin typeface="Cambria Math" panose="02040503050406030204" pitchFamily="18" charset="0"/>
                                </a:rPr>
                              </m:ctrlPr>
                            </m:sSupPr>
                            <m:e>
                              <m:d>
                                <m:dPr>
                                  <m:ctrlPr>
                                    <a:rPr lang="en-US" sz="2400" b="0" i="1" dirty="0">
                                      <a:solidFill>
                                        <a:srgbClr val="C0561A"/>
                                      </a:solidFill>
                                      <a:latin typeface="Cambria Math" panose="02040503050406030204" pitchFamily="18" charset="0"/>
                                    </a:rPr>
                                  </m:ctrlPr>
                                </m:dPr>
                                <m:e>
                                  <m:r>
                                    <a:rPr lang="en-US" sz="2400" b="0" i="1" dirty="0">
                                      <a:solidFill>
                                        <a:srgbClr val="C0561A"/>
                                      </a:solidFill>
                                      <a:latin typeface="Cambria Math" panose="02040503050406030204" pitchFamily="18" charset="0"/>
                                    </a:rPr>
                                    <m:t>𝐶</m:t>
                                  </m:r>
                                  <m:r>
                                    <a:rPr lang="en-US" sz="2400" b="0" i="0" dirty="0">
                                      <a:solidFill>
                                        <a:srgbClr val="C0561A"/>
                                      </a:solidFill>
                                      <a:latin typeface="Cambria Math" panose="02040503050406030204" pitchFamily="18" charset="0"/>
                                    </a:rPr>
                                    <m:t> ∘ </m:t>
                                  </m:r>
                                  <m:r>
                                    <a:rPr lang="en-US" sz="2400" b="0" i="1" dirty="0">
                                      <a:solidFill>
                                        <a:srgbClr val="C0561A"/>
                                      </a:solidFill>
                                      <a:latin typeface="Cambria Math" panose="02040503050406030204" pitchFamily="18" charset="0"/>
                                    </a:rPr>
                                    <m:t>𝐿</m:t>
                                  </m:r>
                                </m:e>
                              </m:d>
                            </m:e>
                            <m:sup>
                              <m:r>
                                <a:rPr lang="en-US" sz="2400" b="0" i="0" dirty="0">
                                  <a:solidFill>
                                    <a:srgbClr val="C0561A"/>
                                  </a:solidFill>
                                  <a:latin typeface="Cambria Math" panose="02040503050406030204" pitchFamily="18" charset="0"/>
                                </a:rPr>
                                <m:t>−1</m:t>
                              </m:r>
                            </m:sup>
                          </m:sSup>
                          <m:r>
                            <a:rPr lang="en-US" sz="2400" b="0" i="0" dirty="0">
                              <a:solidFill>
                                <a:srgbClr val="C0561A"/>
                              </a:solidFill>
                              <a:latin typeface="Cambria Math" panose="02040503050406030204" pitchFamily="18" charset="0"/>
                            </a:rPr>
                            <m:t> − </m:t>
                          </m:r>
                          <m:sSup>
                            <m:sSupPr>
                              <m:ctrlPr>
                                <a:rPr lang="en-US" sz="2400" b="0" i="1" dirty="0">
                                  <a:solidFill>
                                    <a:srgbClr val="C0561A"/>
                                  </a:solidFill>
                                  <a:latin typeface="Cambria Math" panose="02040503050406030204" pitchFamily="18" charset="0"/>
                                </a:rPr>
                              </m:ctrlPr>
                            </m:sSupPr>
                            <m:e>
                              <m:r>
                                <a:rPr lang="en-US" sz="2400" b="0" i="1" dirty="0">
                                  <a:solidFill>
                                    <a:srgbClr val="C0561A"/>
                                  </a:solidFill>
                                  <a:latin typeface="Cambria Math" panose="02040503050406030204" pitchFamily="18" charset="0"/>
                                </a:rPr>
                                <m:t>𝐿</m:t>
                              </m:r>
                            </m:e>
                            <m:sup>
                              <m:r>
                                <a:rPr lang="en-US" sz="2400" b="0" i="0" dirty="0">
                                  <a:solidFill>
                                    <a:srgbClr val="C0561A"/>
                                  </a:solidFill>
                                  <a:latin typeface="Cambria Math" panose="02040503050406030204" pitchFamily="18" charset="0"/>
                                </a:rPr>
                                <m:t>−</m:t>
                              </m:r>
                              <m:r>
                                <a:rPr lang="en-US" sz="2400" b="0" i="0" dirty="0">
                                  <a:solidFill>
                                    <a:srgbClr val="C0561A"/>
                                  </a:solidFill>
                                  <a:latin typeface="Cambria Math" panose="02040503050406030204" pitchFamily="18" charset="0"/>
                                </a:rPr>
                                <m:t>𝑇</m:t>
                              </m:r>
                            </m:sup>
                          </m:sSup>
                        </m:e>
                      </m:d>
                      <m:sSub>
                        <m:sSubPr>
                          <m:ctrlPr>
                            <a:rPr lang="en-US" sz="2400" b="0" i="1" dirty="0">
                              <a:solidFill>
                                <a:srgbClr val="C0561A"/>
                              </a:solidFill>
                              <a:latin typeface="Cambria Math" panose="02040503050406030204" pitchFamily="18" charset="0"/>
                            </a:rPr>
                          </m:ctrlPr>
                        </m:sSubPr>
                        <m:e>
                          <m:r>
                            <a:rPr lang="en-US" sz="2400" b="0" i="1" dirty="0">
                              <a:solidFill>
                                <a:srgbClr val="C0561A"/>
                              </a:solidFill>
                              <a:latin typeface="Cambria Math" panose="02040503050406030204" pitchFamily="18" charset="0"/>
                            </a:rPr>
                            <m:t>𝑓</m:t>
                          </m:r>
                        </m:e>
                        <m:sub>
                          <m:r>
                            <a:rPr lang="en-US" sz="2400" b="0" i="1" dirty="0">
                              <a:solidFill>
                                <a:srgbClr val="C0561A"/>
                              </a:solidFill>
                              <a:latin typeface="Cambria Math" panose="02040503050406030204" pitchFamily="18" charset="0"/>
                            </a:rPr>
                            <m:t>𝑦</m:t>
                          </m:r>
                        </m:sub>
                      </m:sSub>
                    </m:oMath>
                  </m:oMathPara>
                </a14:m>
                <a:endParaRPr lang="en-US" sz="2400" dirty="0"/>
              </a:p>
            </p:txBody>
          </p:sp>
        </mc:Choice>
        <mc:Fallback>
          <p:sp>
            <p:nvSpPr>
              <p:cNvPr id="29" name="TextBox 28"/>
              <p:cNvSpPr txBox="1">
                <a:spLocks noRot="1" noChangeAspect="1" noMove="1" noResize="1" noEditPoints="1" noAdjustHandles="1" noChangeArrowheads="1" noChangeShapeType="1" noTextEdit="1"/>
              </p:cNvSpPr>
              <p:nvPr/>
            </p:nvSpPr>
            <p:spPr>
              <a:xfrm>
                <a:off x="566928" y="3703320"/>
                <a:ext cx="11057839" cy="640080"/>
              </a:xfrm>
              <a:prstGeom prst="rect">
                <a:avLst/>
              </a:prstGeom>
              <a:blipFill>
                <a:blip r:embed="rId18"/>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2136495" y="4608576"/>
                <a:ext cx="475488" cy="54864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900" b="0" i="1" dirty="0">
                          <a:solidFill>
                            <a:srgbClr val="222222"/>
                          </a:solidFill>
                          <a:latin typeface="Cambria Math" panose="02040503050406030204" pitchFamily="18" charset="0"/>
                        </a:rPr>
                        <m:t>𝐿</m:t>
                      </m:r>
                      <m:r>
                        <a:rPr lang="en-US" sz="1900" b="0" i="0" dirty="0">
                          <a:solidFill>
                            <a:srgbClr val="222222"/>
                          </a:solidFill>
                          <a:latin typeface="Cambria Math" panose="02040503050406030204" pitchFamily="18" charset="0"/>
                        </a:rPr>
                        <m:t> = </m:t>
                      </m:r>
                    </m:oMath>
                  </m:oMathPara>
                </a14:m>
                <a:endParaRPr lang="en-US" sz="1900" dirty="0"/>
              </a:p>
            </p:txBody>
          </p:sp>
        </mc:Choice>
        <mc:Fallback>
          <p:sp>
            <p:nvSpPr>
              <p:cNvPr id="30" name="TextBox 29"/>
              <p:cNvSpPr txBox="1">
                <a:spLocks noRot="1" noChangeAspect="1" noMove="1" noResize="1" noEditPoints="1" noAdjustHandles="1" noChangeArrowheads="1" noChangeShapeType="1" noTextEdit="1"/>
              </p:cNvSpPr>
              <p:nvPr/>
            </p:nvSpPr>
            <p:spPr>
              <a:xfrm>
                <a:off x="2136495" y="4608576"/>
                <a:ext cx="475488" cy="548640"/>
              </a:xfrm>
              <a:prstGeom prst="rect">
                <a:avLst/>
              </a:prstGeom>
              <a:blipFill>
                <a:blip r:embed="rId19"/>
                <a:stretch>
                  <a:fillRect l="-15789" r="-2631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2758287" y="4498848"/>
                <a:ext cx="548640"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11</m:t>
                          </m:r>
                        </m:sub>
                      </m:sSub>
                    </m:oMath>
                  </m:oMathPara>
                </a14:m>
                <a:endParaRPr lang="en-US" sz="1600" dirty="0"/>
              </a:p>
            </p:txBody>
          </p:sp>
        </mc:Choice>
        <mc:Fallback>
          <p:sp>
            <p:nvSpPr>
              <p:cNvPr id="31" name="TextBox 30"/>
              <p:cNvSpPr txBox="1">
                <a:spLocks noRot="1" noChangeAspect="1" noMove="1" noResize="1" noEditPoints="1" noAdjustHandles="1" noChangeArrowheads="1" noChangeShapeType="1" noTextEdit="1"/>
              </p:cNvSpPr>
              <p:nvPr/>
            </p:nvSpPr>
            <p:spPr>
              <a:xfrm>
                <a:off x="2758287" y="4498848"/>
                <a:ext cx="548640" cy="384048"/>
              </a:xfrm>
              <a:prstGeom prst="rect">
                <a:avLst/>
              </a:prstGeom>
              <a:blipFill>
                <a:blip r:embed="rId20"/>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3306927" y="4498848"/>
                <a:ext cx="548640"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12</m:t>
                          </m:r>
                        </m:sub>
                      </m:sSub>
                    </m:oMath>
                  </m:oMathPara>
                </a14:m>
                <a:endParaRPr lang="en-US" sz="1600" dirty="0"/>
              </a:p>
            </p:txBody>
          </p:sp>
        </mc:Choice>
        <mc:Fallback>
          <p:sp>
            <p:nvSpPr>
              <p:cNvPr id="32" name="TextBox 31"/>
              <p:cNvSpPr txBox="1">
                <a:spLocks noRot="1" noChangeAspect="1" noMove="1" noResize="1" noEditPoints="1" noAdjustHandles="1" noChangeArrowheads="1" noChangeShapeType="1" noTextEdit="1"/>
              </p:cNvSpPr>
              <p:nvPr/>
            </p:nvSpPr>
            <p:spPr>
              <a:xfrm>
                <a:off x="3306927" y="4498848"/>
                <a:ext cx="548640" cy="384048"/>
              </a:xfrm>
              <a:prstGeom prst="rect">
                <a:avLst/>
              </a:prstGeom>
              <a:blipFill>
                <a:blip r:embed="rId21"/>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TextBox 32"/>
              <p:cNvSpPr txBox="1"/>
              <p:nvPr/>
            </p:nvSpPr>
            <p:spPr>
              <a:xfrm>
                <a:off x="2758287" y="4882896"/>
                <a:ext cx="548640"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21</m:t>
                          </m:r>
                        </m:sub>
                      </m:sSub>
                    </m:oMath>
                  </m:oMathPara>
                </a14:m>
                <a:endParaRPr lang="en-US" sz="1600" dirty="0"/>
              </a:p>
            </p:txBody>
          </p:sp>
        </mc:Choice>
        <mc:Fallback>
          <p:sp>
            <p:nvSpPr>
              <p:cNvPr id="33" name="TextBox 32"/>
              <p:cNvSpPr txBox="1">
                <a:spLocks noRot="1" noChangeAspect="1" noMove="1" noResize="1" noEditPoints="1" noAdjustHandles="1" noChangeArrowheads="1" noChangeShapeType="1" noTextEdit="1"/>
              </p:cNvSpPr>
              <p:nvPr/>
            </p:nvSpPr>
            <p:spPr>
              <a:xfrm>
                <a:off x="2758287" y="4882896"/>
                <a:ext cx="548640" cy="384048"/>
              </a:xfrm>
              <a:prstGeom prst="rect">
                <a:avLst/>
              </a:prstGeom>
              <a:blipFill>
                <a:blip r:embed="rId22"/>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4" name="TextBox 33"/>
              <p:cNvSpPr txBox="1"/>
              <p:nvPr/>
            </p:nvSpPr>
            <p:spPr>
              <a:xfrm>
                <a:off x="3306927" y="4882896"/>
                <a:ext cx="548640"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22</m:t>
                          </m:r>
                        </m:sub>
                      </m:sSub>
                    </m:oMath>
                  </m:oMathPara>
                </a14:m>
                <a:endParaRPr lang="en-US" sz="1600" dirty="0"/>
              </a:p>
            </p:txBody>
          </p:sp>
        </mc:Choice>
        <mc:Fallback>
          <p:sp>
            <p:nvSpPr>
              <p:cNvPr id="34" name="TextBox 33"/>
              <p:cNvSpPr txBox="1">
                <a:spLocks noRot="1" noChangeAspect="1" noMove="1" noResize="1" noEditPoints="1" noAdjustHandles="1" noChangeArrowheads="1" noChangeShapeType="1" noTextEdit="1"/>
              </p:cNvSpPr>
              <p:nvPr/>
            </p:nvSpPr>
            <p:spPr>
              <a:xfrm>
                <a:off x="3306927" y="4882896"/>
                <a:ext cx="548640" cy="384048"/>
              </a:xfrm>
              <a:prstGeom prst="rect">
                <a:avLst/>
              </a:prstGeom>
              <a:blipFill>
                <a:blip r:embed="rId23"/>
                <a:stretch>
                  <a:fillRect/>
                </a:stretch>
              </a:blipFill>
            </p:spPr>
            <p:txBody>
              <a:bodyPr/>
              <a:lstStyle/>
              <a:p>
                <a:r>
                  <a:rPr lang="ja-JP" altLang="en-US">
                    <a:noFill/>
                  </a:rPr>
                  <a:t> </a:t>
                </a:r>
              </a:p>
            </p:txBody>
          </p:sp>
        </mc:Fallback>
      </mc:AlternateContent>
      <p:sp>
        <p:nvSpPr>
          <p:cNvPr id="35" name="Left Bracket 34"/>
          <p:cNvSpPr/>
          <p:nvPr/>
        </p:nvSpPr>
        <p:spPr>
          <a:xfrm>
            <a:off x="2639415" y="4453128"/>
            <a:ext cx="109728" cy="859536"/>
          </a:xfrm>
          <a:prstGeom prst="lef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ight Bracket 35"/>
          <p:cNvSpPr/>
          <p:nvPr/>
        </p:nvSpPr>
        <p:spPr>
          <a:xfrm>
            <a:off x="3882999" y="4453128"/>
            <a:ext cx="109728" cy="859536"/>
          </a:xfrm>
          <a:prstGeom prst="righ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37" name="TextBox 36"/>
              <p:cNvSpPr txBox="1"/>
              <p:nvPr/>
            </p:nvSpPr>
            <p:spPr>
              <a:xfrm>
                <a:off x="4718303" y="4727448"/>
                <a:ext cx="868680" cy="548640"/>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r>
                        <a:rPr lang="en-US" sz="1900" b="0" i="1" dirty="0">
                          <a:solidFill>
                            <a:srgbClr val="222222"/>
                          </a:solidFill>
                          <a:latin typeface="Cambria Math" panose="02040503050406030204" pitchFamily="18" charset="0"/>
                        </a:rPr>
                        <m:t>𝐶</m:t>
                      </m:r>
                      <m:r>
                        <a:rPr lang="en-US" sz="1900" b="0" i="0" dirty="0">
                          <a:solidFill>
                            <a:srgbClr val="222222"/>
                          </a:solidFill>
                          <a:latin typeface="Cambria Math" panose="02040503050406030204" pitchFamily="18" charset="0"/>
                        </a:rPr>
                        <m:t> ∘ </m:t>
                      </m:r>
                      <m:r>
                        <a:rPr lang="en-US" sz="1900" b="0" i="1" dirty="0">
                          <a:solidFill>
                            <a:srgbClr val="222222"/>
                          </a:solidFill>
                          <a:latin typeface="Cambria Math" panose="02040503050406030204" pitchFamily="18" charset="0"/>
                        </a:rPr>
                        <m:t>𝐿</m:t>
                      </m:r>
                      <m:r>
                        <a:rPr lang="en-US" sz="1900" b="0" i="0" dirty="0">
                          <a:solidFill>
                            <a:srgbClr val="222222"/>
                          </a:solidFill>
                          <a:latin typeface="Cambria Math" panose="02040503050406030204" pitchFamily="18" charset="0"/>
                        </a:rPr>
                        <m:t> = </m:t>
                      </m:r>
                    </m:oMath>
                  </m:oMathPara>
                </a14:m>
                <a:endParaRPr lang="en-US" sz="1900" dirty="0"/>
              </a:p>
            </p:txBody>
          </p:sp>
        </mc:Choice>
        <mc:Fallback>
          <p:sp>
            <p:nvSpPr>
              <p:cNvPr id="37" name="TextBox 36"/>
              <p:cNvSpPr txBox="1">
                <a:spLocks noRot="1" noChangeAspect="1" noMove="1" noResize="1" noEditPoints="1" noAdjustHandles="1" noChangeArrowheads="1" noChangeShapeType="1" noTextEdit="1"/>
              </p:cNvSpPr>
              <p:nvPr/>
            </p:nvSpPr>
            <p:spPr>
              <a:xfrm>
                <a:off x="4718303" y="4727448"/>
                <a:ext cx="868680" cy="548640"/>
              </a:xfrm>
              <a:prstGeom prst="rect">
                <a:avLst/>
              </a:prstGeom>
              <a:blipFill>
                <a:blip r:embed="rId24"/>
                <a:stretch>
                  <a:fillRect l="-10145" r="-1884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5733288" y="4617720"/>
                <a:ext cx="749808"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𝑐</m:t>
                          </m:r>
                        </m:e>
                        <m:sub>
                          <m:r>
                            <a:rPr lang="en-US" sz="1600" b="0" i="0" dirty="0">
                              <a:solidFill>
                                <a:srgbClr val="222222"/>
                              </a:solidFill>
                              <a:latin typeface="Cambria Math" panose="02040503050406030204" pitchFamily="18" charset="0"/>
                            </a:rPr>
                            <m:t>1</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11</m:t>
                          </m:r>
                        </m:sub>
                      </m:sSub>
                    </m:oMath>
                  </m:oMathPara>
                </a14:m>
                <a:endParaRPr lang="en-US" sz="1600" dirty="0"/>
              </a:p>
            </p:txBody>
          </p:sp>
        </mc:Choice>
        <mc:Fallback>
          <p:sp>
            <p:nvSpPr>
              <p:cNvPr id="38" name="TextBox 37"/>
              <p:cNvSpPr txBox="1">
                <a:spLocks noRot="1" noChangeAspect="1" noMove="1" noResize="1" noEditPoints="1" noAdjustHandles="1" noChangeArrowheads="1" noChangeShapeType="1" noTextEdit="1"/>
              </p:cNvSpPr>
              <p:nvPr/>
            </p:nvSpPr>
            <p:spPr>
              <a:xfrm>
                <a:off x="5733288" y="4617720"/>
                <a:ext cx="749808" cy="384048"/>
              </a:xfrm>
              <a:prstGeom prst="rect">
                <a:avLst/>
              </a:prstGeom>
              <a:blipFill>
                <a:blip r:embed="rId2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6483096" y="4617720"/>
                <a:ext cx="749808"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𝑑</m:t>
                          </m:r>
                        </m:e>
                        <m:sub>
                          <m:r>
                            <a:rPr lang="en-US" sz="1600" b="0" i="0" dirty="0">
                              <a:solidFill>
                                <a:srgbClr val="222222"/>
                              </a:solidFill>
                              <a:latin typeface="Cambria Math" panose="02040503050406030204" pitchFamily="18" charset="0"/>
                            </a:rPr>
                            <m:t>1</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21</m:t>
                          </m:r>
                        </m:sub>
                      </m:sSub>
                    </m:oMath>
                  </m:oMathPara>
                </a14:m>
                <a:endParaRPr lang="en-US" sz="1600" dirty="0"/>
              </a:p>
            </p:txBody>
          </p:sp>
        </mc:Choice>
        <mc:Fallback>
          <p:sp>
            <p:nvSpPr>
              <p:cNvPr id="39" name="TextBox 38"/>
              <p:cNvSpPr txBox="1">
                <a:spLocks noRot="1" noChangeAspect="1" noMove="1" noResize="1" noEditPoints="1" noAdjustHandles="1" noChangeArrowheads="1" noChangeShapeType="1" noTextEdit="1"/>
              </p:cNvSpPr>
              <p:nvPr/>
            </p:nvSpPr>
            <p:spPr>
              <a:xfrm>
                <a:off x="6483096" y="4617720"/>
                <a:ext cx="749808" cy="384048"/>
              </a:xfrm>
              <a:prstGeom prst="rect">
                <a:avLst/>
              </a:prstGeom>
              <a:blipFill>
                <a:blip r:embed="rId2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733288" y="5001768"/>
                <a:ext cx="749808"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𝑐</m:t>
                          </m:r>
                        </m:e>
                        <m:sub>
                          <m:r>
                            <a:rPr lang="en-US" sz="1600" b="0" i="0" dirty="0">
                              <a:solidFill>
                                <a:srgbClr val="222222"/>
                              </a:solidFill>
                              <a:latin typeface="Cambria Math" panose="02040503050406030204" pitchFamily="18" charset="0"/>
                            </a:rPr>
                            <m:t>2</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12</m:t>
                          </m:r>
                        </m:sub>
                      </m:sSub>
                    </m:oMath>
                  </m:oMathPara>
                </a14:m>
                <a:endParaRPr lang="en-US" sz="1600" dirty="0"/>
              </a:p>
            </p:txBody>
          </p:sp>
        </mc:Choice>
        <mc:Fallback>
          <p:sp>
            <p:nvSpPr>
              <p:cNvPr id="40" name="TextBox 39"/>
              <p:cNvSpPr txBox="1">
                <a:spLocks noRot="1" noChangeAspect="1" noMove="1" noResize="1" noEditPoints="1" noAdjustHandles="1" noChangeArrowheads="1" noChangeShapeType="1" noTextEdit="1"/>
              </p:cNvSpPr>
              <p:nvPr/>
            </p:nvSpPr>
            <p:spPr>
              <a:xfrm>
                <a:off x="5733288" y="5001768"/>
                <a:ext cx="749808" cy="384048"/>
              </a:xfrm>
              <a:prstGeom prst="rect">
                <a:avLst/>
              </a:prstGeom>
              <a:blipFill>
                <a:blip r:embed="rId27"/>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1" name="TextBox 40"/>
              <p:cNvSpPr txBox="1"/>
              <p:nvPr/>
            </p:nvSpPr>
            <p:spPr>
              <a:xfrm>
                <a:off x="6483096" y="5001768"/>
                <a:ext cx="749808" cy="384048"/>
              </a:xfrm>
              <a:prstGeom prst="rect">
                <a:avLst/>
              </a:prstGeom>
              <a:noFill/>
            </p:spPr>
            <p:txBody>
              <a:bodyPr wrap="none" lIns="0" tIns="0" rIns="0" bIns="0" anchor="ctr">
                <a:spAutoFit/>
              </a:bodyPr>
              <a:lstStyle/>
              <a:p>
                <a:pPr marL="0" indent="0"/>
                <a14:m>
                  <m:oMathPara xmlns:m="http://schemas.openxmlformats.org/officeDocument/2006/math">
                    <m:oMathParaPr>
                      <m:jc m:val="center"/>
                    </m:oMathParaPr>
                    <m:oMath xmlns:m="http://schemas.openxmlformats.org/officeDocument/2006/math">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𝑑</m:t>
                          </m:r>
                        </m:e>
                        <m:sub>
                          <m:r>
                            <a:rPr lang="en-US" sz="1600" b="0" i="0" dirty="0">
                              <a:solidFill>
                                <a:srgbClr val="222222"/>
                              </a:solidFill>
                              <a:latin typeface="Cambria Math" panose="02040503050406030204" pitchFamily="18" charset="0"/>
                            </a:rPr>
                            <m:t>2</m:t>
                          </m:r>
                        </m:sub>
                      </m:sSub>
                      <m:sSub>
                        <m:sSubPr>
                          <m:ctrlPr>
                            <a:rPr lang="en-US" sz="1600" b="0" i="1" dirty="0">
                              <a:solidFill>
                                <a:srgbClr val="222222"/>
                              </a:solidFill>
                              <a:latin typeface="Cambria Math" panose="02040503050406030204" pitchFamily="18" charset="0"/>
                            </a:rPr>
                          </m:ctrlPr>
                        </m:sSubPr>
                        <m:e>
                          <m:r>
                            <a:rPr lang="en-US" sz="1600" b="0" i="1" dirty="0">
                              <a:solidFill>
                                <a:srgbClr val="222222"/>
                              </a:solidFill>
                              <a:latin typeface="Cambria Math" panose="02040503050406030204" pitchFamily="18" charset="0"/>
                            </a:rPr>
                            <m:t>𝜆</m:t>
                          </m:r>
                        </m:e>
                        <m:sub>
                          <m:r>
                            <a:rPr lang="en-US" sz="1600" b="0" i="0" dirty="0">
                              <a:solidFill>
                                <a:srgbClr val="222222"/>
                              </a:solidFill>
                              <a:latin typeface="Cambria Math" panose="02040503050406030204" pitchFamily="18" charset="0"/>
                            </a:rPr>
                            <m:t>22</m:t>
                          </m:r>
                        </m:sub>
                      </m:sSub>
                    </m:oMath>
                  </m:oMathPara>
                </a14:m>
                <a:endParaRPr lang="en-US" sz="1600" dirty="0"/>
              </a:p>
            </p:txBody>
          </p:sp>
        </mc:Choice>
        <mc:Fallback>
          <p:sp>
            <p:nvSpPr>
              <p:cNvPr id="41" name="TextBox 40"/>
              <p:cNvSpPr txBox="1">
                <a:spLocks noRot="1" noChangeAspect="1" noMove="1" noResize="1" noEditPoints="1" noAdjustHandles="1" noChangeArrowheads="1" noChangeShapeType="1" noTextEdit="1"/>
              </p:cNvSpPr>
              <p:nvPr/>
            </p:nvSpPr>
            <p:spPr>
              <a:xfrm>
                <a:off x="6483096" y="5001768"/>
                <a:ext cx="749808" cy="384048"/>
              </a:xfrm>
              <a:prstGeom prst="rect">
                <a:avLst/>
              </a:prstGeom>
              <a:blipFill>
                <a:blip r:embed="rId28"/>
                <a:stretch>
                  <a:fillRect/>
                </a:stretch>
              </a:blipFill>
            </p:spPr>
            <p:txBody>
              <a:bodyPr/>
              <a:lstStyle/>
              <a:p>
                <a:r>
                  <a:rPr lang="ja-JP" altLang="en-US">
                    <a:noFill/>
                  </a:rPr>
                  <a:t> </a:t>
                </a:r>
              </a:p>
            </p:txBody>
          </p:sp>
        </mc:Fallback>
      </mc:AlternateContent>
      <p:sp>
        <p:nvSpPr>
          <p:cNvPr id="42" name="Left Bracket 41"/>
          <p:cNvSpPr/>
          <p:nvPr/>
        </p:nvSpPr>
        <p:spPr>
          <a:xfrm>
            <a:off x="5614416" y="4572000"/>
            <a:ext cx="109728" cy="859536"/>
          </a:xfrm>
          <a:prstGeom prst="lef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ight Bracket 42"/>
          <p:cNvSpPr/>
          <p:nvPr/>
        </p:nvSpPr>
        <p:spPr>
          <a:xfrm>
            <a:off x="7260336" y="4572000"/>
            <a:ext cx="109728" cy="859536"/>
          </a:xfrm>
          <a:prstGeom prst="rightBracket">
            <a:avLst/>
          </a:prstGeom>
          <a:noFill/>
          <a:ln w="1778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44" name="TextBox 43"/>
              <p:cNvSpPr txBox="1"/>
              <p:nvPr/>
            </p:nvSpPr>
            <p:spPr>
              <a:xfrm>
                <a:off x="7900416" y="4617720"/>
                <a:ext cx="2743200" cy="768096"/>
              </a:xfrm>
              <a:prstGeom prst="rect">
                <a:avLst/>
              </a:prstGeom>
              <a:noFill/>
            </p:spPr>
            <p:txBody>
              <a:bodyPr wrap="none" lIns="0" tIns="0" rIns="0" bIns="0">
                <a:spAutoFit/>
              </a:bodyPr>
              <a:lstStyle/>
              <a:p>
                <a:pPr marL="0" indent="0">
                  <a:spcAft>
                    <a:spcPts val="800"/>
                  </a:spcAft>
                </a:pPr>
                <a14:m>
                  <m:oMathPara xmlns:m="http://schemas.openxmlformats.org/officeDocument/2006/math">
                    <m:oMathParaPr>
                      <m:jc m:val="left"/>
                    </m:oMathParaPr>
                    <m:oMath xmlns:m="http://schemas.openxmlformats.org/officeDocument/2006/math">
                      <m:sSub>
                        <m:sSubPr>
                          <m:ctrlPr>
                            <a:rPr lang="en-US" sz="1700" b="0" i="1" dirty="0">
                              <a:solidFill>
                                <a:srgbClr val="222222"/>
                              </a:solidFill>
                              <a:latin typeface="Cambria Math" panose="02040503050406030204" pitchFamily="18" charset="0"/>
                            </a:rPr>
                          </m:ctrlPr>
                        </m:sSubPr>
                        <m:e>
                          <m:r>
                            <a:rPr lang="en-US" sz="1700" b="0" i="1" dirty="0">
                              <a:solidFill>
                                <a:srgbClr val="222222"/>
                              </a:solidFill>
                              <a:latin typeface="Cambria Math" panose="02040503050406030204" pitchFamily="18" charset="0"/>
                            </a:rPr>
                            <m:t>𝑥</m:t>
                          </m:r>
                        </m:e>
                        <m:sub>
                          <m:r>
                            <a:rPr lang="en-US" sz="1700" b="0" i="0" dirty="0">
                              <a:solidFill>
                                <a:srgbClr val="222222"/>
                              </a:solidFill>
                              <a:latin typeface="Cambria Math" panose="02040503050406030204" pitchFamily="18" charset="0"/>
                            </a:rPr>
                            <m:t>0</m:t>
                          </m:r>
                        </m:sub>
                      </m:sSub>
                      <m:r>
                        <a:rPr lang="en-US" sz="1700" b="0" i="0" dirty="0">
                          <a:solidFill>
                            <a:srgbClr val="222222"/>
                          </a:solidFill>
                          <a:latin typeface="Cambria Math" panose="02040503050406030204" pitchFamily="18" charset="0"/>
                        </a:rPr>
                        <m:t> = </m:t>
                      </m:r>
                      <m:sSup>
                        <m:sSupPr>
                          <m:ctrlPr>
                            <a:rPr lang="en-US" sz="1700" b="0" i="1" dirty="0">
                              <a:solidFill>
                                <a:srgbClr val="222222"/>
                              </a:solidFill>
                              <a:latin typeface="Cambria Math" panose="02040503050406030204" pitchFamily="18" charset="0"/>
                            </a:rPr>
                          </m:ctrlPr>
                        </m:sSupPr>
                        <m:e>
                          <m:d>
                            <m:dPr>
                              <m:ctrlPr>
                                <a:rPr lang="en-US" sz="1700" b="0" i="1" dirty="0">
                                  <a:solidFill>
                                    <a:srgbClr val="222222"/>
                                  </a:solidFill>
                                  <a:latin typeface="Cambria Math" panose="02040503050406030204" pitchFamily="18" charset="0"/>
                                </a:rPr>
                              </m:ctrlPr>
                            </m:dPr>
                            <m:e>
                              <m:r>
                                <a:rPr lang="en-US" sz="1700" b="0" i="1" dirty="0">
                                  <a:solidFill>
                                    <a:srgbClr val="222222"/>
                                  </a:solidFill>
                                  <a:latin typeface="Cambria Math" panose="02040503050406030204" pitchFamily="18" charset="0"/>
                                </a:rPr>
                                <m:t>𝐶</m:t>
                              </m:r>
                              <m:r>
                                <a:rPr lang="en-US" sz="1700" b="0" i="0" dirty="0">
                                  <a:solidFill>
                                    <a:srgbClr val="222222"/>
                                  </a:solidFill>
                                  <a:latin typeface="Cambria Math" panose="02040503050406030204" pitchFamily="18" charset="0"/>
                                </a:rPr>
                                <m:t> ∘ </m:t>
                              </m:r>
                              <m:r>
                                <a:rPr lang="en-US" sz="1700" b="0" i="1" dirty="0">
                                  <a:solidFill>
                                    <a:srgbClr val="222222"/>
                                  </a:solidFill>
                                  <a:latin typeface="Cambria Math" panose="02040503050406030204" pitchFamily="18" charset="0"/>
                                </a:rPr>
                                <m:t>𝐿</m:t>
                              </m:r>
                            </m:e>
                          </m:d>
                        </m:e>
                        <m:sup>
                          <m:r>
                            <a:rPr lang="en-US" sz="1700" b="0" i="0" dirty="0">
                              <a:solidFill>
                                <a:srgbClr val="222222"/>
                              </a:solidFill>
                              <a:latin typeface="Cambria Math" panose="02040503050406030204" pitchFamily="18" charset="0"/>
                            </a:rPr>
                            <m:t>−1</m:t>
                          </m:r>
                        </m:sup>
                      </m:sSup>
                      <m:sSub>
                        <m:sSubPr>
                          <m:ctrlPr>
                            <a:rPr lang="en-US" sz="1700" b="0" i="1" dirty="0">
                              <a:solidFill>
                                <a:srgbClr val="222222"/>
                              </a:solidFill>
                              <a:latin typeface="Cambria Math" panose="02040503050406030204" pitchFamily="18" charset="0"/>
                            </a:rPr>
                          </m:ctrlPr>
                        </m:sSubPr>
                        <m:e>
                          <m:r>
                            <a:rPr lang="en-US" sz="1700" b="0" i="1" dirty="0">
                              <a:solidFill>
                                <a:srgbClr val="222222"/>
                              </a:solidFill>
                              <a:latin typeface="Cambria Math" panose="02040503050406030204" pitchFamily="18" charset="0"/>
                            </a:rPr>
                            <m:t>𝑟</m:t>
                          </m:r>
                        </m:e>
                        <m:sub>
                          <m:r>
                            <a:rPr lang="en-US" sz="1700" b="0" i="1" dirty="0">
                              <a:solidFill>
                                <a:srgbClr val="222222"/>
                              </a:solidFill>
                              <a:latin typeface="Cambria Math" panose="02040503050406030204" pitchFamily="18" charset="0"/>
                            </a:rPr>
                            <m:t>𝑦</m:t>
                          </m:r>
                        </m:sub>
                      </m:sSub>
                    </m:oMath>
                  </m:oMathPara>
                </a14:m>
                <a:endParaRPr lang="en-US" sz="1700" dirty="0"/>
              </a:p>
              <a:p>
                <a:pPr marL="0" indent="0"/>
                <a14:m>
                  <m:oMathPara xmlns:m="http://schemas.openxmlformats.org/officeDocument/2006/math">
                    <m:oMathParaPr>
                      <m:jc m:val="left"/>
                    </m:oMathParaPr>
                    <m:oMath xmlns:m="http://schemas.openxmlformats.org/officeDocument/2006/math">
                      <m:sSub>
                        <m:sSubPr>
                          <m:ctrlPr>
                            <a:rPr lang="en-US" sz="1700" b="0" i="1" dirty="0">
                              <a:solidFill>
                                <a:srgbClr val="222222"/>
                              </a:solidFill>
                              <a:latin typeface="Cambria Math" panose="02040503050406030204" pitchFamily="18" charset="0"/>
                            </a:rPr>
                          </m:ctrlPr>
                        </m:sSubPr>
                        <m:e>
                          <m:r>
                            <a:rPr lang="en-US" sz="1700" b="0" i="1" dirty="0">
                              <a:solidFill>
                                <a:srgbClr val="222222"/>
                              </a:solidFill>
                              <a:latin typeface="Cambria Math" panose="02040503050406030204" pitchFamily="18" charset="0"/>
                            </a:rPr>
                            <m:t>𝑦</m:t>
                          </m:r>
                        </m:e>
                        <m:sub>
                          <m:r>
                            <a:rPr lang="en-US" sz="1700" b="0" i="0" dirty="0">
                              <a:solidFill>
                                <a:srgbClr val="222222"/>
                              </a:solidFill>
                              <a:latin typeface="Cambria Math" panose="02040503050406030204" pitchFamily="18" charset="0"/>
                            </a:rPr>
                            <m:t>0</m:t>
                          </m:r>
                        </m:sub>
                      </m:sSub>
                      <m:r>
                        <a:rPr lang="en-US" sz="1700" b="0" i="0" dirty="0">
                          <a:solidFill>
                            <a:srgbClr val="222222"/>
                          </a:solidFill>
                          <a:latin typeface="Cambria Math" panose="02040503050406030204" pitchFamily="18" charset="0"/>
                        </a:rPr>
                        <m:t> = </m:t>
                      </m:r>
                      <m:sSup>
                        <m:sSupPr>
                          <m:ctrlPr>
                            <a:rPr lang="en-US" sz="1700" b="0" i="1" dirty="0">
                              <a:solidFill>
                                <a:srgbClr val="222222"/>
                              </a:solidFill>
                              <a:latin typeface="Cambria Math" panose="02040503050406030204" pitchFamily="18" charset="0"/>
                            </a:rPr>
                          </m:ctrlPr>
                        </m:sSupPr>
                        <m:e>
                          <m:r>
                            <a:rPr lang="en-US" sz="1700" b="0" i="1" dirty="0">
                              <a:solidFill>
                                <a:srgbClr val="222222"/>
                              </a:solidFill>
                              <a:latin typeface="Cambria Math" panose="02040503050406030204" pitchFamily="18" charset="0"/>
                            </a:rPr>
                            <m:t>𝐿</m:t>
                          </m:r>
                        </m:e>
                        <m:sup>
                          <m:r>
                            <a:rPr lang="en-US" sz="1700" b="0" i="0" dirty="0">
                              <a:solidFill>
                                <a:srgbClr val="222222"/>
                              </a:solidFill>
                              <a:latin typeface="Cambria Math" panose="02040503050406030204" pitchFamily="18" charset="0"/>
                            </a:rPr>
                            <m:t>−1</m:t>
                          </m:r>
                        </m:sup>
                      </m:sSup>
                      <m:sSub>
                        <m:sSubPr>
                          <m:ctrlPr>
                            <a:rPr lang="en-US" sz="1700" b="0" i="1" dirty="0">
                              <a:solidFill>
                                <a:srgbClr val="222222"/>
                              </a:solidFill>
                              <a:latin typeface="Cambria Math" panose="02040503050406030204" pitchFamily="18" charset="0"/>
                            </a:rPr>
                          </m:ctrlPr>
                        </m:sSubPr>
                        <m:e>
                          <m:r>
                            <a:rPr lang="en-US" sz="1700" b="0" i="1" dirty="0">
                              <a:solidFill>
                                <a:srgbClr val="222222"/>
                              </a:solidFill>
                              <a:latin typeface="Cambria Math" panose="02040503050406030204" pitchFamily="18" charset="0"/>
                            </a:rPr>
                            <m:t>𝑟</m:t>
                          </m:r>
                        </m:e>
                        <m:sub>
                          <m:r>
                            <a:rPr lang="en-US" sz="1700" b="0" i="1" dirty="0">
                              <a:solidFill>
                                <a:srgbClr val="222222"/>
                              </a:solidFill>
                              <a:latin typeface="Cambria Math" panose="02040503050406030204" pitchFamily="18" charset="0"/>
                            </a:rPr>
                            <m:t>𝑥</m:t>
                          </m:r>
                        </m:sub>
                      </m:sSub>
                    </m:oMath>
                  </m:oMathPara>
                </a14:m>
                <a:endParaRPr lang="en-US" sz="1700" dirty="0"/>
              </a:p>
            </p:txBody>
          </p:sp>
        </mc:Choice>
        <mc:Fallback>
          <p:sp>
            <p:nvSpPr>
              <p:cNvPr id="44" name="TextBox 43"/>
              <p:cNvSpPr txBox="1">
                <a:spLocks noRot="1" noChangeAspect="1" noMove="1" noResize="1" noEditPoints="1" noAdjustHandles="1" noChangeArrowheads="1" noChangeShapeType="1" noTextEdit="1"/>
              </p:cNvSpPr>
              <p:nvPr/>
            </p:nvSpPr>
            <p:spPr>
              <a:xfrm>
                <a:off x="7900416" y="4617720"/>
                <a:ext cx="2743200" cy="768096"/>
              </a:xfrm>
              <a:prstGeom prst="rect">
                <a:avLst/>
              </a:prstGeom>
              <a:blipFill>
                <a:blip r:embed="rId29"/>
                <a:stretch>
                  <a:fillRect l="-3226" t="-1613"/>
                </a:stretch>
              </a:blipFill>
            </p:spPr>
            <p:txBody>
              <a:bodyPr/>
              <a:lstStyle/>
              <a:p>
                <a:r>
                  <a:rPr lang="ja-JP" altLang="en-US">
                    <a:noFill/>
                  </a:rPr>
                  <a:t> </a:t>
                </a:r>
              </a:p>
            </p:txBody>
          </p:sp>
        </mc:Fallback>
      </mc:AlternateContent>
      <p:sp>
        <p:nvSpPr>
          <p:cNvPr id="45" name="TextBox 44"/>
          <p:cNvSpPr txBox="1"/>
          <p:nvPr/>
        </p:nvSpPr>
        <p:spPr>
          <a:xfrm>
            <a:off x="566928" y="5559552"/>
            <a:ext cx="11057839" cy="685800"/>
          </a:xfrm>
          <a:prstGeom prst="rect">
            <a:avLst/>
          </a:prstGeom>
          <a:noFill/>
        </p:spPr>
        <p:txBody>
          <a:bodyPr wrap="square" lIns="0" tIns="0" rIns="0" bIns="0">
            <a:spAutoFit/>
          </a:bodyPr>
          <a:lstStyle/>
          <a:p>
            <a:pPr algn="ctr"/>
            <a:r>
              <a:rPr sz="1700" b="1">
                <a:solidFill>
                  <a:srgbClr val="C0561A"/>
                </a:solidFill>
                <a:latin typeface="Meiryo"/>
                <a:ea typeface="Meiryo"/>
                <a:cs typeface="Meiryo"/>
              </a:rPr>
              <a:t>二次関数ではなく多重線形の形になるため、最適な f は必ず探索範囲の上限または下限（頂点）に張り付く。</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［マイワシ版・8枚目］どちらの時期も、観測をよく再現できた</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26</a:t>
            </a:r>
          </a:p>
        </p:txBody>
      </p:sp>
      <p:pic>
        <p:nvPicPr>
          <p:cNvPr id="4" name="Picture 3" descr="05m_当てはまり_マイワシ.png"/>
          <p:cNvPicPr>
            <a:picLocks noChangeAspect="1"/>
          </p:cNvPicPr>
          <p:nvPr/>
        </p:nvPicPr>
        <p:blipFill>
          <a:blip r:embed="rId2"/>
          <a:stretch>
            <a:fillRect/>
          </a:stretch>
        </p:blipFill>
        <p:spPr>
          <a:xfrm>
            <a:off x="1069848" y="1207008"/>
            <a:ext cx="10058400" cy="4160520"/>
          </a:xfrm>
          <a:prstGeom prst="rect">
            <a:avLst/>
          </a:prstGeom>
        </p:spPr>
      </p:pic>
      <p:sp>
        <p:nvSpPr>
          <p:cNvPr id="5" name="figlabel"/>
          <p:cNvSpPr txBox="1"/>
          <p:nvPr/>
        </p:nvSpPr>
        <p:spPr>
          <a:xfrm>
            <a:off x="2711786" y="1585554"/>
            <a:ext cx="6553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マイワシ</a:t>
            </a:r>
          </a:p>
        </p:txBody>
      </p:sp>
      <p:sp>
        <p:nvSpPr>
          <p:cNvPr id="6" name="figlabel"/>
          <p:cNvSpPr txBox="1"/>
          <p:nvPr/>
        </p:nvSpPr>
        <p:spPr>
          <a:xfrm>
            <a:off x="2217326"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0.106</a:t>
            </a:r>
          </a:p>
        </p:txBody>
      </p:sp>
      <p:sp>
        <p:nvSpPr>
          <p:cNvPr id="7" name="figlabel"/>
          <p:cNvSpPr txBox="1"/>
          <p:nvPr/>
        </p:nvSpPr>
        <p:spPr>
          <a:xfrm>
            <a:off x="2820214"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0.460</a:t>
            </a:r>
          </a:p>
        </p:txBody>
      </p:sp>
      <p:sp>
        <p:nvSpPr>
          <p:cNvPr id="8" name="figlabel"/>
          <p:cNvSpPr txBox="1"/>
          <p:nvPr/>
        </p:nvSpPr>
        <p:spPr>
          <a:xfrm>
            <a:off x="3423103"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0.305</a:t>
            </a:r>
          </a:p>
        </p:txBody>
      </p:sp>
      <p:sp>
        <p:nvSpPr>
          <p:cNvPr id="9" name="figlabel"/>
          <p:cNvSpPr txBox="1"/>
          <p:nvPr/>
        </p:nvSpPr>
        <p:spPr>
          <a:xfrm>
            <a:off x="4934400" y="1585554"/>
            <a:ext cx="960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ウルメイワシ</a:t>
            </a:r>
          </a:p>
        </p:txBody>
      </p:sp>
      <p:sp>
        <p:nvSpPr>
          <p:cNvPr id="10" name="figlabel"/>
          <p:cNvSpPr txBox="1"/>
          <p:nvPr/>
        </p:nvSpPr>
        <p:spPr>
          <a:xfrm>
            <a:off x="4592340"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0.286</a:t>
            </a:r>
          </a:p>
        </p:txBody>
      </p:sp>
      <p:sp>
        <p:nvSpPr>
          <p:cNvPr id="11" name="figlabel"/>
          <p:cNvSpPr txBox="1"/>
          <p:nvPr/>
        </p:nvSpPr>
        <p:spPr>
          <a:xfrm>
            <a:off x="5195228"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0.336</a:t>
            </a:r>
          </a:p>
        </p:txBody>
      </p:sp>
      <p:sp>
        <p:nvSpPr>
          <p:cNvPr id="12" name="figlabel"/>
          <p:cNvSpPr txBox="1"/>
          <p:nvPr/>
        </p:nvSpPr>
        <p:spPr>
          <a:xfrm>
            <a:off x="5798117"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0.512</a:t>
            </a:r>
          </a:p>
        </p:txBody>
      </p:sp>
      <p:sp>
        <p:nvSpPr>
          <p:cNvPr id="13" name="figlabel"/>
          <p:cNvSpPr txBox="1"/>
          <p:nvPr/>
        </p:nvSpPr>
        <p:spPr>
          <a:xfrm>
            <a:off x="7614215" y="1585554"/>
            <a:ext cx="3505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ブリ</a:t>
            </a:r>
          </a:p>
        </p:txBody>
      </p:sp>
      <p:sp>
        <p:nvSpPr>
          <p:cNvPr id="14" name="figlabel"/>
          <p:cNvSpPr txBox="1"/>
          <p:nvPr/>
        </p:nvSpPr>
        <p:spPr>
          <a:xfrm>
            <a:off x="6967354"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0.099</a:t>
            </a:r>
          </a:p>
        </p:txBody>
      </p:sp>
      <p:sp>
        <p:nvSpPr>
          <p:cNvPr id="15" name="figlabel"/>
          <p:cNvSpPr txBox="1"/>
          <p:nvPr/>
        </p:nvSpPr>
        <p:spPr>
          <a:xfrm>
            <a:off x="7570242"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0.205</a:t>
            </a:r>
          </a:p>
        </p:txBody>
      </p:sp>
      <p:sp>
        <p:nvSpPr>
          <p:cNvPr id="16" name="figlabel"/>
          <p:cNvSpPr txBox="1"/>
          <p:nvPr/>
        </p:nvSpPr>
        <p:spPr>
          <a:xfrm>
            <a:off x="8173131"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0.417</a:t>
            </a:r>
          </a:p>
        </p:txBody>
      </p:sp>
      <p:sp>
        <p:nvSpPr>
          <p:cNvPr id="17" name="figlabel"/>
          <p:cNvSpPr txBox="1"/>
          <p:nvPr/>
        </p:nvSpPr>
        <p:spPr>
          <a:xfrm>
            <a:off x="9913029" y="1585554"/>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サワラ</a:t>
            </a:r>
          </a:p>
        </p:txBody>
      </p:sp>
      <p:sp>
        <p:nvSpPr>
          <p:cNvPr id="18" name="figlabel"/>
          <p:cNvSpPr txBox="1"/>
          <p:nvPr/>
        </p:nvSpPr>
        <p:spPr>
          <a:xfrm>
            <a:off x="9342368"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0.090</a:t>
            </a:r>
          </a:p>
        </p:txBody>
      </p:sp>
      <p:sp>
        <p:nvSpPr>
          <p:cNvPr id="19" name="figlabel"/>
          <p:cNvSpPr txBox="1"/>
          <p:nvPr/>
        </p:nvSpPr>
        <p:spPr>
          <a:xfrm>
            <a:off x="9945256"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0.221</a:t>
            </a:r>
          </a:p>
        </p:txBody>
      </p:sp>
      <p:sp>
        <p:nvSpPr>
          <p:cNvPr id="20" name="figlabel"/>
          <p:cNvSpPr txBox="1"/>
          <p:nvPr/>
        </p:nvSpPr>
        <p:spPr>
          <a:xfrm>
            <a:off x="10548145" y="1855870"/>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0.399</a:t>
            </a:r>
          </a:p>
        </p:txBody>
      </p:sp>
      <p:sp>
        <p:nvSpPr>
          <p:cNvPr id="21" name="figlabel"/>
          <p:cNvSpPr txBox="1"/>
          <p:nvPr/>
        </p:nvSpPr>
        <p:spPr>
          <a:xfrm>
            <a:off x="2711786" y="3318875"/>
            <a:ext cx="6553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マイワシ</a:t>
            </a:r>
          </a:p>
        </p:txBody>
      </p:sp>
      <p:sp>
        <p:nvSpPr>
          <p:cNvPr id="22" name="figlabel"/>
          <p:cNvSpPr txBox="1"/>
          <p:nvPr/>
        </p:nvSpPr>
        <p:spPr>
          <a:xfrm>
            <a:off x="2217326"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0.060</a:t>
            </a:r>
          </a:p>
        </p:txBody>
      </p:sp>
      <p:sp>
        <p:nvSpPr>
          <p:cNvPr id="23" name="figlabel"/>
          <p:cNvSpPr txBox="1"/>
          <p:nvPr/>
        </p:nvSpPr>
        <p:spPr>
          <a:xfrm>
            <a:off x="2820214"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0.143</a:t>
            </a:r>
          </a:p>
        </p:txBody>
      </p:sp>
      <p:sp>
        <p:nvSpPr>
          <p:cNvPr id="24" name="figlabel"/>
          <p:cNvSpPr txBox="1"/>
          <p:nvPr/>
        </p:nvSpPr>
        <p:spPr>
          <a:xfrm>
            <a:off x="3423103"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0.171</a:t>
            </a:r>
          </a:p>
        </p:txBody>
      </p:sp>
      <p:sp>
        <p:nvSpPr>
          <p:cNvPr id="25" name="figlabel"/>
          <p:cNvSpPr txBox="1"/>
          <p:nvPr/>
        </p:nvSpPr>
        <p:spPr>
          <a:xfrm>
            <a:off x="4934400" y="3318875"/>
            <a:ext cx="960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ウルメイワシ</a:t>
            </a:r>
          </a:p>
        </p:txBody>
      </p:sp>
      <p:sp>
        <p:nvSpPr>
          <p:cNvPr id="26" name="figlabel"/>
          <p:cNvSpPr txBox="1"/>
          <p:nvPr/>
        </p:nvSpPr>
        <p:spPr>
          <a:xfrm>
            <a:off x="4592340"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0.102</a:t>
            </a:r>
          </a:p>
        </p:txBody>
      </p:sp>
      <p:sp>
        <p:nvSpPr>
          <p:cNvPr id="27" name="figlabel"/>
          <p:cNvSpPr txBox="1"/>
          <p:nvPr/>
        </p:nvSpPr>
        <p:spPr>
          <a:xfrm>
            <a:off x="5195228"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0.116</a:t>
            </a:r>
          </a:p>
        </p:txBody>
      </p:sp>
      <p:sp>
        <p:nvSpPr>
          <p:cNvPr id="28" name="figlabel"/>
          <p:cNvSpPr txBox="1"/>
          <p:nvPr/>
        </p:nvSpPr>
        <p:spPr>
          <a:xfrm>
            <a:off x="5798117"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0.099</a:t>
            </a:r>
          </a:p>
        </p:txBody>
      </p:sp>
      <p:sp>
        <p:nvSpPr>
          <p:cNvPr id="29" name="figlabel"/>
          <p:cNvSpPr txBox="1"/>
          <p:nvPr/>
        </p:nvSpPr>
        <p:spPr>
          <a:xfrm>
            <a:off x="7614215" y="3318875"/>
            <a:ext cx="3505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ブリ</a:t>
            </a:r>
          </a:p>
        </p:txBody>
      </p:sp>
      <p:sp>
        <p:nvSpPr>
          <p:cNvPr id="30" name="figlabel"/>
          <p:cNvSpPr txBox="1"/>
          <p:nvPr/>
        </p:nvSpPr>
        <p:spPr>
          <a:xfrm>
            <a:off x="6967354"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0.082</a:t>
            </a:r>
          </a:p>
        </p:txBody>
      </p:sp>
      <p:sp>
        <p:nvSpPr>
          <p:cNvPr id="31" name="figlabel"/>
          <p:cNvSpPr txBox="1"/>
          <p:nvPr/>
        </p:nvSpPr>
        <p:spPr>
          <a:xfrm>
            <a:off x="7570242"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0.117</a:t>
            </a:r>
          </a:p>
        </p:txBody>
      </p:sp>
      <p:sp>
        <p:nvSpPr>
          <p:cNvPr id="32" name="figlabel"/>
          <p:cNvSpPr txBox="1"/>
          <p:nvPr/>
        </p:nvSpPr>
        <p:spPr>
          <a:xfrm>
            <a:off x="8173131"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0.130</a:t>
            </a:r>
          </a:p>
        </p:txBody>
      </p:sp>
      <p:sp>
        <p:nvSpPr>
          <p:cNvPr id="33" name="figlabel"/>
          <p:cNvSpPr txBox="1"/>
          <p:nvPr/>
        </p:nvSpPr>
        <p:spPr>
          <a:xfrm>
            <a:off x="9913029" y="3318875"/>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サワラ</a:t>
            </a:r>
          </a:p>
        </p:txBody>
      </p:sp>
      <p:sp>
        <p:nvSpPr>
          <p:cNvPr id="34" name="figlabel"/>
          <p:cNvSpPr txBox="1"/>
          <p:nvPr/>
        </p:nvSpPr>
        <p:spPr>
          <a:xfrm>
            <a:off x="9342368"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1F4E79"/>
                </a:solidFill>
                <a:latin typeface="Meiryo"/>
                <a:ea typeface="Meiryo"/>
                <a:cs typeface="Meiryo"/>
              </a:rPr>
              <a:t>0.073</a:t>
            </a:r>
          </a:p>
        </p:txBody>
      </p:sp>
      <p:sp>
        <p:nvSpPr>
          <p:cNvPr id="35" name="figlabel"/>
          <p:cNvSpPr txBox="1"/>
          <p:nvPr/>
        </p:nvSpPr>
        <p:spPr>
          <a:xfrm>
            <a:off x="9945256"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5E8FB5"/>
                </a:solidFill>
                <a:latin typeface="Meiryo"/>
                <a:ea typeface="Meiryo"/>
                <a:cs typeface="Meiryo"/>
              </a:rPr>
              <a:t>0.083</a:t>
            </a:r>
          </a:p>
        </p:txBody>
      </p:sp>
      <p:sp>
        <p:nvSpPr>
          <p:cNvPr id="36" name="figlabel"/>
          <p:cNvSpPr txBox="1"/>
          <p:nvPr/>
        </p:nvSpPr>
        <p:spPr>
          <a:xfrm>
            <a:off x="10548145" y="3589191"/>
            <a:ext cx="359410" cy="175133"/>
          </a:xfrm>
          <a:prstGeom prst="rect">
            <a:avLst/>
          </a:prstGeom>
          <a:noFill/>
        </p:spPr>
        <p:txBody>
          <a:bodyPr wrap="none" lIns="0" tIns="0" rIns="0" bIns="0" anchor="ctr">
            <a:spAutoFit/>
          </a:bodyPr>
          <a:lstStyle/>
          <a:p>
            <a:pPr algn="l">
              <a:lnSpc>
                <a:spcPct val="120000"/>
              </a:lnSpc>
              <a:spcAft>
                <a:spcPts val="0"/>
              </a:spcAft>
            </a:pPr>
            <a:r>
              <a:rPr sz="950" b="0">
                <a:solidFill>
                  <a:srgbClr val="7E8B96"/>
                </a:solidFill>
                <a:latin typeface="Meiryo"/>
                <a:ea typeface="Meiryo"/>
                <a:cs typeface="Meiryo"/>
              </a:rPr>
              <a:t>0.087</a:t>
            </a:r>
          </a:p>
        </p:txBody>
      </p:sp>
      <p:sp>
        <p:nvSpPr>
          <p:cNvPr id="37" name="figlabel"/>
          <p:cNvSpPr txBox="1"/>
          <p:nvPr/>
        </p:nvSpPr>
        <p:spPr>
          <a:xfrm>
            <a:off x="4399178" y="1244389"/>
            <a:ext cx="629920" cy="208153"/>
          </a:xfrm>
          <a:prstGeom prst="rect">
            <a:avLst/>
          </a:prstGeom>
          <a:noFill/>
        </p:spPr>
        <p:txBody>
          <a:bodyPr wrap="none" lIns="0" tIns="0" rIns="0" bIns="0" anchor="ctr">
            <a:spAutoFit/>
          </a:bodyPr>
          <a:lstStyle/>
          <a:p>
            <a:pPr algn="l">
              <a:lnSpc>
                <a:spcPct val="120000"/>
              </a:lnSpc>
              <a:spcAft>
                <a:spcPts val="0"/>
              </a:spcAft>
            </a:pPr>
            <a:r>
              <a:rPr sz="1150" b="0">
                <a:solidFill>
                  <a:srgbClr val="222222"/>
                </a:solidFill>
                <a:latin typeface="Meiryo"/>
                <a:ea typeface="Meiryo"/>
                <a:cs typeface="Meiryo"/>
              </a:rPr>
              <a:t>実データ</a:t>
            </a:r>
          </a:p>
        </p:txBody>
      </p:sp>
      <p:sp>
        <p:nvSpPr>
          <p:cNvPr id="38" name="figlabel"/>
          <p:cNvSpPr txBox="1"/>
          <p:nvPr/>
        </p:nvSpPr>
        <p:spPr>
          <a:xfrm>
            <a:off x="5787237" y="1244389"/>
            <a:ext cx="927861" cy="208153"/>
          </a:xfrm>
          <a:prstGeom prst="rect">
            <a:avLst/>
          </a:prstGeom>
          <a:noFill/>
        </p:spPr>
        <p:txBody>
          <a:bodyPr wrap="none" lIns="0" tIns="0" rIns="0" bIns="0" anchor="ctr">
            <a:spAutoFit/>
          </a:bodyPr>
          <a:lstStyle/>
          <a:p>
            <a:pPr algn="l">
              <a:lnSpc>
                <a:spcPct val="120000"/>
              </a:lnSpc>
              <a:spcAft>
                <a:spcPts val="0"/>
              </a:spcAft>
            </a:pPr>
            <a:r>
              <a:rPr sz="1150" b="0">
                <a:solidFill>
                  <a:srgbClr val="1F4E79"/>
                </a:solidFill>
                <a:latin typeface="Meiryo"/>
                <a:ea typeface="Meiryo"/>
                <a:cs typeface="Meiryo"/>
              </a:rPr>
              <a:t>12個（自由）</a:t>
            </a:r>
          </a:p>
        </p:txBody>
      </p:sp>
      <p:sp>
        <p:nvSpPr>
          <p:cNvPr id="39" name="figlabel"/>
          <p:cNvSpPr txBox="1"/>
          <p:nvPr/>
        </p:nvSpPr>
        <p:spPr>
          <a:xfrm>
            <a:off x="7477048" y="1244389"/>
            <a:ext cx="343662" cy="208153"/>
          </a:xfrm>
          <a:prstGeom prst="rect">
            <a:avLst/>
          </a:prstGeom>
          <a:noFill/>
        </p:spPr>
        <p:txBody>
          <a:bodyPr wrap="none" lIns="0" tIns="0" rIns="0" bIns="0" anchor="ctr">
            <a:spAutoFit/>
          </a:bodyPr>
          <a:lstStyle/>
          <a:p>
            <a:pPr algn="l">
              <a:lnSpc>
                <a:spcPct val="120000"/>
              </a:lnSpc>
              <a:spcAft>
                <a:spcPts val="0"/>
              </a:spcAft>
            </a:pPr>
            <a:r>
              <a:rPr sz="1150" b="0">
                <a:solidFill>
                  <a:srgbClr val="5E8FB5"/>
                </a:solidFill>
                <a:latin typeface="Meiryo"/>
                <a:ea typeface="Meiryo"/>
                <a:cs typeface="Meiryo"/>
              </a:rPr>
              <a:t>10個</a:t>
            </a:r>
          </a:p>
        </p:txBody>
      </p:sp>
      <p:sp>
        <p:nvSpPr>
          <p:cNvPr id="40" name="figlabel"/>
          <p:cNvSpPr txBox="1"/>
          <p:nvPr/>
        </p:nvSpPr>
        <p:spPr>
          <a:xfrm>
            <a:off x="8603589" y="1244389"/>
            <a:ext cx="267716" cy="208153"/>
          </a:xfrm>
          <a:prstGeom prst="rect">
            <a:avLst/>
          </a:prstGeom>
          <a:noFill/>
        </p:spPr>
        <p:txBody>
          <a:bodyPr wrap="none" lIns="0" tIns="0" rIns="0" bIns="0" anchor="ctr">
            <a:spAutoFit/>
          </a:bodyPr>
          <a:lstStyle/>
          <a:p>
            <a:pPr algn="l">
              <a:lnSpc>
                <a:spcPct val="120000"/>
              </a:lnSpc>
              <a:spcAft>
                <a:spcPts val="0"/>
              </a:spcAft>
            </a:pPr>
            <a:r>
              <a:rPr sz="1150" b="0">
                <a:solidFill>
                  <a:srgbClr val="7E8B96"/>
                </a:solidFill>
                <a:latin typeface="Meiryo"/>
                <a:ea typeface="Meiryo"/>
                <a:cs typeface="Meiryo"/>
              </a:rPr>
              <a:t>8個</a:t>
            </a:r>
          </a:p>
        </p:txBody>
      </p:sp>
      <p:sp>
        <p:nvSpPr>
          <p:cNvPr id="41" name="figlabel"/>
          <p:cNvSpPr txBox="1"/>
          <p:nvPr/>
        </p:nvSpPr>
        <p:spPr>
          <a:xfrm>
            <a:off x="1110081" y="1298539"/>
            <a:ext cx="1652270" cy="208153"/>
          </a:xfrm>
          <a:prstGeom prst="rect">
            <a:avLst/>
          </a:prstGeom>
          <a:noFill/>
        </p:spPr>
        <p:txBody>
          <a:bodyPr wrap="none" lIns="0" tIns="0" rIns="0" bIns="0" anchor="ctr">
            <a:spAutoFit/>
          </a:bodyPr>
          <a:lstStyle/>
          <a:p>
            <a:pPr algn="l">
              <a:lnSpc>
                <a:spcPct val="120000"/>
              </a:lnSpc>
              <a:spcAft>
                <a:spcPts val="0"/>
              </a:spcAft>
            </a:pPr>
            <a:r>
              <a:rPr sz="1150" b="0">
                <a:solidFill>
                  <a:srgbClr val="6E6E6E"/>
                </a:solidFill>
                <a:latin typeface="Meiryo"/>
                <a:ea typeface="Meiryo"/>
                <a:cs typeface="Meiryo"/>
              </a:rPr>
              <a:t>縦軸：資源量（千トン）</a:t>
            </a:r>
          </a:p>
        </p:txBody>
      </p:sp>
      <p:sp>
        <p:nvSpPr>
          <p:cNvPr id="42" name="figlabel"/>
          <p:cNvSpPr txBox="1"/>
          <p:nvPr/>
        </p:nvSpPr>
        <p:spPr>
          <a:xfrm>
            <a:off x="1130198" y="2331110"/>
            <a:ext cx="502920" cy="414528"/>
          </a:xfrm>
          <a:prstGeom prst="rect">
            <a:avLst/>
          </a:prstGeom>
          <a:noFill/>
        </p:spPr>
        <p:txBody>
          <a:bodyPr wrap="none" lIns="0" tIns="0" rIns="0" bIns="0" anchor="ctr">
            <a:spAutoFit/>
          </a:bodyPr>
          <a:lstStyle/>
          <a:p>
            <a:pPr algn="l">
              <a:lnSpc>
                <a:spcPct val="120000"/>
              </a:lnSpc>
              <a:spcAft>
                <a:spcPts val="0"/>
              </a:spcAft>
            </a:pPr>
            <a:r>
              <a:rPr sz="1200" b="0">
                <a:solidFill>
                  <a:srgbClr val="6E6E6E"/>
                </a:solidFill>
                <a:latin typeface="Meiryo"/>
                <a:ea typeface="Meiryo"/>
                <a:cs typeface="Meiryo"/>
              </a:rPr>
              <a:t>大蛇行</a:t>
            </a:r>
          </a:p>
          <a:p>
            <a:pPr algn="l">
              <a:lnSpc>
                <a:spcPct val="120000"/>
              </a:lnSpc>
              <a:spcAft>
                <a:spcPts val="0"/>
              </a:spcAft>
            </a:pPr>
            <a:r>
              <a:rPr sz="1200" b="0">
                <a:solidFill>
                  <a:srgbClr val="6E6E6E"/>
                </a:solidFill>
                <a:latin typeface="Meiryo"/>
                <a:ea typeface="Meiryo"/>
                <a:cs typeface="Meiryo"/>
              </a:rPr>
              <a:t>なし</a:t>
            </a:r>
          </a:p>
        </p:txBody>
      </p:sp>
      <p:sp>
        <p:nvSpPr>
          <p:cNvPr id="43" name="figlabel"/>
          <p:cNvSpPr txBox="1"/>
          <p:nvPr/>
        </p:nvSpPr>
        <p:spPr>
          <a:xfrm>
            <a:off x="1130198" y="4260799"/>
            <a:ext cx="502920" cy="216408"/>
          </a:xfrm>
          <a:prstGeom prst="rect">
            <a:avLst/>
          </a:prstGeom>
          <a:noFill/>
        </p:spPr>
        <p:txBody>
          <a:bodyPr wrap="none" lIns="0" tIns="0" rIns="0" bIns="0" anchor="ctr">
            <a:spAutoFit/>
          </a:bodyPr>
          <a:lstStyle/>
          <a:p>
            <a:pPr algn="l">
              <a:lnSpc>
                <a:spcPct val="120000"/>
              </a:lnSpc>
              <a:spcAft>
                <a:spcPts val="0"/>
              </a:spcAft>
            </a:pPr>
            <a:r>
              <a:rPr sz="1200" b="0">
                <a:solidFill>
                  <a:srgbClr val="C0561A"/>
                </a:solidFill>
                <a:latin typeface="Meiryo"/>
                <a:ea typeface="Meiryo"/>
                <a:cs typeface="Meiryo"/>
              </a:rPr>
              <a:t>大蛇行</a:t>
            </a:r>
          </a:p>
        </p:txBody>
      </p:sp>
      <p:sp>
        <p:nvSpPr>
          <p:cNvPr id="44" name="figlabel"/>
          <p:cNvSpPr txBox="1"/>
          <p:nvPr/>
        </p:nvSpPr>
        <p:spPr>
          <a:xfrm>
            <a:off x="3000375" y="5146956"/>
            <a:ext cx="6197346" cy="208153"/>
          </a:xfrm>
          <a:prstGeom prst="rect">
            <a:avLst/>
          </a:prstGeom>
          <a:noFill/>
        </p:spPr>
        <p:txBody>
          <a:bodyPr wrap="none" lIns="0" tIns="0" rIns="0" bIns="0" anchor="ctr">
            <a:spAutoFit/>
          </a:bodyPr>
          <a:lstStyle/>
          <a:p>
            <a:pPr algn="ctr">
              <a:lnSpc>
                <a:spcPct val="120000"/>
              </a:lnSpc>
              <a:spcAft>
                <a:spcPts val="0"/>
              </a:spcAft>
            </a:pPr>
            <a:r>
              <a:rPr sz="1150" b="0">
                <a:solidFill>
                  <a:srgbClr val="6E6E6E"/>
                </a:solidFill>
                <a:latin typeface="Meiryo"/>
                <a:ea typeface="Meiryo"/>
                <a:cs typeface="Meiryo"/>
              </a:rPr>
              <a:t>「ずれ」＝平均で割った誤差（小さいほど良い）。枠の中の数字は左から 12個・10個・8個。</a:t>
            </a:r>
          </a:p>
        </p:txBody>
      </p:sp>
      <p:sp>
        <p:nvSpPr>
          <p:cNvPr id="45" name="TextBox 44"/>
          <p:cNvSpPr txBox="1"/>
          <p:nvPr/>
        </p:nvSpPr>
        <p:spPr>
          <a:xfrm>
            <a:off x="566928" y="5440680"/>
            <a:ext cx="11057839" cy="274320"/>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全体の平均（大蛇行なし／大蛇行）：　12個 0.145／0.079　　10個 0.306／0.115　　8個 0.408／0.122</a:t>
            </a:r>
          </a:p>
        </p:txBody>
      </p:sp>
      <p:sp>
        <p:nvSpPr>
          <p:cNvPr id="46" name="Rectangle 45"/>
          <p:cNvSpPr/>
          <p:nvPr/>
        </p:nvSpPr>
        <p:spPr>
          <a:xfrm>
            <a:off x="566928" y="5779008"/>
            <a:ext cx="10326319" cy="512064"/>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TextBox 46"/>
          <p:cNvSpPr txBox="1"/>
          <p:nvPr/>
        </p:nvSpPr>
        <p:spPr>
          <a:xfrm>
            <a:off x="768096" y="5888736"/>
            <a:ext cx="9923983" cy="329184"/>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餌の魚をマイワシにしても、固定を増やすほど当てはまりが悪くなる順序は変わらない。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［マイワシ版・9枚目］借りられるのは「増える速さ」まで</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27</a:t>
            </a:r>
          </a:p>
        </p:txBody>
      </p:sp>
      <p:sp>
        <p:nvSpPr>
          <p:cNvPr id="4" name="TextBox 3"/>
          <p:cNvSpPr txBox="1"/>
          <p:nvPr/>
        </p:nvSpPr>
        <p:spPr>
          <a:xfrm>
            <a:off x="566928" y="1170432"/>
            <a:ext cx="11057839" cy="457200"/>
          </a:xfrm>
          <a:prstGeom prst="rect">
            <a:avLst/>
          </a:prstGeom>
          <a:noFill/>
        </p:spPr>
        <p:txBody>
          <a:bodyPr wrap="square" lIns="0" tIns="0" rIns="0" bIns="0" anchor="t">
            <a:spAutoFit/>
          </a:bodyPr>
          <a:lstStyle/>
          <a:p>
            <a:pPr algn="l">
              <a:lnSpc>
                <a:spcPct val="132000"/>
              </a:lnSpc>
              <a:spcAft>
                <a:spcPts val="600"/>
              </a:spcAft>
            </a:pPr>
            <a:r>
              <a:rPr sz="1700" b="0">
                <a:solidFill>
                  <a:srgbClr val="222222"/>
                </a:solidFill>
                <a:latin typeface="Meiryo"/>
                <a:ea typeface="Meiryo"/>
                <a:cs typeface="Meiryo"/>
              </a:rPr>
              <a:t>「和を固定すると、かけ算を保つために食べられる強さが歪む」ことは、もともとマイワシ版で見つけた現象。</a:t>
            </a:r>
          </a:p>
        </p:txBody>
      </p:sp>
      <p:sp>
        <p:nvSpPr>
          <p:cNvPr id="5" name="Rectangle 4"/>
          <p:cNvSpPr/>
          <p:nvPr/>
        </p:nvSpPr>
        <p:spPr>
          <a:xfrm>
            <a:off x="566928" y="1737360"/>
            <a:ext cx="5212080" cy="1755648"/>
          </a:xfrm>
          <a:prstGeom prst="rect">
            <a:avLst/>
          </a:prstGeom>
          <a:solidFill>
            <a:srgbClr val="F2F5F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86384" y="1874519"/>
            <a:ext cx="4773168" cy="310896"/>
          </a:xfrm>
          <a:prstGeom prst="rect">
            <a:avLst/>
          </a:prstGeom>
          <a:noFill/>
        </p:spPr>
        <p:txBody>
          <a:bodyPr wrap="square" lIns="0" tIns="0" rIns="0" bIns="0" anchor="t">
            <a:spAutoFit/>
          </a:bodyPr>
          <a:lstStyle/>
          <a:p>
            <a:pPr algn="l">
              <a:lnSpc>
                <a:spcPct val="132000"/>
              </a:lnSpc>
              <a:spcAft>
                <a:spcPts val="600"/>
              </a:spcAft>
            </a:pPr>
            <a:r>
              <a:rPr sz="1600" b="1">
                <a:solidFill>
                  <a:srgbClr val="1F4E79"/>
                </a:solidFill>
                <a:latin typeface="Meiryo"/>
                <a:ea typeface="Meiryo"/>
                <a:cs typeface="Meiryo"/>
              </a:rPr>
              <a:t>1種ずつの解析が与えるもの</a:t>
            </a:r>
          </a:p>
        </p:txBody>
      </p:sp>
      <mc:AlternateContent xmlns:mc="http://schemas.openxmlformats.org/markup-compatibility/2006">
        <mc:Choice xmlns:a14="http://schemas.microsoft.com/office/drawing/2010/main" Requires="a14">
          <p:sp>
            <p:nvSpPr>
              <p:cNvPr id="7" name="TextBox 6"/>
              <p:cNvSpPr txBox="1"/>
              <p:nvPr/>
            </p:nvSpPr>
            <p:spPr>
              <a:xfrm>
                <a:off x="786384" y="2249424"/>
                <a:ext cx="4773168" cy="47548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800" b="0" i="1" dirty="0">
                              <a:solidFill>
                                <a:srgbClr val="1F4E79"/>
                              </a:solidFill>
                              <a:latin typeface="Cambria Math" panose="02040503050406030204" pitchFamily="18" charset="0"/>
                            </a:rPr>
                          </m:ctrlPr>
                        </m:sSubPr>
                        <m:e>
                          <m:r>
                            <a:rPr lang="en-US" sz="1800" b="0" i="1" dirty="0">
                              <a:solidFill>
                                <a:srgbClr val="1F4E79"/>
                              </a:solidFill>
                              <a:latin typeface="Cambria Math" panose="02040503050406030204" pitchFamily="18" charset="0"/>
                            </a:rPr>
                            <m:t>𝑐</m:t>
                          </m:r>
                        </m:e>
                        <m:sub>
                          <m:r>
                            <a:rPr lang="en-US" sz="1800" b="0" i="0" dirty="0">
                              <a:solidFill>
                                <a:srgbClr val="1F4E79"/>
                              </a:solidFill>
                              <a:latin typeface="Cambria Math" panose="02040503050406030204" pitchFamily="18" charset="0"/>
                            </a:rPr>
                            <m:t>1</m:t>
                          </m:r>
                        </m:sub>
                      </m:sSub>
                      <m:r>
                        <a:rPr lang="en-US" sz="1800" b="0" i="0" dirty="0">
                          <a:solidFill>
                            <a:srgbClr val="1F4E79"/>
                          </a:solidFill>
                          <a:latin typeface="Cambria Math" panose="02040503050406030204" pitchFamily="18" charset="0"/>
                        </a:rPr>
                        <m:t> + </m:t>
                      </m:r>
                      <m:sSub>
                        <m:sSubPr>
                          <m:ctrlPr>
                            <a:rPr lang="en-US" sz="1800" b="0" i="1" dirty="0">
                              <a:solidFill>
                                <a:srgbClr val="1F4E79"/>
                              </a:solidFill>
                              <a:latin typeface="Cambria Math" panose="02040503050406030204" pitchFamily="18" charset="0"/>
                            </a:rPr>
                          </m:ctrlPr>
                        </m:sSubPr>
                        <m:e>
                          <m:r>
                            <a:rPr lang="en-US" sz="1800" b="0" i="1" dirty="0">
                              <a:solidFill>
                                <a:srgbClr val="1F4E79"/>
                              </a:solidFill>
                              <a:latin typeface="Cambria Math" panose="02040503050406030204" pitchFamily="18" charset="0"/>
                            </a:rPr>
                            <m:t>𝑑</m:t>
                          </m:r>
                        </m:e>
                        <m:sub>
                          <m:r>
                            <a:rPr lang="en-US" sz="1800" b="0" i="0" dirty="0">
                              <a:solidFill>
                                <a:srgbClr val="1F4E79"/>
                              </a:solidFill>
                              <a:latin typeface="Cambria Math" panose="02040503050406030204" pitchFamily="18" charset="0"/>
                            </a:rPr>
                            <m:t>1</m:t>
                          </m:r>
                        </m:sub>
                      </m:sSub>
                    </m:oMath>
                  </m:oMathPara>
                </a14:m>
                <a:endParaRPr lang="en-US" sz="1800" dirty="0"/>
              </a:p>
            </p:txBody>
          </p:sp>
        </mc:Choice>
        <mc:Fallback>
          <p:sp>
            <p:nvSpPr>
              <p:cNvPr id="7" name="TextBox 6"/>
              <p:cNvSpPr txBox="1">
                <a:spLocks noRot="1" noChangeAspect="1" noMove="1" noResize="1" noEditPoints="1" noAdjustHandles="1" noChangeArrowheads="1" noChangeShapeType="1" noTextEdit="1"/>
              </p:cNvSpPr>
              <p:nvPr/>
            </p:nvSpPr>
            <p:spPr>
              <a:xfrm>
                <a:off x="786384" y="2249424"/>
                <a:ext cx="4773168" cy="475488"/>
              </a:xfrm>
              <a:prstGeom prst="rect">
                <a:avLst/>
              </a:prstGeom>
              <a:blipFill>
                <a:blip r:embed="rId2"/>
                <a:stretch>
                  <a:fillRect l="-1061" t="-5263"/>
                </a:stretch>
              </a:blipFill>
            </p:spPr>
            <p:txBody>
              <a:bodyPr/>
              <a:lstStyle/>
              <a:p>
                <a:r>
                  <a:rPr lang="ja-JP" altLang="en-US">
                    <a:noFill/>
                  </a:rPr>
                  <a:t> </a:t>
                </a:r>
              </a:p>
            </p:txBody>
          </p:sp>
        </mc:Fallback>
      </mc:AlternateContent>
      <p:sp>
        <p:nvSpPr>
          <p:cNvPr id="8" name="TextBox 7"/>
          <p:cNvSpPr txBox="1"/>
          <p:nvPr/>
        </p:nvSpPr>
        <p:spPr>
          <a:xfrm>
            <a:off x="786384" y="2798064"/>
            <a:ext cx="4773168" cy="640080"/>
          </a:xfrm>
          <a:prstGeom prst="rect">
            <a:avLst/>
          </a:prstGeom>
          <a:noFill/>
        </p:spPr>
        <p:txBody>
          <a:bodyPr wrap="square" lIns="0" tIns="0" rIns="0" bIns="0" anchor="t">
            <a:spAutoFit/>
          </a:bodyPr>
          <a:lstStyle/>
          <a:p>
            <a:pPr algn="l">
              <a:lnSpc>
                <a:spcPct val="132000"/>
              </a:lnSpc>
              <a:spcAft>
                <a:spcPts val="600"/>
              </a:spcAft>
            </a:pPr>
            <a:r>
              <a:rPr sz="1450" b="0">
                <a:solidFill>
                  <a:srgbClr val="222222"/>
                </a:solidFill>
                <a:latin typeface="Meiryo"/>
                <a:ea typeface="Meiryo"/>
                <a:cs typeface="Meiryo"/>
              </a:rPr>
              <a:t>食べた分が体になる割合の和。ブリなら、2つの餌からの分をまとめた1つの数しか出てこない。</a:t>
            </a:r>
          </a:p>
        </p:txBody>
      </p:sp>
      <p:sp>
        <p:nvSpPr>
          <p:cNvPr id="9" name="Rectangle 8"/>
          <p:cNvSpPr/>
          <p:nvPr/>
        </p:nvSpPr>
        <p:spPr>
          <a:xfrm>
            <a:off x="6391656" y="1737360"/>
            <a:ext cx="5230368" cy="175564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611112" y="1874519"/>
            <a:ext cx="4791456" cy="310896"/>
          </a:xfrm>
          <a:prstGeom prst="rect">
            <a:avLst/>
          </a:prstGeom>
          <a:noFill/>
        </p:spPr>
        <p:txBody>
          <a:bodyPr wrap="square" lIns="0" tIns="0" rIns="0" bIns="0" anchor="t">
            <a:spAutoFit/>
          </a:bodyPr>
          <a:lstStyle/>
          <a:p>
            <a:pPr algn="l">
              <a:lnSpc>
                <a:spcPct val="132000"/>
              </a:lnSpc>
              <a:spcAft>
                <a:spcPts val="600"/>
              </a:spcAft>
            </a:pPr>
            <a:r>
              <a:rPr sz="1600" b="1">
                <a:solidFill>
                  <a:srgbClr val="C0561A"/>
                </a:solidFill>
                <a:latin typeface="Meiryo"/>
                <a:ea typeface="Meiryo"/>
                <a:cs typeface="Meiryo"/>
              </a:rPr>
              <a:t>資源量のデータが決めているもの</a:t>
            </a:r>
          </a:p>
        </p:txBody>
      </p:sp>
      <mc:AlternateContent xmlns:mc="http://schemas.openxmlformats.org/markup-compatibility/2006">
        <mc:Choice xmlns:a14="http://schemas.microsoft.com/office/drawing/2010/main" Requires="a14">
          <p:sp>
            <p:nvSpPr>
              <p:cNvPr id="11" name="TextBox 10"/>
              <p:cNvSpPr txBox="1"/>
              <p:nvPr/>
            </p:nvSpPr>
            <p:spPr>
              <a:xfrm>
                <a:off x="6611112" y="2249424"/>
                <a:ext cx="4791456" cy="475488"/>
              </a:xfrm>
              <a:prstGeom prst="rect">
                <a:avLst/>
              </a:prstGeom>
              <a:noFill/>
            </p:spPr>
            <p:txBody>
              <a:bodyPr wrap="square" lIns="0" tIns="0" rIns="0" bIns="0">
                <a:spAutoFit/>
              </a:bodyPr>
              <a:lstStyle/>
              <a:p>
                <a:pPr marL="0" indent="0">
                  <a:spcAft>
                    <a:spcPts val="700"/>
                  </a:spcAft>
                </a:pPr>
                <a14:m>
                  <m:oMathPara xmlns:m="http://schemas.openxmlformats.org/officeDocument/2006/math">
                    <m:oMathParaPr>
                      <m:jc m:val="left"/>
                    </m:oMathParaPr>
                    <m:oMath xmlns:m="http://schemas.openxmlformats.org/officeDocument/2006/math">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𝑐</m:t>
                          </m:r>
                        </m:e>
                        <m:sub>
                          <m:r>
                            <a:rPr lang="en-US" sz="1800" b="0" i="0" dirty="0">
                              <a:solidFill>
                                <a:srgbClr val="C0561A"/>
                              </a:solidFill>
                              <a:latin typeface="Cambria Math" panose="02040503050406030204" pitchFamily="18" charset="0"/>
                            </a:rPr>
                            <m:t>1</m:t>
                          </m:r>
                        </m:sub>
                      </m:sSub>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𝜆</m:t>
                          </m:r>
                        </m:e>
                        <m:sub>
                          <m:r>
                            <a:rPr lang="en-US" sz="1800" b="0" i="0" dirty="0">
                              <a:solidFill>
                                <a:srgbClr val="C0561A"/>
                              </a:solidFill>
                              <a:latin typeface="Cambria Math" panose="02040503050406030204" pitchFamily="18" charset="0"/>
                            </a:rPr>
                            <m:t>11</m:t>
                          </m:r>
                        </m:sub>
                      </m:sSub>
                      <m:r>
                        <a:rPr lang="en-US" sz="1800" b="0" i="0" dirty="0">
                          <a:solidFill>
                            <a:srgbClr val="C0561A"/>
                          </a:solidFill>
                          <a:latin typeface="Cambria Math" panose="02040503050406030204" pitchFamily="18" charset="0"/>
                        </a:rPr>
                        <m:t>，</m:t>
                      </m:r>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𝑑</m:t>
                          </m:r>
                        </m:e>
                        <m:sub>
                          <m:r>
                            <a:rPr lang="en-US" sz="1800" b="0" i="0" dirty="0">
                              <a:solidFill>
                                <a:srgbClr val="C0561A"/>
                              </a:solidFill>
                              <a:latin typeface="Cambria Math" panose="02040503050406030204" pitchFamily="18" charset="0"/>
                            </a:rPr>
                            <m:t>1</m:t>
                          </m:r>
                        </m:sub>
                      </m:sSub>
                      <m:sSub>
                        <m:sSubPr>
                          <m:ctrlPr>
                            <a:rPr lang="en-US" sz="1800" b="0" i="1" dirty="0">
                              <a:solidFill>
                                <a:srgbClr val="C0561A"/>
                              </a:solidFill>
                              <a:latin typeface="Cambria Math" panose="02040503050406030204" pitchFamily="18" charset="0"/>
                            </a:rPr>
                          </m:ctrlPr>
                        </m:sSubPr>
                        <m:e>
                          <m:r>
                            <a:rPr lang="en-US" sz="1800" b="0" i="1" dirty="0">
                              <a:solidFill>
                                <a:srgbClr val="C0561A"/>
                              </a:solidFill>
                              <a:latin typeface="Cambria Math" panose="02040503050406030204" pitchFamily="18" charset="0"/>
                            </a:rPr>
                            <m:t>𝜆</m:t>
                          </m:r>
                        </m:e>
                        <m:sub>
                          <m:r>
                            <a:rPr lang="en-US" sz="1800" b="0" i="0" dirty="0">
                              <a:solidFill>
                                <a:srgbClr val="C0561A"/>
                              </a:solidFill>
                              <a:latin typeface="Cambria Math" panose="02040503050406030204" pitchFamily="18" charset="0"/>
                            </a:rPr>
                            <m:t>21</m:t>
                          </m:r>
                        </m:sub>
                      </m:sSub>
                    </m:oMath>
                  </m:oMathPara>
                </a14:m>
                <a:endParaRPr lang="en-US" sz="1800" dirty="0"/>
              </a:p>
            </p:txBody>
          </p:sp>
        </mc:Choice>
        <mc:Fallback>
          <p:sp>
            <p:nvSpPr>
              <p:cNvPr id="11" name="TextBox 10"/>
              <p:cNvSpPr txBox="1">
                <a:spLocks noRot="1" noChangeAspect="1" noMove="1" noResize="1" noEditPoints="1" noAdjustHandles="1" noChangeArrowheads="1" noChangeShapeType="1" noTextEdit="1"/>
              </p:cNvSpPr>
              <p:nvPr/>
            </p:nvSpPr>
            <p:spPr>
              <a:xfrm>
                <a:off x="6611112" y="2249424"/>
                <a:ext cx="4791456" cy="475488"/>
              </a:xfrm>
              <a:prstGeom prst="rect">
                <a:avLst/>
              </a:prstGeom>
              <a:blipFill>
                <a:blip r:embed="rId3"/>
                <a:stretch>
                  <a:fillRect l="-1055"/>
                </a:stretch>
              </a:blipFill>
            </p:spPr>
            <p:txBody>
              <a:bodyPr/>
              <a:lstStyle/>
              <a:p>
                <a:r>
                  <a:rPr lang="ja-JP" altLang="en-US">
                    <a:noFill/>
                  </a:rPr>
                  <a:t> </a:t>
                </a:r>
              </a:p>
            </p:txBody>
          </p:sp>
        </mc:Fallback>
      </mc:AlternateContent>
      <p:sp>
        <p:nvSpPr>
          <p:cNvPr id="12" name="TextBox 11"/>
          <p:cNvSpPr txBox="1"/>
          <p:nvPr/>
        </p:nvSpPr>
        <p:spPr>
          <a:xfrm>
            <a:off x="6611112" y="2798064"/>
            <a:ext cx="4791456" cy="640080"/>
          </a:xfrm>
          <a:prstGeom prst="rect">
            <a:avLst/>
          </a:prstGeom>
          <a:noFill/>
        </p:spPr>
        <p:txBody>
          <a:bodyPr wrap="square" lIns="0" tIns="0" rIns="0" bIns="0" anchor="t">
            <a:spAutoFit/>
          </a:bodyPr>
          <a:lstStyle/>
          <a:p>
            <a:pPr algn="l">
              <a:lnSpc>
                <a:spcPct val="132000"/>
              </a:lnSpc>
              <a:spcAft>
                <a:spcPts val="600"/>
              </a:spcAft>
            </a:pPr>
            <a:r>
              <a:rPr sz="1450" b="0">
                <a:solidFill>
                  <a:srgbClr val="222222"/>
                </a:solidFill>
                <a:latin typeface="Meiryo"/>
                <a:ea typeface="Meiryo"/>
                <a:cs typeface="Meiryo"/>
              </a:rPr>
              <a:t>その割合と「食べられる強さ」のかけ算。経路ごとに別々の値で、和とは対応しない。</a:t>
            </a:r>
          </a:p>
        </p:txBody>
      </p:sp>
      <p:cxnSp>
        <p:nvCxnSpPr>
          <p:cNvPr id="13" name="Connector 12"/>
          <p:cNvCxnSpPr/>
          <p:nvPr/>
        </p:nvCxnSpPr>
        <p:spPr>
          <a:xfrm>
            <a:off x="5815584" y="2615184"/>
            <a:ext cx="539496" cy="0"/>
          </a:xfrm>
          <a:prstGeom prst="line">
            <a:avLst/>
          </a:prstGeom>
          <a:ln w="2540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66928" y="3675887"/>
            <a:ext cx="11057839" cy="1133856"/>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86384" y="3822191"/>
            <a:ext cx="10618927" cy="914400"/>
          </a:xfrm>
          <a:prstGeom prst="rect">
            <a:avLst/>
          </a:prstGeom>
          <a:noFill/>
        </p:spPr>
        <p:txBody>
          <a:bodyPr wrap="square" lIns="0" tIns="0" rIns="0" bIns="0" anchor="t">
            <a:spAutoFit/>
          </a:bodyPr>
          <a:lstStyle/>
          <a:p>
            <a:pPr algn="l">
              <a:lnSpc>
                <a:spcPct val="132000"/>
              </a:lnSpc>
              <a:spcAft>
                <a:spcPts val="700"/>
              </a:spcAft>
            </a:pPr>
            <a:r>
              <a:rPr sz="1550" b="0">
                <a:solidFill>
                  <a:srgbClr val="222222"/>
                </a:solidFill>
                <a:latin typeface="Meiryo"/>
                <a:ea typeface="Meiryo"/>
                <a:cs typeface="Meiryo"/>
              </a:rPr>
              <a:t>マイワシ版で和を固定すると、ウルメ→ブリ の λ が 0.224 → 0.945 まで大きくなる（大蛇行なし、12個の自由推定 → 8個の固定）。</a:t>
            </a:r>
          </a:p>
          <a:p>
            <a:pPr algn="l">
              <a:lnSpc>
                <a:spcPct val="132000"/>
              </a:lnSpc>
              <a:spcAft>
                <a:spcPts val="700"/>
              </a:spcAft>
            </a:pPr>
            <a:r>
              <a:rPr sz="1550" b="0">
                <a:solidFill>
                  <a:srgbClr val="222222"/>
                </a:solidFill>
                <a:latin typeface="Meiryo"/>
                <a:ea typeface="Meiryo"/>
                <a:cs typeface="Meiryo"/>
              </a:rPr>
              <a:t>マアジ版でも同じことが起きる（0.070 → 0.869）。歪む量は種構成で変わるが、向きは同じ。</a:t>
            </a:r>
          </a:p>
        </p:txBody>
      </p:sp>
      <p:sp>
        <p:nvSpPr>
          <p:cNvPr id="16" name="Rectangle 15"/>
          <p:cNvSpPr/>
          <p:nvPr/>
        </p:nvSpPr>
        <p:spPr>
          <a:xfrm>
            <a:off x="566928" y="4956048"/>
            <a:ext cx="11057839" cy="56692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68096" y="5084064"/>
            <a:ext cx="10655503" cy="365760"/>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借りられるのは「増える速さ」まで、という結論は種構成に左右されない。</a:t>
            </a:r>
          </a:p>
        </p:txBody>
      </p:sp>
      <p:sp>
        <p:nvSpPr>
          <p:cNvPr id="18" name="TextBox 17"/>
          <p:cNvSpPr txBox="1"/>
          <p:nvPr/>
        </p:nvSpPr>
        <p:spPr>
          <a:xfrm>
            <a:off x="566928" y="5715000"/>
            <a:ext cx="10326319" cy="566928"/>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λ は平均を1にそろえた空間での値（9枚目と同じ定義）。9枚目に載せた 0.224 という値は、もともとこのマイワシ版で測ったもの。</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［マイワシ版・10枚目］同じ記号 r でも、中身が違う</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28</a:t>
            </a:r>
          </a:p>
        </p:txBody>
      </p:sp>
      <p:pic>
        <p:nvPicPr>
          <p:cNvPr id="4" name="Picture 3" descr="07m_増える速さと漁獲率_マイワシ.png"/>
          <p:cNvPicPr>
            <a:picLocks noChangeAspect="1"/>
          </p:cNvPicPr>
          <p:nvPr/>
        </p:nvPicPr>
        <p:blipFill>
          <a:blip r:embed="rId2"/>
          <a:stretch>
            <a:fillRect/>
          </a:stretch>
        </p:blipFill>
        <p:spPr>
          <a:xfrm>
            <a:off x="566928" y="1325880"/>
            <a:ext cx="6172200" cy="2880360"/>
          </a:xfrm>
          <a:prstGeom prst="rect">
            <a:avLst/>
          </a:prstGeom>
        </p:spPr>
      </p:pic>
      <p:sp>
        <p:nvSpPr>
          <p:cNvPr id="5" name="figlabel"/>
          <p:cNvSpPr txBox="1"/>
          <p:nvPr/>
        </p:nvSpPr>
        <p:spPr>
          <a:xfrm>
            <a:off x="3604884" y="1509453"/>
            <a:ext cx="2515362" cy="191642"/>
          </a:xfrm>
          <a:prstGeom prst="rect">
            <a:avLst/>
          </a:prstGeom>
          <a:noFill/>
        </p:spPr>
        <p:txBody>
          <a:bodyPr wrap="none" lIns="0" tIns="0" rIns="0" bIns="0" anchor="ctr">
            <a:spAutoFit/>
          </a:bodyPr>
          <a:lstStyle/>
          <a:p>
            <a:pPr algn="l">
              <a:lnSpc>
                <a:spcPct val="120000"/>
              </a:lnSpc>
              <a:spcAft>
                <a:spcPts val="0"/>
              </a:spcAft>
            </a:pPr>
            <a:r>
              <a:rPr sz="1050" b="0">
                <a:solidFill>
                  <a:srgbClr val="222222"/>
                </a:solidFill>
                <a:latin typeface="Meiryo"/>
                <a:ea typeface="Meiryo"/>
                <a:cs typeface="Meiryo"/>
              </a:rPr>
              <a:t>1種ずつの解析から借りた「増える速さ」</a:t>
            </a:r>
          </a:p>
        </p:txBody>
      </p:sp>
      <p:sp>
        <p:nvSpPr>
          <p:cNvPr id="6" name="figlabel"/>
          <p:cNvSpPr txBox="1"/>
          <p:nvPr/>
        </p:nvSpPr>
        <p:spPr>
          <a:xfrm>
            <a:off x="3604884" y="1739882"/>
            <a:ext cx="2467356" cy="191642"/>
          </a:xfrm>
          <a:prstGeom prst="rect">
            <a:avLst/>
          </a:prstGeom>
          <a:noFill/>
        </p:spPr>
        <p:txBody>
          <a:bodyPr wrap="none" lIns="0" tIns="0" rIns="0" bIns="0" anchor="ctr">
            <a:spAutoFit/>
          </a:bodyPr>
          <a:lstStyle/>
          <a:p>
            <a:pPr algn="l">
              <a:lnSpc>
                <a:spcPct val="120000"/>
              </a:lnSpc>
              <a:spcAft>
                <a:spcPts val="0"/>
              </a:spcAft>
            </a:pPr>
            <a:r>
              <a:rPr sz="1050" b="0">
                <a:solidFill>
                  <a:srgbClr val="222222"/>
                </a:solidFill>
                <a:latin typeface="Meiryo"/>
                <a:ea typeface="Meiryo"/>
                <a:cs typeface="Meiryo"/>
              </a:rPr>
              <a:t>実際にとっている割合（1994〜2024年）</a:t>
            </a:r>
          </a:p>
        </p:txBody>
      </p:sp>
      <p:sp>
        <p:nvSpPr>
          <p:cNvPr id="7" name="figlabel"/>
          <p:cNvSpPr txBox="1"/>
          <p:nvPr/>
        </p:nvSpPr>
        <p:spPr>
          <a:xfrm>
            <a:off x="2232533" y="3886520"/>
            <a:ext cx="68072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マイワシ</a:t>
            </a:r>
          </a:p>
        </p:txBody>
      </p:sp>
      <p:sp>
        <p:nvSpPr>
          <p:cNvPr id="8" name="figlabel"/>
          <p:cNvSpPr txBox="1"/>
          <p:nvPr/>
        </p:nvSpPr>
        <p:spPr>
          <a:xfrm>
            <a:off x="4789551" y="3886520"/>
            <a:ext cx="998220" cy="224663"/>
          </a:xfrm>
          <a:prstGeom prst="rect">
            <a:avLst/>
          </a:prstGeom>
          <a:noFill/>
        </p:spPr>
        <p:txBody>
          <a:bodyPr wrap="none" lIns="0" tIns="0" rIns="0" bIns="0" anchor="ctr">
            <a:spAutoFit/>
          </a:bodyPr>
          <a:lstStyle/>
          <a:p>
            <a:pPr algn="ctr">
              <a:lnSpc>
                <a:spcPct val="120000"/>
              </a:lnSpc>
              <a:spcAft>
                <a:spcPts val="0"/>
              </a:spcAft>
            </a:pPr>
            <a:r>
              <a:rPr sz="1250" b="0">
                <a:solidFill>
                  <a:srgbClr val="222222"/>
                </a:solidFill>
                <a:latin typeface="Meiryo"/>
                <a:ea typeface="Meiryo"/>
                <a:cs typeface="Meiryo"/>
              </a:rPr>
              <a:t>ウルメイワシ</a:t>
            </a:r>
          </a:p>
        </p:txBody>
      </p:sp>
      <p:sp>
        <p:nvSpPr>
          <p:cNvPr id="9" name="figlabel"/>
          <p:cNvSpPr txBox="1"/>
          <p:nvPr/>
        </p:nvSpPr>
        <p:spPr>
          <a:xfrm>
            <a:off x="1711833" y="1658371"/>
            <a:ext cx="1722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1F4E79"/>
                </a:solidFill>
                <a:latin typeface="Meiryo"/>
                <a:ea typeface="Meiryo"/>
                <a:cs typeface="Meiryo"/>
              </a:rPr>
              <a:t>マイワシでは逆転しない</a:t>
            </a:r>
          </a:p>
        </p:txBody>
      </p:sp>
      <p:sp>
        <p:nvSpPr>
          <p:cNvPr id="10" name="figlabel"/>
          <p:cNvSpPr txBox="1"/>
          <p:nvPr/>
        </p:nvSpPr>
        <p:spPr>
          <a:xfrm>
            <a:off x="640994" y="1369085"/>
            <a:ext cx="1582165" cy="208153"/>
          </a:xfrm>
          <a:prstGeom prst="rect">
            <a:avLst/>
          </a:prstGeom>
          <a:noFill/>
        </p:spPr>
        <p:txBody>
          <a:bodyPr wrap="none" lIns="0" tIns="0" rIns="0" bIns="0" anchor="ctr">
            <a:spAutoFit/>
          </a:bodyPr>
          <a:lstStyle/>
          <a:p>
            <a:pPr algn="l">
              <a:lnSpc>
                <a:spcPct val="120000"/>
              </a:lnSpc>
              <a:spcAft>
                <a:spcPts val="0"/>
              </a:spcAft>
            </a:pPr>
            <a:r>
              <a:rPr sz="1150" b="0">
                <a:solidFill>
                  <a:srgbClr val="6E6E6E"/>
                </a:solidFill>
                <a:latin typeface="Meiryo"/>
                <a:ea typeface="Meiryo"/>
                <a:cs typeface="Meiryo"/>
              </a:rPr>
              <a:t>縦軸：1年あたりの割合</a:t>
            </a:r>
          </a:p>
        </p:txBody>
      </p:sp>
      <p:sp>
        <p:nvSpPr>
          <p:cNvPr id="11" name="TextBox 10"/>
          <p:cNvSpPr txBox="1"/>
          <p:nvPr/>
        </p:nvSpPr>
        <p:spPr>
          <a:xfrm>
            <a:off x="7059168" y="1298448"/>
            <a:ext cx="4553712" cy="3840480"/>
          </a:xfrm>
          <a:prstGeom prst="rect">
            <a:avLst/>
          </a:prstGeom>
          <a:noFill/>
        </p:spPr>
        <p:txBody>
          <a:bodyPr wrap="square" lIns="0" tIns="0" rIns="0" bIns="0" anchor="t">
            <a:spAutoFit/>
          </a:bodyPr>
          <a:lstStyle/>
          <a:p>
            <a:pPr algn="l">
              <a:lnSpc>
                <a:spcPct val="132000"/>
              </a:lnSpc>
              <a:spcAft>
                <a:spcPts val="900"/>
              </a:spcAft>
            </a:pPr>
            <a:r>
              <a:rPr sz="1700" b="1">
                <a:solidFill>
                  <a:srgbClr val="1F4E79"/>
                </a:solidFill>
                <a:latin typeface="Meiryo"/>
                <a:ea typeface="Meiryo"/>
                <a:cs typeface="Meiryo"/>
              </a:rPr>
              <a:t>マイワシでは逆転しない</a:t>
            </a:r>
          </a:p>
          <a:p>
            <a:pPr algn="l">
              <a:lnSpc>
                <a:spcPct val="132000"/>
              </a:lnSpc>
              <a:spcAft>
                <a:spcPts val="900"/>
              </a:spcAft>
            </a:pPr>
            <a:r>
              <a:rPr sz="1550" b="0">
                <a:solidFill>
                  <a:srgbClr val="222222"/>
                </a:solidFill>
                <a:latin typeface="Meiryo"/>
                <a:ea typeface="Meiryo"/>
                <a:cs typeface="Meiryo"/>
              </a:rPr>
              <a:t>借りた r 0.940 は、実際にとっている割合 0.300 より大きい。マアジで起きた「食べられる前から毎年減る」という崩れ方はしない。</a:t>
            </a:r>
          </a:p>
          <a:p>
            <a:pPr algn="l">
              <a:lnSpc>
                <a:spcPct val="132000"/>
              </a:lnSpc>
              <a:spcAft>
                <a:spcPts val="900"/>
              </a:spcAft>
            </a:pPr>
            <a:r>
              <a:rPr sz="1700" b="1">
                <a:solidFill>
                  <a:srgbClr val="C0561A"/>
                </a:solidFill>
                <a:latin typeface="Meiryo"/>
                <a:ea typeface="Meiryo"/>
                <a:cs typeface="Meiryo"/>
              </a:rPr>
              <a:t>それでも、借りた値は合っていない</a:t>
            </a:r>
          </a:p>
          <a:p>
            <a:pPr algn="l">
              <a:lnSpc>
                <a:spcPct val="132000"/>
              </a:lnSpc>
              <a:spcAft>
                <a:spcPts val="900"/>
              </a:spcAft>
            </a:pPr>
            <a:r>
              <a:rPr sz="1550" b="0">
                <a:solidFill>
                  <a:srgbClr val="222222"/>
                </a:solidFill>
                <a:latin typeface="Meiryo"/>
                <a:ea typeface="Meiryo"/>
                <a:cs typeface="Meiryo"/>
              </a:rPr>
              <a:t>多種の式が自分で選ぶ増える速さは 0.624（大蛇行なし）・3.00（大蛇行）で、借りた 0.940 とは時期ごとに食い違う。</a:t>
            </a:r>
          </a:p>
          <a:p>
            <a:pPr algn="l">
              <a:lnSpc>
                <a:spcPct val="132000"/>
              </a:lnSpc>
              <a:spcAft>
                <a:spcPts val="900"/>
              </a:spcAft>
            </a:pPr>
            <a:r>
              <a:rPr sz="1550" b="0">
                <a:solidFill>
                  <a:srgbClr val="222222"/>
                </a:solidFill>
                <a:latin typeface="Meiryo"/>
                <a:ea typeface="Meiryo"/>
                <a:cs typeface="Meiryo"/>
              </a:rPr>
              <a:t>しかもその 0.940 は、1種ずつの解析が通常の条件では解けず、資源が高水準という例外の設定でしか出てこない値。</a:t>
            </a:r>
          </a:p>
        </p:txBody>
      </p:sp>
      <p:sp>
        <p:nvSpPr>
          <p:cNvPr id="12" name="Rectangle 11"/>
          <p:cNvSpPr/>
          <p:nvPr/>
        </p:nvSpPr>
        <p:spPr>
          <a:xfrm>
            <a:off x="566928" y="5257800"/>
            <a:ext cx="11057839" cy="56692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68096" y="5385816"/>
            <a:ext cx="10655503" cy="365760"/>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崩れ方は種で違うが、原因は同じ。1種ずつの解析の r は、そのままでは多種の式に入らない。</a:t>
            </a:r>
          </a:p>
        </p:txBody>
      </p:sp>
      <p:sp>
        <p:nvSpPr>
          <p:cNvPr id="14" name="TextBox 13"/>
          <p:cNvSpPr txBox="1"/>
          <p:nvPr/>
        </p:nvSpPr>
        <p:spPr>
          <a:xfrm>
            <a:off x="566928" y="5989320"/>
            <a:ext cx="10326319" cy="566928"/>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マアジは 借りた 0.228 ＜ とっている割合 0.431 で逆転が起きた（10枚目）。マイワシは逆転しない代わりに、借りる値そのものが例外の設定に頼っている。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［マイワシ版・13枚目］制約つきの最適でも、端に張り付く</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29</a:t>
            </a:r>
          </a:p>
        </p:txBody>
      </p:sp>
      <p:pic>
        <p:nvPicPr>
          <p:cNvPr id="4" name="Picture 3" descr="09m_端に張り付く_マイワシ.png"/>
          <p:cNvPicPr>
            <a:picLocks noChangeAspect="1"/>
          </p:cNvPicPr>
          <p:nvPr/>
        </p:nvPicPr>
        <p:blipFill>
          <a:blip r:embed="rId2"/>
          <a:stretch>
            <a:fillRect/>
          </a:stretch>
        </p:blipFill>
        <p:spPr>
          <a:xfrm>
            <a:off x="566928" y="1325880"/>
            <a:ext cx="6309360" cy="3017520"/>
          </a:xfrm>
          <a:prstGeom prst="rect">
            <a:avLst/>
          </a:prstGeom>
        </p:spPr>
      </p:pic>
      <p:sp>
        <p:nvSpPr>
          <p:cNvPr id="5" name="figlabel"/>
          <p:cNvSpPr txBox="1"/>
          <p:nvPr/>
        </p:nvSpPr>
        <p:spPr>
          <a:xfrm>
            <a:off x="1755926" y="1494490"/>
            <a:ext cx="744220"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大蛇行なし</a:t>
            </a:r>
          </a:p>
        </p:txBody>
      </p:sp>
      <p:sp>
        <p:nvSpPr>
          <p:cNvPr id="6" name="figlabel"/>
          <p:cNvSpPr txBox="1"/>
          <p:nvPr/>
        </p:nvSpPr>
        <p:spPr>
          <a:xfrm>
            <a:off x="1755926" y="1716579"/>
            <a:ext cx="464820" cy="199898"/>
          </a:xfrm>
          <a:prstGeom prst="rect">
            <a:avLst/>
          </a:prstGeom>
          <a:noFill/>
        </p:spPr>
        <p:txBody>
          <a:bodyPr wrap="none" lIns="0" tIns="0" rIns="0" bIns="0" anchor="ctr">
            <a:spAutoFit/>
          </a:bodyPr>
          <a:lstStyle/>
          <a:p>
            <a:pPr algn="l">
              <a:lnSpc>
                <a:spcPct val="120000"/>
              </a:lnSpc>
              <a:spcAft>
                <a:spcPts val="0"/>
              </a:spcAft>
            </a:pPr>
            <a:r>
              <a:rPr sz="1100" b="0">
                <a:solidFill>
                  <a:srgbClr val="222222"/>
                </a:solidFill>
                <a:latin typeface="Meiryo"/>
                <a:ea typeface="Meiryo"/>
                <a:cs typeface="Meiryo"/>
              </a:rPr>
              <a:t>大蛇行</a:t>
            </a:r>
          </a:p>
        </p:txBody>
      </p:sp>
      <p:sp>
        <p:nvSpPr>
          <p:cNvPr id="7" name="figlabel"/>
          <p:cNvSpPr txBox="1"/>
          <p:nvPr/>
        </p:nvSpPr>
        <p:spPr>
          <a:xfrm>
            <a:off x="2955972" y="1936255"/>
            <a:ext cx="688340" cy="199898"/>
          </a:xfrm>
          <a:prstGeom prst="rect">
            <a:avLst/>
          </a:prstGeom>
          <a:noFill/>
        </p:spPr>
        <p:txBody>
          <a:bodyPr wrap="none" lIns="0" tIns="0" rIns="0" bIns="0" anchor="ctr">
            <a:spAutoFit/>
          </a:bodyPr>
          <a:lstStyle/>
          <a:p>
            <a:pPr algn="ctr">
              <a:lnSpc>
                <a:spcPct val="120000"/>
              </a:lnSpc>
              <a:spcAft>
                <a:spcPts val="0"/>
              </a:spcAft>
            </a:pPr>
            <a:r>
              <a:rPr sz="1100" b="0">
                <a:solidFill>
                  <a:srgbClr val="6E6E6E"/>
                </a:solidFill>
                <a:latin typeface="Meiryo"/>
                <a:ea typeface="Meiryo"/>
                <a:cs typeface="Meiryo"/>
              </a:rPr>
              <a:t>上限 0.95</a:t>
            </a:r>
          </a:p>
        </p:txBody>
      </p:sp>
      <p:sp>
        <p:nvSpPr>
          <p:cNvPr id="8" name="figlabel"/>
          <p:cNvSpPr txBox="1"/>
          <p:nvPr/>
        </p:nvSpPr>
        <p:spPr>
          <a:xfrm>
            <a:off x="1640847" y="4008455"/>
            <a:ext cx="6553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マイワシ</a:t>
            </a:r>
          </a:p>
        </p:txBody>
      </p:sp>
      <p:sp>
        <p:nvSpPr>
          <p:cNvPr id="9" name="figlabel"/>
          <p:cNvSpPr txBox="1"/>
          <p:nvPr/>
        </p:nvSpPr>
        <p:spPr>
          <a:xfrm>
            <a:off x="2825430" y="4008455"/>
            <a:ext cx="9601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ウルメイワシ</a:t>
            </a:r>
          </a:p>
        </p:txBody>
      </p:sp>
      <p:sp>
        <p:nvSpPr>
          <p:cNvPr id="10" name="figlabel"/>
          <p:cNvSpPr txBox="1"/>
          <p:nvPr/>
        </p:nvSpPr>
        <p:spPr>
          <a:xfrm>
            <a:off x="4467214" y="4008455"/>
            <a:ext cx="3505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ブリ</a:t>
            </a:r>
          </a:p>
        </p:txBody>
      </p:sp>
      <p:sp>
        <p:nvSpPr>
          <p:cNvPr id="11" name="figlabel"/>
          <p:cNvSpPr txBox="1"/>
          <p:nvPr/>
        </p:nvSpPr>
        <p:spPr>
          <a:xfrm>
            <a:off x="5727997" y="4008455"/>
            <a:ext cx="502920" cy="216408"/>
          </a:xfrm>
          <a:prstGeom prst="rect">
            <a:avLst/>
          </a:prstGeom>
          <a:noFill/>
        </p:spPr>
        <p:txBody>
          <a:bodyPr wrap="none" lIns="0" tIns="0" rIns="0" bIns="0" anchor="ctr">
            <a:spAutoFit/>
          </a:bodyPr>
          <a:lstStyle/>
          <a:p>
            <a:pPr algn="ctr">
              <a:lnSpc>
                <a:spcPct val="120000"/>
              </a:lnSpc>
              <a:spcAft>
                <a:spcPts val="0"/>
              </a:spcAft>
            </a:pPr>
            <a:r>
              <a:rPr sz="1200" b="0">
                <a:solidFill>
                  <a:srgbClr val="222222"/>
                </a:solidFill>
                <a:latin typeface="Meiryo"/>
                <a:ea typeface="Meiryo"/>
                <a:cs typeface="Meiryo"/>
              </a:rPr>
              <a:t>サワラ</a:t>
            </a:r>
          </a:p>
        </p:txBody>
      </p:sp>
      <p:sp>
        <p:nvSpPr>
          <p:cNvPr id="12" name="TextBox 11"/>
          <p:cNvSpPr txBox="1"/>
          <p:nvPr/>
        </p:nvSpPr>
        <p:spPr>
          <a:xfrm>
            <a:off x="7059168" y="1298448"/>
            <a:ext cx="4553712" cy="3886200"/>
          </a:xfrm>
          <a:prstGeom prst="rect">
            <a:avLst/>
          </a:prstGeom>
          <a:noFill/>
        </p:spPr>
        <p:txBody>
          <a:bodyPr wrap="square" lIns="0" tIns="0" rIns="0" bIns="0" anchor="t">
            <a:spAutoFit/>
          </a:bodyPr>
          <a:lstStyle/>
          <a:p>
            <a:pPr algn="l">
              <a:lnSpc>
                <a:spcPct val="132000"/>
              </a:lnSpc>
              <a:spcAft>
                <a:spcPts val="800"/>
              </a:spcAft>
            </a:pPr>
            <a:r>
              <a:rPr sz="1700" b="1">
                <a:solidFill>
                  <a:srgbClr val="C0561A"/>
                </a:solidFill>
                <a:latin typeface="Meiryo"/>
                <a:ea typeface="Meiryo"/>
                <a:cs typeface="Meiryo"/>
              </a:rPr>
              <a:t>端に張り付く種が残る</a:t>
            </a:r>
          </a:p>
          <a:p>
            <a:pPr algn="l">
              <a:lnSpc>
                <a:spcPct val="132000"/>
              </a:lnSpc>
              <a:spcAft>
                <a:spcPts val="800"/>
              </a:spcAft>
            </a:pPr>
            <a:r>
              <a:rPr sz="1500" b="0">
                <a:solidFill>
                  <a:srgbClr val="222222"/>
                </a:solidFill>
                <a:latin typeface="Meiryo"/>
                <a:ea typeface="Meiryo"/>
                <a:cs typeface="Meiryo"/>
              </a:rPr>
              <a:t>大蛇行なしではサワラが上限 0.95、大蛇行ではマイワシが上限 0.95。資源が減りすぎない条件をつけたうえでの最適が、これ。</a:t>
            </a:r>
          </a:p>
          <a:p>
            <a:pPr algn="l">
              <a:lnSpc>
                <a:spcPct val="132000"/>
              </a:lnSpc>
              <a:spcAft>
                <a:spcPts val="800"/>
              </a:spcAft>
            </a:pPr>
            <a:r>
              <a:rPr sz="1700" b="1">
                <a:solidFill>
                  <a:srgbClr val="1F4E79"/>
                </a:solidFill>
                <a:latin typeface="Meiryo"/>
                <a:ea typeface="Meiryo"/>
                <a:cs typeface="Meiryo"/>
              </a:rPr>
              <a:t>制約つきでとれる量</a:t>
            </a:r>
          </a:p>
          <a:p>
            <a:pPr algn="l">
              <a:lnSpc>
                <a:spcPct val="132000"/>
              </a:lnSpc>
              <a:spcAft>
                <a:spcPts val="800"/>
              </a:spcAft>
            </a:pPr>
            <a:r>
              <a:rPr sz="1500" b="0">
                <a:solidFill>
                  <a:srgbClr val="222222"/>
                </a:solidFill>
                <a:latin typeface="Meiryo"/>
                <a:ea typeface="Meiryo"/>
                <a:cs typeface="Meiryo"/>
              </a:rPr>
              <a:t>大蛇行なし 695.9 ／ 大蛇行 10986.3 千トン/年。大蛇行が1桁以上大きいのは、マイワシの資源量が桁違いで、その上限まで取る解が選ばれるため。</a:t>
            </a:r>
          </a:p>
          <a:p>
            <a:pPr algn="l">
              <a:lnSpc>
                <a:spcPct val="132000"/>
              </a:lnSpc>
              <a:spcAft>
                <a:spcPts val="800"/>
              </a:spcAft>
            </a:pPr>
            <a:r>
              <a:rPr sz="1700" b="1">
                <a:solidFill>
                  <a:srgbClr val="1F4E79"/>
                </a:solidFill>
                <a:latin typeface="Meiryo"/>
                <a:ea typeface="Meiryo"/>
                <a:cs typeface="Meiryo"/>
              </a:rPr>
              <a:t>制約なしの上限感度も同じ</a:t>
            </a:r>
          </a:p>
          <a:p>
            <a:pPr algn="l">
              <a:lnSpc>
                <a:spcPct val="132000"/>
              </a:lnSpc>
              <a:spcAft>
                <a:spcPts val="800"/>
              </a:spcAft>
            </a:pPr>
            <a:r>
              <a:rPr sz="1500" b="0">
                <a:solidFill>
                  <a:srgbClr val="222222"/>
                </a:solidFill>
                <a:latin typeface="Meiryo"/>
                <a:ea typeface="Meiryo"/>
                <a:cs typeface="Meiryo"/>
              </a:rPr>
              <a:t>探索の上限を 0.25 → 1.25 と上げると、大蛇行なしは 366 → 908、大蛇行は 1266 → 35573 千トンと上がり続ける。</a:t>
            </a:r>
          </a:p>
        </p:txBody>
      </p:sp>
      <p:sp>
        <p:nvSpPr>
          <p:cNvPr id="13" name="Rectangle 12"/>
          <p:cNvSpPr/>
          <p:nvPr/>
        </p:nvSpPr>
        <p:spPr>
          <a:xfrm>
            <a:off x="566928" y="5257800"/>
            <a:ext cx="11057839" cy="566928"/>
          </a:xfrm>
          <a:prstGeom prst="rect">
            <a:avLst/>
          </a:prstGeom>
          <a:solidFill>
            <a:srgbClr val="FBF1E8"/>
          </a:solidFill>
          <a:ln w="15875">
            <a:solidFill>
              <a:srgbClr val="C056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768096" y="5385816"/>
            <a:ext cx="10655503" cy="365760"/>
          </a:xfrm>
          <a:prstGeom prst="rect">
            <a:avLst/>
          </a:prstGeom>
          <a:noFill/>
        </p:spPr>
        <p:txBody>
          <a:bodyPr wrap="square" lIns="0" tIns="0" rIns="0" bIns="0" anchor="t">
            <a:spAutoFit/>
          </a:bodyPr>
          <a:lstStyle/>
          <a:p>
            <a:pPr algn="l">
              <a:lnSpc>
                <a:spcPct val="132000"/>
              </a:lnSpc>
              <a:spcAft>
                <a:spcPts val="600"/>
              </a:spcAft>
            </a:pPr>
            <a:r>
              <a:rPr sz="1700" b="1">
                <a:solidFill>
                  <a:srgbClr val="C0561A"/>
                </a:solidFill>
                <a:latin typeface="Meiryo"/>
                <a:ea typeface="Meiryo"/>
                <a:cs typeface="Meiryo"/>
              </a:rPr>
              <a:t>餌の魚を替えても、最大は範囲の内側になく、探索の上限が答えを決めている。</a:t>
            </a:r>
          </a:p>
        </p:txBody>
      </p:sp>
      <p:sp>
        <p:nvSpPr>
          <p:cNvPr id="15" name="TextBox 14"/>
          <p:cNvSpPr txBox="1"/>
          <p:nvPr/>
        </p:nvSpPr>
        <p:spPr>
          <a:xfrm>
            <a:off x="566928" y="5989320"/>
            <a:ext cx="10326319" cy="566928"/>
          </a:xfrm>
          <a:prstGeom prst="rect">
            <a:avLst/>
          </a:prstGeom>
          <a:noFill/>
        </p:spPr>
        <p:txBody>
          <a:bodyPr wrap="square" lIns="0" tIns="0" rIns="0" bIns="0" anchor="t">
            <a:spAutoFit/>
          </a:bodyPr>
          <a:lstStyle/>
          <a:p>
            <a:pPr algn="l">
              <a:lnSpc>
                <a:spcPct val="132000"/>
              </a:lnSpc>
              <a:spcAft>
                <a:spcPts val="600"/>
              </a:spcAft>
            </a:pPr>
            <a:r>
              <a:rPr sz="1400" b="0">
                <a:solidFill>
                  <a:srgbClr val="6E6E6E"/>
                </a:solidFill>
                <a:latin typeface="Meiryo"/>
                <a:ea typeface="Meiryo"/>
                <a:cs typeface="Meiryo"/>
              </a:rPr>
              <a:t>縦軸は最適とされた漁獲率（制約つき）。刻み0.05の格子・持続可能制約つき（最終年の資源量が初年の9割以上）、12個の自由推定。マアジ版の同じ図は13枚目（制約MSY 527.7／254.9 千トン/年）。</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9184"/>
            <a:ext cx="11057839" cy="822960"/>
          </a:xfrm>
          <a:prstGeom prst="rect">
            <a:avLst/>
          </a:prstGeom>
          <a:noFill/>
        </p:spPr>
        <p:txBody>
          <a:bodyPr wrap="square" lIns="0" tIns="0" rIns="0" bIns="0" anchor="t">
            <a:spAutoFit/>
          </a:bodyPr>
          <a:lstStyle/>
          <a:p>
            <a:pPr algn="l">
              <a:lnSpc>
                <a:spcPct val="115000"/>
              </a:lnSpc>
              <a:spcAft>
                <a:spcPts val="600"/>
              </a:spcAft>
            </a:pPr>
            <a:r>
              <a:rPr sz="2600" b="1">
                <a:solidFill>
                  <a:srgbClr val="1F4E79"/>
                </a:solidFill>
                <a:latin typeface="Meiryo"/>
                <a:ea typeface="Meiryo"/>
                <a:cs typeface="Meiryo"/>
              </a:rPr>
              <a:t>［マイワシ版・参考］3つの版で推定された係数</a:t>
            </a:r>
          </a:p>
        </p:txBody>
      </p:sp>
      <p:sp>
        <p:nvSpPr>
          <p:cNvPr id="3" name="TextBox 2"/>
          <p:cNvSpPr txBox="1"/>
          <p:nvPr/>
        </p:nvSpPr>
        <p:spPr>
          <a:xfrm>
            <a:off x="11048695" y="6291072"/>
            <a:ext cx="640080" cy="274320"/>
          </a:xfrm>
          <a:prstGeom prst="rect">
            <a:avLst/>
          </a:prstGeom>
          <a:noFill/>
        </p:spPr>
        <p:txBody>
          <a:bodyPr wrap="none" lIns="0" tIns="0" rIns="0" bIns="0">
            <a:spAutoFit/>
          </a:bodyPr>
          <a:lstStyle/>
          <a:p>
            <a:pPr algn="r"/>
            <a:r>
              <a:rPr sz="1100" b="0">
                <a:solidFill>
                  <a:srgbClr val="6E6E6E"/>
                </a:solidFill>
                <a:latin typeface="Meiryo"/>
                <a:ea typeface="Meiryo"/>
                <a:cs typeface="Meiryo"/>
              </a:rPr>
              <a:t>30</a:t>
            </a:r>
          </a:p>
        </p:txBody>
      </p:sp>
      <p:sp>
        <p:nvSpPr>
          <p:cNvPr id="4" name="TextBox 3"/>
          <p:cNvSpPr txBox="1"/>
          <p:nvPr/>
        </p:nvSpPr>
        <p:spPr>
          <a:xfrm>
            <a:off x="566928" y="1170432"/>
            <a:ext cx="11057839" cy="475488"/>
          </a:xfrm>
          <a:prstGeom prst="rect">
            <a:avLst/>
          </a:prstGeom>
          <a:noFill/>
        </p:spPr>
        <p:txBody>
          <a:bodyPr wrap="square" lIns="0" tIns="0" rIns="0" bIns="0" anchor="t">
            <a:spAutoFit/>
          </a:bodyPr>
          <a:lstStyle/>
          <a:p>
            <a:pPr algn="l">
              <a:lnSpc>
                <a:spcPct val="132000"/>
              </a:lnSpc>
              <a:spcAft>
                <a:spcPts val="200"/>
              </a:spcAft>
            </a:pPr>
            <a:r>
              <a:rPr sz="1200" b="0">
                <a:solidFill>
                  <a:srgbClr val="6E6E6E"/>
                </a:solidFill>
                <a:latin typeface="Meiryo"/>
                <a:ea typeface="Meiryo"/>
                <a:cs typeface="Meiryo"/>
              </a:rPr>
              <a:t>値は平均を1にそろえた空間のもの（9枚目の λ と同じ定義）。10個＝餌2種の「増える速さ」を固定、8個＝さらに「変換の割合の和」も固定。</a:t>
            </a:r>
          </a:p>
          <a:p>
            <a:pPr algn="l">
              <a:lnSpc>
                <a:spcPct val="132000"/>
              </a:lnSpc>
              <a:spcAft>
                <a:spcPts val="200"/>
              </a:spcAft>
            </a:pPr>
            <a:r>
              <a:rPr sz="1200" b="0">
                <a:solidFill>
                  <a:srgbClr val="6E6E6E"/>
                </a:solidFill>
                <a:latin typeface="Meiryo"/>
                <a:ea typeface="Meiryo"/>
                <a:cs typeface="Meiryo"/>
              </a:rPr>
              <a:t>灰色＝借りて固定した値（8個は元の単位で c₁+d₁=0.395、c₂+d₂=0.26 も固定）。橙＝しわ寄せで極端になった値。≈0 は 0.001 未満。</a:t>
            </a:r>
          </a:p>
        </p:txBody>
      </p:sp>
      <p:sp>
        <p:nvSpPr>
          <p:cNvPr id="5" name="TextBox 4"/>
          <p:cNvSpPr txBox="1"/>
          <p:nvPr/>
        </p:nvSpPr>
        <p:spPr>
          <a:xfrm>
            <a:off x="3721608" y="1645920"/>
            <a:ext cx="3950208" cy="256032"/>
          </a:xfrm>
          <a:prstGeom prst="rect">
            <a:avLst/>
          </a:prstGeom>
          <a:noFill/>
        </p:spPr>
        <p:txBody>
          <a:bodyPr wrap="square" lIns="0" tIns="0" rIns="0" bIns="0" anchor="t">
            <a:spAutoFit/>
          </a:bodyPr>
          <a:lstStyle/>
          <a:p>
            <a:pPr algn="ctr">
              <a:lnSpc>
                <a:spcPct val="132000"/>
              </a:lnSpc>
              <a:spcAft>
                <a:spcPts val="600"/>
              </a:spcAft>
            </a:pPr>
            <a:r>
              <a:rPr sz="1400" b="1">
                <a:solidFill>
                  <a:srgbClr val="1F4E79"/>
                </a:solidFill>
                <a:latin typeface="Meiryo"/>
                <a:ea typeface="Meiryo"/>
                <a:cs typeface="Meiryo"/>
              </a:rPr>
              <a:t>大蛇行なし（2006〜2016年）</a:t>
            </a:r>
          </a:p>
        </p:txBody>
      </p:sp>
      <p:sp>
        <p:nvSpPr>
          <p:cNvPr id="6" name="TextBox 5"/>
          <p:cNvSpPr txBox="1"/>
          <p:nvPr/>
        </p:nvSpPr>
        <p:spPr>
          <a:xfrm>
            <a:off x="7671816" y="1645920"/>
            <a:ext cx="3950208" cy="256032"/>
          </a:xfrm>
          <a:prstGeom prst="rect">
            <a:avLst/>
          </a:prstGeom>
          <a:noFill/>
        </p:spPr>
        <p:txBody>
          <a:bodyPr wrap="square" lIns="0" tIns="0" rIns="0" bIns="0" anchor="t">
            <a:spAutoFit/>
          </a:bodyPr>
          <a:lstStyle/>
          <a:p>
            <a:pPr algn="ctr">
              <a:lnSpc>
                <a:spcPct val="132000"/>
              </a:lnSpc>
              <a:spcAft>
                <a:spcPts val="600"/>
              </a:spcAft>
            </a:pPr>
            <a:r>
              <a:rPr sz="1400" b="1">
                <a:solidFill>
                  <a:srgbClr val="C0561A"/>
                </a:solidFill>
                <a:latin typeface="Meiryo"/>
                <a:ea typeface="Meiryo"/>
                <a:cs typeface="Meiryo"/>
              </a:rPr>
              <a:t>大蛇行（2017〜2024年）</a:t>
            </a:r>
          </a:p>
        </p:txBody>
      </p:sp>
      <p:graphicFrame>
        <p:nvGraphicFramePr>
          <p:cNvPr id="7" name="Table 6"/>
          <p:cNvGraphicFramePr>
            <a:graphicFrameLocks noGrp="1"/>
          </p:cNvGraphicFramePr>
          <p:nvPr/>
        </p:nvGraphicFramePr>
        <p:xfrm>
          <a:off x="566928" y="1920240"/>
          <a:ext cx="11055096" cy="3895344"/>
        </p:xfrm>
        <a:graphic>
          <a:graphicData uri="http://schemas.openxmlformats.org/drawingml/2006/table">
            <a:tbl>
              <a:tblPr firstRow="1">
                <a:tableStyleId>{5C22544A-7EE6-4342-B048-85BDC9FD1C3A}</a:tableStyleId>
              </a:tblPr>
              <a:tblGrid>
                <a:gridCol w="3154680">
                  <a:extLst>
                    <a:ext uri="{9D8B030D-6E8A-4147-A177-3AD203B41FA5}">
                      <a16:colId xmlns:a16="http://schemas.microsoft.com/office/drawing/2014/main" val="20000"/>
                    </a:ext>
                  </a:extLst>
                </a:gridCol>
                <a:gridCol w="1316736">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316736">
                  <a:extLst>
                    <a:ext uri="{9D8B030D-6E8A-4147-A177-3AD203B41FA5}">
                      <a16:colId xmlns:a16="http://schemas.microsoft.com/office/drawing/2014/main" val="20005"/>
                    </a:ext>
                  </a:extLst>
                </a:gridCol>
                <a:gridCol w="1316736">
                  <a:extLst>
                    <a:ext uri="{9D8B030D-6E8A-4147-A177-3AD203B41FA5}">
                      <a16:colId xmlns:a16="http://schemas.microsoft.com/office/drawing/2014/main" val="20006"/>
                    </a:ext>
                  </a:extLst>
                </a:gridCol>
              </a:tblGrid>
              <a:tr h="329184">
                <a:tc>
                  <a:txBody>
                    <a:bodyPr/>
                    <a:lstStyle/>
                    <a:p>
                      <a:pPr algn="l"/>
                      <a:r>
                        <a:rPr sz="1200" b="1">
                          <a:solidFill>
                            <a:srgbClr val="FFFFFF"/>
                          </a:solidFill>
                          <a:latin typeface="Meiryo"/>
                          <a:ea typeface="Meiryo"/>
                          <a:cs typeface="Meiryo"/>
                        </a:rPr>
                        <a:t>係数</a:t>
                      </a:r>
                    </a:p>
                  </a:txBody>
                  <a:tcPr marR="73152" marT="27432" marB="27432" anchor="ctr">
                    <a:solidFill>
                      <a:srgbClr val="1F4E79"/>
                    </a:solidFill>
                  </a:tcPr>
                </a:tc>
                <a:tc>
                  <a:txBody>
                    <a:bodyPr/>
                    <a:lstStyle/>
                    <a:p>
                      <a:pPr algn="l"/>
                      <a:r>
                        <a:rPr sz="1200" b="1">
                          <a:solidFill>
                            <a:srgbClr val="FFFFFF"/>
                          </a:solidFill>
                          <a:latin typeface="Meiryo"/>
                          <a:ea typeface="Meiryo"/>
                          <a:cs typeface="Meiryo"/>
                        </a:rPr>
                        <a:t>12個（自由）</a:t>
                      </a:r>
                    </a:p>
                  </a:txBody>
                  <a:tcPr marR="73152" marT="27432" marB="27432" anchor="ctr">
                    <a:solidFill>
                      <a:srgbClr val="1F4E79"/>
                    </a:solidFill>
                  </a:tcPr>
                </a:tc>
                <a:tc>
                  <a:txBody>
                    <a:bodyPr/>
                    <a:lstStyle/>
                    <a:p>
                      <a:pPr algn="l"/>
                      <a:r>
                        <a:rPr sz="1200" b="1">
                          <a:solidFill>
                            <a:srgbClr val="FFFFFF"/>
                          </a:solidFill>
                          <a:latin typeface="Meiryo"/>
                          <a:ea typeface="Meiryo"/>
                          <a:cs typeface="Meiryo"/>
                        </a:rPr>
                        <a:t>10個</a:t>
                      </a:r>
                    </a:p>
                  </a:txBody>
                  <a:tcPr marR="73152" marT="27432" marB="27432" anchor="ctr">
                    <a:solidFill>
                      <a:srgbClr val="1F4E79"/>
                    </a:solidFill>
                  </a:tcPr>
                </a:tc>
                <a:tc>
                  <a:txBody>
                    <a:bodyPr/>
                    <a:lstStyle/>
                    <a:p>
                      <a:pPr algn="l"/>
                      <a:r>
                        <a:rPr sz="1200" b="1">
                          <a:solidFill>
                            <a:srgbClr val="FFFFFF"/>
                          </a:solidFill>
                          <a:latin typeface="Meiryo"/>
                          <a:ea typeface="Meiryo"/>
                          <a:cs typeface="Meiryo"/>
                        </a:rPr>
                        <a:t>8個</a:t>
                      </a:r>
                    </a:p>
                  </a:txBody>
                  <a:tcPr marR="73152" marT="27432" marB="27432" anchor="ctr">
                    <a:solidFill>
                      <a:srgbClr val="1F4E79"/>
                    </a:solidFill>
                  </a:tcPr>
                </a:tc>
                <a:tc>
                  <a:txBody>
                    <a:bodyPr/>
                    <a:lstStyle/>
                    <a:p>
                      <a:pPr algn="l"/>
                      <a:r>
                        <a:rPr sz="1200" b="1">
                          <a:solidFill>
                            <a:srgbClr val="FFFFFF"/>
                          </a:solidFill>
                          <a:latin typeface="Meiryo"/>
                          <a:ea typeface="Meiryo"/>
                          <a:cs typeface="Meiryo"/>
                        </a:rPr>
                        <a:t>12個（自由）</a:t>
                      </a:r>
                    </a:p>
                  </a:txBody>
                  <a:tcPr marR="73152" marT="27432" marB="27432" anchor="ctr">
                    <a:solidFill>
                      <a:srgbClr val="1F4E79"/>
                    </a:solidFill>
                  </a:tcPr>
                </a:tc>
                <a:tc>
                  <a:txBody>
                    <a:bodyPr/>
                    <a:lstStyle/>
                    <a:p>
                      <a:pPr algn="l"/>
                      <a:r>
                        <a:rPr sz="1200" b="1">
                          <a:solidFill>
                            <a:srgbClr val="FFFFFF"/>
                          </a:solidFill>
                          <a:latin typeface="Meiryo"/>
                          <a:ea typeface="Meiryo"/>
                          <a:cs typeface="Meiryo"/>
                        </a:rPr>
                        <a:t>10個</a:t>
                      </a:r>
                    </a:p>
                  </a:txBody>
                  <a:tcPr marR="73152" marT="27432" marB="27432" anchor="ctr">
                    <a:solidFill>
                      <a:srgbClr val="1F4E79"/>
                    </a:solidFill>
                  </a:tcPr>
                </a:tc>
                <a:tc>
                  <a:txBody>
                    <a:bodyPr/>
                    <a:lstStyle/>
                    <a:p>
                      <a:pPr algn="l"/>
                      <a:r>
                        <a:rPr sz="1200" b="1">
                          <a:solidFill>
                            <a:srgbClr val="FFFFFF"/>
                          </a:solidFill>
                          <a:latin typeface="Meiryo"/>
                          <a:ea typeface="Meiryo"/>
                          <a:cs typeface="Meiryo"/>
                        </a:rPr>
                        <a:t>8個</a:t>
                      </a:r>
                    </a:p>
                  </a:txBody>
                  <a:tcPr marR="73152" marT="27432" marB="27432" anchor="ctr">
                    <a:solidFill>
                      <a:srgbClr val="1F4E79"/>
                    </a:solidFill>
                  </a:tcPr>
                </a:tc>
                <a:extLst>
                  <a:ext uri="{0D108BD9-81ED-4DB2-BD59-A6C34878D82A}">
                    <a16:rowId xmlns:a16="http://schemas.microsoft.com/office/drawing/2014/main" val="10000"/>
                  </a:ext>
                </a:extLst>
              </a:tr>
              <a:tr h="274320">
                <a:tc>
                  <a:txBody>
                    <a:bodyPr/>
                    <a:lstStyle/>
                    <a:p>
                      <a:pPr algn="l"/>
                      <a:r>
                        <a:rPr sz="1200" b="0">
                          <a:solidFill>
                            <a:srgbClr val="222222"/>
                          </a:solidFill>
                          <a:latin typeface="Meiryo"/>
                          <a:ea typeface="Meiryo"/>
                          <a:cs typeface="Meiryo"/>
                        </a:rPr>
                        <a:t>r_x1　マイワシが増える速さ</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0.624</a:t>
                      </a:r>
                    </a:p>
                  </a:txBody>
                  <a:tcPr marR="73152" marT="27432" marB="27432" anchor="ctr">
                    <a:solidFill>
                      <a:srgbClr val="FFFFFF"/>
                    </a:solidFill>
                  </a:tcPr>
                </a:tc>
                <a:tc>
                  <a:txBody>
                    <a:bodyPr/>
                    <a:lstStyle/>
                    <a:p>
                      <a:pPr algn="l"/>
                      <a:r>
                        <a:rPr sz="1200" b="0">
                          <a:solidFill>
                            <a:srgbClr val="6E6E6E"/>
                          </a:solidFill>
                          <a:latin typeface="Meiryo"/>
                          <a:ea typeface="Meiryo"/>
                          <a:cs typeface="Meiryo"/>
                        </a:rPr>
                        <a:t>0.940</a:t>
                      </a:r>
                    </a:p>
                  </a:txBody>
                  <a:tcPr marR="73152" marT="27432" marB="27432" anchor="ctr">
                    <a:solidFill>
                      <a:srgbClr val="FFFFFF"/>
                    </a:solidFill>
                  </a:tcPr>
                </a:tc>
                <a:tc>
                  <a:txBody>
                    <a:bodyPr/>
                    <a:lstStyle/>
                    <a:p>
                      <a:pPr algn="l"/>
                      <a:r>
                        <a:rPr sz="1200" b="0">
                          <a:solidFill>
                            <a:srgbClr val="6E6E6E"/>
                          </a:solidFill>
                          <a:latin typeface="Meiryo"/>
                          <a:ea typeface="Meiryo"/>
                          <a:cs typeface="Meiryo"/>
                        </a:rPr>
                        <a:t>0.940</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3.004</a:t>
                      </a:r>
                    </a:p>
                  </a:txBody>
                  <a:tcPr marR="73152" marT="27432" marB="27432" anchor="ctr">
                    <a:solidFill>
                      <a:srgbClr val="FFFFFF"/>
                    </a:solidFill>
                  </a:tcPr>
                </a:tc>
                <a:tc>
                  <a:txBody>
                    <a:bodyPr/>
                    <a:lstStyle/>
                    <a:p>
                      <a:pPr algn="l"/>
                      <a:r>
                        <a:rPr sz="1200" b="0">
                          <a:solidFill>
                            <a:srgbClr val="6E6E6E"/>
                          </a:solidFill>
                          <a:latin typeface="Meiryo"/>
                          <a:ea typeface="Meiryo"/>
                          <a:cs typeface="Meiryo"/>
                        </a:rPr>
                        <a:t>0.940</a:t>
                      </a:r>
                    </a:p>
                  </a:txBody>
                  <a:tcPr marR="73152" marT="27432" marB="27432" anchor="ctr">
                    <a:solidFill>
                      <a:srgbClr val="FFFFFF"/>
                    </a:solidFill>
                  </a:tcPr>
                </a:tc>
                <a:tc>
                  <a:txBody>
                    <a:bodyPr/>
                    <a:lstStyle/>
                    <a:p>
                      <a:pPr algn="l"/>
                      <a:r>
                        <a:rPr sz="1200" b="0">
                          <a:solidFill>
                            <a:srgbClr val="6E6E6E"/>
                          </a:solidFill>
                          <a:latin typeface="Meiryo"/>
                          <a:ea typeface="Meiryo"/>
                          <a:cs typeface="Meiryo"/>
                        </a:rPr>
                        <a:t>0.940</a:t>
                      </a:r>
                    </a:p>
                  </a:txBody>
                  <a:tcPr marR="73152" marT="27432" marB="27432" anchor="ctr">
                    <a:solidFill>
                      <a:srgbClr val="FFFFFF"/>
                    </a:solidFill>
                  </a:tcPr>
                </a:tc>
                <a:extLst>
                  <a:ext uri="{0D108BD9-81ED-4DB2-BD59-A6C34878D82A}">
                    <a16:rowId xmlns:a16="http://schemas.microsoft.com/office/drawing/2014/main" val="10001"/>
                  </a:ext>
                </a:extLst>
              </a:tr>
              <a:tr h="274320">
                <a:tc>
                  <a:txBody>
                    <a:bodyPr/>
                    <a:lstStyle/>
                    <a:p>
                      <a:pPr algn="l"/>
                      <a:r>
                        <a:rPr sz="1200" b="0">
                          <a:solidFill>
                            <a:srgbClr val="222222"/>
                          </a:solidFill>
                          <a:latin typeface="Meiryo"/>
                          <a:ea typeface="Meiryo"/>
                          <a:cs typeface="Meiryo"/>
                        </a:rPr>
                        <a:t>r_x2　ウルメが増える速さ</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0.472</a:t>
                      </a:r>
                    </a:p>
                  </a:txBody>
                  <a:tcPr marR="73152" marT="27432" marB="27432" anchor="ctr">
                    <a:solidFill>
                      <a:srgbClr val="F2F5F9"/>
                    </a:solidFill>
                  </a:tcPr>
                </a:tc>
                <a:tc>
                  <a:txBody>
                    <a:bodyPr/>
                    <a:lstStyle/>
                    <a:p>
                      <a:pPr algn="l"/>
                      <a:r>
                        <a:rPr sz="1200" b="0">
                          <a:solidFill>
                            <a:srgbClr val="6E6E6E"/>
                          </a:solidFill>
                          <a:latin typeface="Meiryo"/>
                          <a:ea typeface="Meiryo"/>
                          <a:cs typeface="Meiryo"/>
                        </a:rPr>
                        <a:t>0.739</a:t>
                      </a:r>
                    </a:p>
                  </a:txBody>
                  <a:tcPr marR="73152" marT="27432" marB="27432" anchor="ctr">
                    <a:solidFill>
                      <a:srgbClr val="F2F5F9"/>
                    </a:solidFill>
                  </a:tcPr>
                </a:tc>
                <a:tc>
                  <a:txBody>
                    <a:bodyPr/>
                    <a:lstStyle/>
                    <a:p>
                      <a:pPr algn="l"/>
                      <a:r>
                        <a:rPr sz="1200" b="0">
                          <a:solidFill>
                            <a:srgbClr val="6E6E6E"/>
                          </a:solidFill>
                          <a:latin typeface="Meiryo"/>
                          <a:ea typeface="Meiryo"/>
                          <a:cs typeface="Meiryo"/>
                        </a:rPr>
                        <a:t>0.739</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0.651</a:t>
                      </a:r>
                    </a:p>
                  </a:txBody>
                  <a:tcPr marR="73152" marT="27432" marB="27432" anchor="ctr">
                    <a:solidFill>
                      <a:srgbClr val="F2F5F9"/>
                    </a:solidFill>
                  </a:tcPr>
                </a:tc>
                <a:tc>
                  <a:txBody>
                    <a:bodyPr/>
                    <a:lstStyle/>
                    <a:p>
                      <a:pPr algn="l"/>
                      <a:r>
                        <a:rPr sz="1200" b="0">
                          <a:solidFill>
                            <a:srgbClr val="6E6E6E"/>
                          </a:solidFill>
                          <a:latin typeface="Meiryo"/>
                          <a:ea typeface="Meiryo"/>
                          <a:cs typeface="Meiryo"/>
                        </a:rPr>
                        <a:t>0.739</a:t>
                      </a:r>
                    </a:p>
                  </a:txBody>
                  <a:tcPr marR="73152" marT="27432" marB="27432" anchor="ctr">
                    <a:solidFill>
                      <a:srgbClr val="F2F5F9"/>
                    </a:solidFill>
                  </a:tcPr>
                </a:tc>
                <a:tc>
                  <a:txBody>
                    <a:bodyPr/>
                    <a:lstStyle/>
                    <a:p>
                      <a:pPr algn="l"/>
                      <a:r>
                        <a:rPr sz="1200" b="0">
                          <a:solidFill>
                            <a:srgbClr val="6E6E6E"/>
                          </a:solidFill>
                          <a:latin typeface="Meiryo"/>
                          <a:ea typeface="Meiryo"/>
                          <a:cs typeface="Meiryo"/>
                        </a:rPr>
                        <a:t>0.739</a:t>
                      </a:r>
                    </a:p>
                  </a:txBody>
                  <a:tcPr marR="73152" marT="27432" marB="27432" anchor="ctr">
                    <a:solidFill>
                      <a:srgbClr val="F2F5F9"/>
                    </a:solidFill>
                  </a:tcPr>
                </a:tc>
                <a:extLst>
                  <a:ext uri="{0D108BD9-81ED-4DB2-BD59-A6C34878D82A}">
                    <a16:rowId xmlns:a16="http://schemas.microsoft.com/office/drawing/2014/main" val="10002"/>
                  </a:ext>
                </a:extLst>
              </a:tr>
              <a:tr h="274320">
                <a:tc>
                  <a:txBody>
                    <a:bodyPr/>
                    <a:lstStyle/>
                    <a:p>
                      <a:pPr algn="l"/>
                      <a:r>
                        <a:rPr sz="1200" b="0">
                          <a:solidFill>
                            <a:srgbClr val="222222"/>
                          </a:solidFill>
                          <a:latin typeface="Meiryo"/>
                          <a:ea typeface="Meiryo"/>
                          <a:cs typeface="Meiryo"/>
                        </a:rPr>
                        <a:t>r_y1　ブリが自然に減る速さ</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0.032</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0.030</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0.012</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0.094</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0.848</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0.011</a:t>
                      </a:r>
                    </a:p>
                  </a:txBody>
                  <a:tcPr marR="73152"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200" b="0">
                          <a:solidFill>
                            <a:srgbClr val="222222"/>
                          </a:solidFill>
                          <a:latin typeface="Meiryo"/>
                          <a:ea typeface="Meiryo"/>
                          <a:cs typeface="Meiryo"/>
                        </a:rPr>
                        <a:t>r_y2　サワラが自然に減る速さ</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0.011</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0.011</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0.010</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0.069</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0.063</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0.163</a:t>
                      </a:r>
                    </a:p>
                  </a:txBody>
                  <a:tcPr marR="73152" marT="27432" marB="27432" anchor="ctr">
                    <a:solidFill>
                      <a:srgbClr val="F2F5F9"/>
                    </a:solidFill>
                  </a:tcPr>
                </a:tc>
                <a:extLst>
                  <a:ext uri="{0D108BD9-81ED-4DB2-BD59-A6C34878D82A}">
                    <a16:rowId xmlns:a16="http://schemas.microsoft.com/office/drawing/2014/main" val="10004"/>
                  </a:ext>
                </a:extLst>
              </a:tr>
              <a:tr h="274320">
                <a:tc>
                  <a:txBody>
                    <a:bodyPr/>
                    <a:lstStyle/>
                    <a:p>
                      <a:pPr algn="l"/>
                      <a:r>
                        <a:rPr sz="1200" b="0">
                          <a:solidFill>
                            <a:srgbClr val="222222"/>
                          </a:solidFill>
                          <a:latin typeface="Meiryo"/>
                          <a:ea typeface="Meiryo"/>
                          <a:cs typeface="Meiryo"/>
                        </a:rPr>
                        <a:t>λ11　食べられる強さ：マイワシ→ブリ</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0.035</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0.692</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2.077</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0.595</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0.619</a:t>
                      </a:r>
                    </a:p>
                  </a:txBody>
                  <a:tcPr marR="73152" marT="27432" marB="27432" anchor="ctr">
                    <a:solidFill>
                      <a:srgbClr val="FFFFFF"/>
                    </a:solidFill>
                  </a:tcPr>
                </a:tc>
                <a:extLst>
                  <a:ext uri="{0D108BD9-81ED-4DB2-BD59-A6C34878D82A}">
                    <a16:rowId xmlns:a16="http://schemas.microsoft.com/office/drawing/2014/main" val="10005"/>
                  </a:ext>
                </a:extLst>
              </a:tr>
              <a:tr h="274320">
                <a:tc>
                  <a:txBody>
                    <a:bodyPr/>
                    <a:lstStyle/>
                    <a:p>
                      <a:pPr algn="l"/>
                      <a:r>
                        <a:rPr sz="1200" b="0">
                          <a:solidFill>
                            <a:srgbClr val="222222"/>
                          </a:solidFill>
                          <a:latin typeface="Meiryo"/>
                          <a:ea typeface="Meiryo"/>
                          <a:cs typeface="Meiryo"/>
                        </a:rPr>
                        <a:t>λ12　食べられる強さ：マイワシ→サワラ</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0.055</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0.563</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0.005</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0.563</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a:t>
                      </a:r>
                    </a:p>
                  </a:txBody>
                  <a:tcPr marR="73152" marT="27432" marB="27432" anchor="ctr">
                    <a:solidFill>
                      <a:srgbClr val="F2F5F9"/>
                    </a:solidFill>
                  </a:tcPr>
                </a:tc>
                <a:extLst>
                  <a:ext uri="{0D108BD9-81ED-4DB2-BD59-A6C34878D82A}">
                    <a16:rowId xmlns:a16="http://schemas.microsoft.com/office/drawing/2014/main" val="10006"/>
                  </a:ext>
                </a:extLst>
              </a:tr>
              <a:tr h="274320">
                <a:tc>
                  <a:txBody>
                    <a:bodyPr/>
                    <a:lstStyle/>
                    <a:p>
                      <a:pPr algn="l"/>
                      <a:r>
                        <a:rPr sz="1200" b="0">
                          <a:solidFill>
                            <a:srgbClr val="222222"/>
                          </a:solidFill>
                          <a:latin typeface="Meiryo"/>
                          <a:ea typeface="Meiryo"/>
                          <a:cs typeface="Meiryo"/>
                        </a:rPr>
                        <a:t>λ21　食べられる強さ：ウルメ→ブリ</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0.224</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0.560</a:t>
                      </a:r>
                    </a:p>
                  </a:txBody>
                  <a:tcPr marR="73152" marT="27432" marB="27432" anchor="ctr">
                    <a:solidFill>
                      <a:srgbClr val="FFFFFF"/>
                    </a:solidFill>
                  </a:tcPr>
                </a:tc>
                <a:tc>
                  <a:txBody>
                    <a:bodyPr/>
                    <a:lstStyle/>
                    <a:p>
                      <a:pPr algn="l"/>
                      <a:r>
                        <a:rPr sz="1200" b="1">
                          <a:solidFill>
                            <a:srgbClr val="C0561A"/>
                          </a:solidFill>
                          <a:latin typeface="Meiryo"/>
                          <a:ea typeface="Meiryo"/>
                          <a:cs typeface="Meiryo"/>
                        </a:rPr>
                        <a:t>0.945</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0.138</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0.379</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0.642</a:t>
                      </a:r>
                    </a:p>
                  </a:txBody>
                  <a:tcPr marR="73152" marT="27432" marB="27432" anchor="ctr">
                    <a:solidFill>
                      <a:srgbClr val="FFFFFF"/>
                    </a:solidFill>
                  </a:tcPr>
                </a:tc>
                <a:extLst>
                  <a:ext uri="{0D108BD9-81ED-4DB2-BD59-A6C34878D82A}">
                    <a16:rowId xmlns:a16="http://schemas.microsoft.com/office/drawing/2014/main" val="10007"/>
                  </a:ext>
                </a:extLst>
              </a:tr>
              <a:tr h="274320">
                <a:tc>
                  <a:txBody>
                    <a:bodyPr/>
                    <a:lstStyle/>
                    <a:p>
                      <a:pPr algn="l"/>
                      <a:r>
                        <a:rPr sz="1200" b="0">
                          <a:solidFill>
                            <a:srgbClr val="222222"/>
                          </a:solidFill>
                          <a:latin typeface="Meiryo"/>
                          <a:ea typeface="Meiryo"/>
                          <a:cs typeface="Meiryo"/>
                        </a:rPr>
                        <a:t>λ22　食べられる強さ：ウルメ→サワラ</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0.175</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0.225</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0.028</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0.477</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0.333</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0.102</a:t>
                      </a:r>
                    </a:p>
                  </a:txBody>
                  <a:tcPr marR="73152" marT="27432" marB="27432" anchor="ctr">
                    <a:solidFill>
                      <a:srgbClr val="F2F5F9"/>
                    </a:solidFill>
                  </a:tcPr>
                </a:tc>
                <a:extLst>
                  <a:ext uri="{0D108BD9-81ED-4DB2-BD59-A6C34878D82A}">
                    <a16:rowId xmlns:a16="http://schemas.microsoft.com/office/drawing/2014/main" val="10008"/>
                  </a:ext>
                </a:extLst>
              </a:tr>
              <a:tr h="274320">
                <a:tc>
                  <a:txBody>
                    <a:bodyPr/>
                    <a:lstStyle/>
                    <a:p>
                      <a:pPr algn="l"/>
                      <a:r>
                        <a:rPr sz="1200" b="0">
                          <a:solidFill>
                            <a:srgbClr val="222222"/>
                          </a:solidFill>
                          <a:latin typeface="Meiryo"/>
                          <a:ea typeface="Meiryo"/>
                          <a:cs typeface="Meiryo"/>
                        </a:rPr>
                        <a:t>C1　変換の割合：マイワシ→ブリ</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0.485</a:t>
                      </a:r>
                    </a:p>
                  </a:txBody>
                  <a:tcPr marR="73152" marT="27432" marB="27432" anchor="ctr">
                    <a:solidFill>
                      <a:srgbClr val="FFFFFF"/>
                    </a:solidFill>
                  </a:tcPr>
                </a:tc>
                <a:tc>
                  <a:txBody>
                    <a:bodyPr/>
                    <a:lstStyle/>
                    <a:p>
                      <a:pPr algn="l"/>
                      <a:r>
                        <a:rPr sz="1200" b="1">
                          <a:solidFill>
                            <a:srgbClr val="C0561A"/>
                          </a:solidFill>
                          <a:latin typeface="Meiryo"/>
                          <a:ea typeface="Meiryo"/>
                          <a:cs typeface="Meiryo"/>
                        </a:rPr>
                        <a:t>6.012</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0.140</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0.101</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0.933</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0.387</a:t>
                      </a:r>
                    </a:p>
                  </a:txBody>
                  <a:tcPr marR="73152" marT="27432" marB="27432" anchor="ctr">
                    <a:solidFill>
                      <a:srgbClr val="FFFFFF"/>
                    </a:solidFill>
                  </a:tcPr>
                </a:tc>
                <a:extLst>
                  <a:ext uri="{0D108BD9-81ED-4DB2-BD59-A6C34878D82A}">
                    <a16:rowId xmlns:a16="http://schemas.microsoft.com/office/drawing/2014/main" val="10009"/>
                  </a:ext>
                </a:extLst>
              </a:tr>
              <a:tr h="274320">
                <a:tc>
                  <a:txBody>
                    <a:bodyPr/>
                    <a:lstStyle/>
                    <a:p>
                      <a:pPr algn="l"/>
                      <a:r>
                        <a:rPr sz="1200" b="0">
                          <a:solidFill>
                            <a:srgbClr val="222222"/>
                          </a:solidFill>
                          <a:latin typeface="Meiryo"/>
                          <a:ea typeface="Meiryo"/>
                          <a:cs typeface="Meiryo"/>
                        </a:rPr>
                        <a:t>D1　変換の割合：ウルメ→ブリ</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2.119</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0.766</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0.272</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1.522</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1.654</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0.203</a:t>
                      </a:r>
                    </a:p>
                  </a:txBody>
                  <a:tcPr marR="73152" marT="27432" marB="27432" anchor="ctr">
                    <a:solidFill>
                      <a:srgbClr val="F2F5F9"/>
                    </a:solidFill>
                  </a:tcPr>
                </a:tc>
                <a:extLst>
                  <a:ext uri="{0D108BD9-81ED-4DB2-BD59-A6C34878D82A}">
                    <a16:rowId xmlns:a16="http://schemas.microsoft.com/office/drawing/2014/main" val="10010"/>
                  </a:ext>
                </a:extLst>
              </a:tr>
              <a:tr h="274320">
                <a:tc>
                  <a:txBody>
                    <a:bodyPr/>
                    <a:lstStyle/>
                    <a:p>
                      <a:pPr algn="l"/>
                      <a:r>
                        <a:rPr sz="1200" b="0">
                          <a:solidFill>
                            <a:srgbClr val="222222"/>
                          </a:solidFill>
                          <a:latin typeface="Meiryo"/>
                          <a:ea typeface="Meiryo"/>
                          <a:cs typeface="Meiryo"/>
                        </a:rPr>
                        <a:t>C2　変換の割合：マイワシ→サワラ</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0.191</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0.105</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0.728</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0.030</a:t>
                      </a:r>
                    </a:p>
                  </a:txBody>
                  <a:tcPr marR="73152" marT="27432" marB="27432" anchor="ctr">
                    <a:solidFill>
                      <a:srgbClr val="FFFFFF"/>
                    </a:solidFill>
                  </a:tcPr>
                </a:tc>
                <a:tc>
                  <a:txBody>
                    <a:bodyPr/>
                    <a:lstStyle/>
                    <a:p>
                      <a:pPr algn="l"/>
                      <a:r>
                        <a:rPr sz="1200" b="0">
                          <a:solidFill>
                            <a:srgbClr val="222222"/>
                          </a:solidFill>
                          <a:latin typeface="Meiryo"/>
                          <a:ea typeface="Meiryo"/>
                          <a:cs typeface="Meiryo"/>
                        </a:rPr>
                        <a:t>0.004</a:t>
                      </a:r>
                    </a:p>
                  </a:txBody>
                  <a:tcPr marR="73152" marT="27432" marB="27432" anchor="ctr">
                    <a:solidFill>
                      <a:srgbClr val="FFFFFF"/>
                    </a:solidFill>
                  </a:tcPr>
                </a:tc>
                <a:tc>
                  <a:txBody>
                    <a:bodyPr/>
                    <a:lstStyle/>
                    <a:p>
                      <a:pPr algn="l"/>
                      <a:r>
                        <a:rPr sz="1200" b="1">
                          <a:solidFill>
                            <a:srgbClr val="C0561A"/>
                          </a:solidFill>
                          <a:latin typeface="Meiryo"/>
                          <a:ea typeface="Meiryo"/>
                          <a:cs typeface="Meiryo"/>
                        </a:rPr>
                        <a:t>64.2</a:t>
                      </a:r>
                    </a:p>
                  </a:txBody>
                  <a:tcPr marR="73152" marT="27432" marB="27432" anchor="ctr">
                    <a:solidFill>
                      <a:srgbClr val="FFFFFF"/>
                    </a:solidFill>
                  </a:tcPr>
                </a:tc>
                <a:extLst>
                  <a:ext uri="{0D108BD9-81ED-4DB2-BD59-A6C34878D82A}">
                    <a16:rowId xmlns:a16="http://schemas.microsoft.com/office/drawing/2014/main" val="10011"/>
                  </a:ext>
                </a:extLst>
              </a:tr>
              <a:tr h="274320">
                <a:tc>
                  <a:txBody>
                    <a:bodyPr/>
                    <a:lstStyle/>
                    <a:p>
                      <a:pPr algn="l"/>
                      <a:r>
                        <a:rPr sz="1200" b="0">
                          <a:solidFill>
                            <a:srgbClr val="222222"/>
                          </a:solidFill>
                          <a:latin typeface="Meiryo"/>
                          <a:ea typeface="Meiryo"/>
                          <a:cs typeface="Meiryo"/>
                        </a:rPr>
                        <a:t>D2　変換の割合：ウルメ→サワラ</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2.544</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1.619</a:t>
                      </a:r>
                    </a:p>
                  </a:txBody>
                  <a:tcPr marR="73152" marT="27432" marB="27432" anchor="ctr">
                    <a:solidFill>
                      <a:srgbClr val="F2F5F9"/>
                    </a:solidFill>
                  </a:tcPr>
                </a:tc>
                <a:tc>
                  <a:txBody>
                    <a:bodyPr/>
                    <a:lstStyle/>
                    <a:p>
                      <a:pPr algn="l"/>
                      <a:r>
                        <a:rPr sz="1200" b="1">
                          <a:solidFill>
                            <a:srgbClr val="C0561A"/>
                          </a:solidFill>
                          <a:latin typeface="Meiryo"/>
                          <a:ea typeface="Meiryo"/>
                          <a:cs typeface="Meiryo"/>
                        </a:rPr>
                        <a:t>12.8</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0.773</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1.113</a:t>
                      </a:r>
                    </a:p>
                  </a:txBody>
                  <a:tcPr marR="73152" marT="27432" marB="27432" anchor="ctr">
                    <a:solidFill>
                      <a:srgbClr val="F2F5F9"/>
                    </a:solidFill>
                  </a:tcPr>
                </a:tc>
                <a:tc>
                  <a:txBody>
                    <a:bodyPr/>
                    <a:lstStyle/>
                    <a:p>
                      <a:pPr algn="l"/>
                      <a:r>
                        <a:rPr sz="1200" b="0">
                          <a:solidFill>
                            <a:srgbClr val="222222"/>
                          </a:solidFill>
                          <a:latin typeface="Meiryo"/>
                          <a:ea typeface="Meiryo"/>
                          <a:cs typeface="Meiryo"/>
                        </a:rPr>
                        <a:t>4.476</a:t>
                      </a:r>
                    </a:p>
                  </a:txBody>
                  <a:tcPr marR="73152" marT="27432" marB="27432" anchor="ctr">
                    <a:solidFill>
                      <a:srgbClr val="F2F5F9"/>
                    </a:solidFill>
                  </a:tcPr>
                </a:tc>
                <a:extLst>
                  <a:ext uri="{0D108BD9-81ED-4DB2-BD59-A6C34878D82A}">
                    <a16:rowId xmlns:a16="http://schemas.microsoft.com/office/drawing/2014/main" val="10012"/>
                  </a:ext>
                </a:extLst>
              </a:tr>
              <a:tr h="274320">
                <a:tc>
                  <a:txBody>
                    <a:bodyPr/>
                    <a:lstStyle/>
                    <a:p>
                      <a:pPr algn="l"/>
                      <a:r>
                        <a:rPr sz="1200" b="1">
                          <a:solidFill>
                            <a:srgbClr val="222222"/>
                          </a:solidFill>
                          <a:latin typeface="Meiryo"/>
                          <a:ea typeface="Meiryo"/>
                          <a:cs typeface="Meiryo"/>
                        </a:rPr>
                        <a:t>平均のずれ（NRMSE, 4種平均）</a:t>
                      </a:r>
                    </a:p>
                  </a:txBody>
                  <a:tcPr marR="73152" marT="27432" marB="27432" anchor="ctr">
                    <a:solidFill>
                      <a:srgbClr val="FFFFFF"/>
                    </a:solidFill>
                  </a:tcPr>
                </a:tc>
                <a:tc>
                  <a:txBody>
                    <a:bodyPr/>
                    <a:lstStyle/>
                    <a:p>
                      <a:pPr algn="l"/>
                      <a:r>
                        <a:rPr sz="1200" b="1">
                          <a:solidFill>
                            <a:srgbClr val="222222"/>
                          </a:solidFill>
                          <a:latin typeface="Meiryo"/>
                          <a:ea typeface="Meiryo"/>
                          <a:cs typeface="Meiryo"/>
                        </a:rPr>
                        <a:t>0.145</a:t>
                      </a:r>
                    </a:p>
                  </a:txBody>
                  <a:tcPr marR="73152" marT="27432" marB="27432" anchor="ctr">
                    <a:solidFill>
                      <a:srgbClr val="FFFFFF"/>
                    </a:solidFill>
                  </a:tcPr>
                </a:tc>
                <a:tc>
                  <a:txBody>
                    <a:bodyPr/>
                    <a:lstStyle/>
                    <a:p>
                      <a:pPr algn="l"/>
                      <a:r>
                        <a:rPr sz="1200" b="1">
                          <a:solidFill>
                            <a:srgbClr val="222222"/>
                          </a:solidFill>
                          <a:latin typeface="Meiryo"/>
                          <a:ea typeface="Meiryo"/>
                          <a:cs typeface="Meiryo"/>
                        </a:rPr>
                        <a:t>0.306</a:t>
                      </a:r>
                    </a:p>
                  </a:txBody>
                  <a:tcPr marR="73152" marT="27432" marB="27432" anchor="ctr">
                    <a:solidFill>
                      <a:srgbClr val="FFFFFF"/>
                    </a:solidFill>
                  </a:tcPr>
                </a:tc>
                <a:tc>
                  <a:txBody>
                    <a:bodyPr/>
                    <a:lstStyle/>
                    <a:p>
                      <a:pPr algn="l"/>
                      <a:r>
                        <a:rPr sz="1200" b="1">
                          <a:solidFill>
                            <a:srgbClr val="222222"/>
                          </a:solidFill>
                          <a:latin typeface="Meiryo"/>
                          <a:ea typeface="Meiryo"/>
                          <a:cs typeface="Meiryo"/>
                        </a:rPr>
                        <a:t>0.408</a:t>
                      </a:r>
                    </a:p>
                  </a:txBody>
                  <a:tcPr marR="73152" marT="27432" marB="27432" anchor="ctr">
                    <a:solidFill>
                      <a:srgbClr val="FFFFFF"/>
                    </a:solidFill>
                  </a:tcPr>
                </a:tc>
                <a:tc>
                  <a:txBody>
                    <a:bodyPr/>
                    <a:lstStyle/>
                    <a:p>
                      <a:pPr algn="l"/>
                      <a:r>
                        <a:rPr sz="1200" b="1">
                          <a:solidFill>
                            <a:srgbClr val="222222"/>
                          </a:solidFill>
                          <a:latin typeface="Meiryo"/>
                          <a:ea typeface="Meiryo"/>
                          <a:cs typeface="Meiryo"/>
                        </a:rPr>
                        <a:t>0.079</a:t>
                      </a:r>
                    </a:p>
                  </a:txBody>
                  <a:tcPr marR="73152" marT="27432" marB="27432" anchor="ctr">
                    <a:solidFill>
                      <a:srgbClr val="FFFFFF"/>
                    </a:solidFill>
                  </a:tcPr>
                </a:tc>
                <a:tc>
                  <a:txBody>
                    <a:bodyPr/>
                    <a:lstStyle/>
                    <a:p>
                      <a:pPr algn="l"/>
                      <a:r>
                        <a:rPr sz="1200" b="1">
                          <a:solidFill>
                            <a:srgbClr val="222222"/>
                          </a:solidFill>
                          <a:latin typeface="Meiryo"/>
                          <a:ea typeface="Meiryo"/>
                          <a:cs typeface="Meiryo"/>
                        </a:rPr>
                        <a:t>0.115</a:t>
                      </a:r>
                    </a:p>
                  </a:txBody>
                  <a:tcPr marR="73152" marT="27432" marB="27432" anchor="ctr">
                    <a:solidFill>
                      <a:srgbClr val="FFFFFF"/>
                    </a:solidFill>
                  </a:tcPr>
                </a:tc>
                <a:tc>
                  <a:txBody>
                    <a:bodyPr/>
                    <a:lstStyle/>
                    <a:p>
                      <a:pPr algn="l"/>
                      <a:r>
                        <a:rPr sz="1200" b="1">
                          <a:solidFill>
                            <a:srgbClr val="222222"/>
                          </a:solidFill>
                          <a:latin typeface="Meiryo"/>
                          <a:ea typeface="Meiryo"/>
                          <a:cs typeface="Meiryo"/>
                        </a:rPr>
                        <a:t>0.122</a:t>
                      </a:r>
                    </a:p>
                  </a:txBody>
                  <a:tcPr marR="73152" marT="27432" marB="27432" anchor="ctr">
                    <a:solidFill>
                      <a:srgbClr val="FFFFFF"/>
                    </a:solidFill>
                  </a:tcPr>
                </a:tc>
                <a:extLst>
                  <a:ext uri="{0D108BD9-81ED-4DB2-BD59-A6C34878D82A}">
                    <a16:rowId xmlns:a16="http://schemas.microsoft.com/office/drawing/2014/main" val="10013"/>
                  </a:ext>
                </a:extLst>
              </a:tr>
            </a:tbl>
          </a:graphicData>
        </a:graphic>
      </p:graphicFrame>
      <p:sp>
        <p:nvSpPr>
          <p:cNvPr id="8" name="TextBox 7"/>
          <p:cNvSpPr txBox="1"/>
          <p:nvPr/>
        </p:nvSpPr>
        <p:spPr>
          <a:xfrm>
            <a:off x="566928" y="5888736"/>
            <a:ext cx="9869119" cy="585216"/>
          </a:xfrm>
          <a:prstGeom prst="rect">
            <a:avLst/>
          </a:prstGeom>
          <a:noFill/>
        </p:spPr>
        <p:txBody>
          <a:bodyPr wrap="square" lIns="0" tIns="0" rIns="0" bIns="0" anchor="t">
            <a:spAutoFit/>
          </a:bodyPr>
          <a:lstStyle/>
          <a:p>
            <a:pPr algn="l">
              <a:lnSpc>
                <a:spcPct val="132000"/>
              </a:lnSpc>
              <a:spcAft>
                <a:spcPts val="600"/>
              </a:spcAft>
            </a:pPr>
            <a:r>
              <a:rPr sz="1500" b="1">
                <a:solidFill>
                  <a:srgbClr val="C0561A"/>
                </a:solidFill>
                <a:latin typeface="Meiryo"/>
                <a:ea typeface="Meiryo"/>
                <a:cs typeface="Meiryo"/>
              </a:rPr>
              <a:t>固定を増やすほど、食べられる強さと変換の割合が極端な値へ動く（ウルメ→ブリ 0.224→0.945、マイワシ→サワラの変換 0.030→64.2）。当てはまりの悪化は、その歪みの結果。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2794</Words>
  <Application>Microsoft Macintosh PowerPoint</Application>
  <PresentationFormat>ワイド画面</PresentationFormat>
  <Paragraphs>664</Paragraphs>
  <Slides>30</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30</vt:i4>
      </vt:variant>
    </vt:vector>
  </HeadingPairs>
  <TitlesOfParts>
    <vt:vector size="35" baseType="lpstr">
      <vt:lpstr>Meiryo</vt:lpstr>
      <vt:lpstr>Arial</vt:lpstr>
      <vt:lpstr>Calibri</vt:lpstr>
      <vt:lpstr>Cambria Math</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FUKUOKA Shunya</cp:lastModifiedBy>
  <cp:revision>2</cp:revision>
  <dcterms:created xsi:type="dcterms:W3CDTF">2013-01-27T09:14:16Z</dcterms:created>
  <dcterms:modified xsi:type="dcterms:W3CDTF">2026-08-20T05:04:02Z</dcterms:modified>
  <cp:category/>
</cp:coreProperties>
</file>