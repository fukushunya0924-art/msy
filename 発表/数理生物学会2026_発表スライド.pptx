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4"/>
        </a:solidFill>
        <a:effectLst/>
      </p:bgPr>
    </p:bg>
    <p:spTree>
      <p:nvGrpSpPr>
        <p:cNvPr id="1" name=""/>
        <p:cNvGrpSpPr/>
        <p:nvPr/>
      </p:nvGrpSpPr>
      <p:grpSpPr/>
      <p:sp>
        <p:nvSpPr>
          <p:cNvPr id="2" name="TextBox 1"/>
          <p:cNvSpPr txBox="1"/>
          <p:nvPr/>
        </p:nvSpPr>
        <p:spPr>
          <a:xfrm>
            <a:off x="11048695" y="6291072"/>
            <a:ext cx="640080" cy="274320"/>
          </a:xfrm>
          <a:prstGeom prst="rect">
            <a:avLst/>
          </a:prstGeom>
          <a:noFill/>
        </p:spPr>
        <p:txBody>
          <a:bodyPr wrap="none" lIns="0" rIns="0" tIns="0" bIns="0">
            <a:spAutoFit/>
          </a:bodyPr>
          <a:lstStyle/>
          <a:p>
            <a:pPr algn="r"/>
            <a:r>
              <a:rPr sz="1100" b="0">
                <a:solidFill>
                  <a:srgbClr val="8FA6C0"/>
                </a:solidFill>
                <a:latin typeface="Meiryo"/>
                <a:ea typeface="Meiryo"/>
                <a:cs typeface="Meiryo"/>
              </a:rPr>
              <a:t>1</a:t>
            </a:r>
          </a:p>
        </p:txBody>
      </p:sp>
      <p:sp>
        <p:nvSpPr>
          <p:cNvPr id="3" name="TextBox 2"/>
          <p:cNvSpPr txBox="1"/>
          <p:nvPr/>
        </p:nvSpPr>
        <p:spPr>
          <a:xfrm>
            <a:off x="914400" y="1783080"/>
            <a:ext cx="10362895" cy="1371600"/>
          </a:xfrm>
          <a:prstGeom prst="rect">
            <a:avLst/>
          </a:prstGeom>
          <a:noFill/>
        </p:spPr>
        <p:txBody>
          <a:bodyPr wrap="square" anchor="t" lIns="0" rIns="0" tIns="0" bIns="0">
            <a:spAutoFit/>
          </a:bodyPr>
          <a:lstStyle/>
          <a:p>
            <a:pPr algn="ctr">
              <a:lnSpc>
                <a:spcPct val="128000"/>
              </a:lnSpc>
              <a:spcAft>
                <a:spcPts val="600"/>
              </a:spcAft>
            </a:pPr>
            <a:r>
              <a:rPr sz="3200" b="1">
                <a:solidFill>
                  <a:srgbClr val="FFFFFF"/>
                </a:solidFill>
                <a:latin typeface="Meiryo"/>
                <a:ea typeface="Meiryo"/>
                <a:cs typeface="Meiryo"/>
              </a:rPr>
              <a:t>多種資源動態モデルを用いた
レジーム別最大持続生産量（MSY）の推定</a:t>
            </a:r>
          </a:p>
        </p:txBody>
      </p:sp>
      <p:sp>
        <p:nvSpPr>
          <p:cNvPr id="4" name="TextBox 3"/>
          <p:cNvSpPr txBox="1"/>
          <p:nvPr/>
        </p:nvSpPr>
        <p:spPr>
          <a:xfrm>
            <a:off x="914400" y="4160520"/>
            <a:ext cx="10362895" cy="1005840"/>
          </a:xfrm>
          <a:prstGeom prst="rect">
            <a:avLst/>
          </a:prstGeom>
          <a:noFill/>
        </p:spPr>
        <p:txBody>
          <a:bodyPr wrap="square" anchor="t" lIns="0" rIns="0" tIns="0" bIns="0">
            <a:spAutoFit/>
          </a:bodyPr>
          <a:lstStyle/>
          <a:p>
            <a:pPr algn="ctr">
              <a:lnSpc>
                <a:spcPct val="132000"/>
              </a:lnSpc>
              <a:spcAft>
                <a:spcPts val="1000"/>
              </a:spcAft>
            </a:pPr>
            <a:r>
              <a:rPr sz="2000" b="0">
                <a:solidFill>
                  <a:srgbClr val="FFFFFF"/>
                </a:solidFill>
                <a:latin typeface="Meiryo"/>
                <a:ea typeface="Meiryo"/>
                <a:cs typeface="Meiryo"/>
              </a:rPr>
              <a:t>福岡 駿也（名古屋大学）</a:t>
            </a:r>
          </a:p>
          <a:p>
            <a:pPr algn="ctr">
              <a:lnSpc>
                <a:spcPct val="132000"/>
              </a:lnSpc>
              <a:spcAft>
                <a:spcPts val="1000"/>
              </a:spcAft>
            </a:pPr>
            <a:r>
              <a:rPr sz="1500" b="0">
                <a:solidFill>
                  <a:srgbClr val="C9D6E4"/>
                </a:solidFill>
                <a:latin typeface="Meiryo"/>
                <a:ea typeface="Meiryo"/>
                <a:cs typeface="Meiryo"/>
              </a:rPr>
              <a:t>日本数理生物学会 2026年大会　2026年9月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黒潮の流れ方が変わると、近海の魚のとれ方も変わる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本研究は、黒潮が大きく蛇行する時期とそうでない時期に分けて、4魚種の増減を同じ式で説明する。</a:t>
            </a:r>
          </a:p>
        </p:txBody>
      </p:sp>
      <p:pic>
        <p:nvPicPr>
          <p:cNvPr id="5" name="Picture 4" descr="01_資源量の移り変わり.png"/>
          <p:cNvPicPr>
            <a:picLocks noChangeAspect="1"/>
          </p:cNvPicPr>
          <p:nvPr/>
        </p:nvPicPr>
        <p:blipFill>
          <a:blip r:embed="rId2"/>
          <a:stretch>
            <a:fillRect/>
          </a:stretch>
        </p:blipFill>
        <p:spPr>
          <a:xfrm>
            <a:off x="566928" y="1874519"/>
            <a:ext cx="11055096" cy="2788920"/>
          </a:xfrm>
          <a:prstGeom prst="rect">
            <a:avLst/>
          </a:prstGeom>
        </p:spPr>
      </p:pic>
      <p:sp>
        <p:nvSpPr>
          <p:cNvPr id="6" name="figlabel"/>
          <p:cNvSpPr txBox="1"/>
          <p:nvPr/>
        </p:nvSpPr>
        <p:spPr>
          <a:xfrm>
            <a:off x="1847488" y="2004273"/>
            <a:ext cx="5600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マアジ</a:t>
            </a:r>
          </a:p>
        </p:txBody>
      </p:sp>
      <p:sp>
        <p:nvSpPr>
          <p:cNvPr id="7" name="figlabel"/>
          <p:cNvSpPr txBox="1"/>
          <p:nvPr/>
        </p:nvSpPr>
        <p:spPr>
          <a:xfrm>
            <a:off x="4363924" y="2004273"/>
            <a:ext cx="10744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ウルメイワシ</a:t>
            </a:r>
          </a:p>
        </p:txBody>
      </p:sp>
      <p:sp>
        <p:nvSpPr>
          <p:cNvPr id="8" name="figlabel"/>
          <p:cNvSpPr txBox="1"/>
          <p:nvPr/>
        </p:nvSpPr>
        <p:spPr>
          <a:xfrm>
            <a:off x="7480435" y="2004273"/>
            <a:ext cx="3886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ブリ</a:t>
            </a:r>
          </a:p>
        </p:txBody>
      </p:sp>
      <p:sp>
        <p:nvSpPr>
          <p:cNvPr id="9" name="figlabel"/>
          <p:cNvSpPr txBox="1"/>
          <p:nvPr/>
        </p:nvSpPr>
        <p:spPr>
          <a:xfrm>
            <a:off x="10168321" y="2004273"/>
            <a:ext cx="5600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サワラ</a:t>
            </a:r>
          </a:p>
        </p:txBody>
      </p:sp>
      <p:sp>
        <p:nvSpPr>
          <p:cNvPr id="10" name="figlabel"/>
          <p:cNvSpPr txBox="1"/>
          <p:nvPr/>
        </p:nvSpPr>
        <p:spPr>
          <a:xfrm>
            <a:off x="1592345" y="2386683"/>
            <a:ext cx="712470" cy="191642"/>
          </a:xfrm>
          <a:prstGeom prst="rect">
            <a:avLst/>
          </a:prstGeom>
          <a:noFill/>
        </p:spPr>
        <p:txBody>
          <a:bodyPr wrap="none" anchor="ctr" lIns="0" rIns="0" tIns="0" bIns="0">
            <a:spAutoFit/>
          </a:bodyPr>
          <a:lstStyle/>
          <a:p>
            <a:pPr algn="ctr">
              <a:lnSpc>
                <a:spcPct val="120000"/>
              </a:lnSpc>
              <a:spcAft>
                <a:spcPts val="0"/>
              </a:spcAft>
            </a:pPr>
            <a:r>
              <a:rPr sz="1050" b="0">
                <a:solidFill>
                  <a:srgbClr val="6E6E6E"/>
                </a:solidFill>
                <a:latin typeface="Meiryo"/>
                <a:ea typeface="Meiryo"/>
                <a:cs typeface="Meiryo"/>
              </a:rPr>
              <a:t>大蛇行なし</a:t>
            </a:r>
          </a:p>
        </p:txBody>
      </p:sp>
      <p:sp>
        <p:nvSpPr>
          <p:cNvPr id="11" name="figlabel"/>
          <p:cNvSpPr txBox="1"/>
          <p:nvPr/>
        </p:nvSpPr>
        <p:spPr>
          <a:xfrm>
            <a:off x="2709880" y="2386683"/>
            <a:ext cx="445770" cy="191642"/>
          </a:xfrm>
          <a:prstGeom prst="rect">
            <a:avLst/>
          </a:prstGeom>
          <a:noFill/>
        </p:spPr>
        <p:txBody>
          <a:bodyPr wrap="none" anchor="ctr" lIns="0" rIns="0" tIns="0" bIns="0">
            <a:spAutoFit/>
          </a:bodyPr>
          <a:lstStyle/>
          <a:p>
            <a:pPr algn="ctr">
              <a:lnSpc>
                <a:spcPct val="120000"/>
              </a:lnSpc>
              <a:spcAft>
                <a:spcPts val="0"/>
              </a:spcAft>
            </a:pPr>
            <a:r>
              <a:rPr sz="1050" b="0">
                <a:solidFill>
                  <a:srgbClr val="C0561A"/>
                </a:solidFill>
                <a:latin typeface="Meiryo"/>
                <a:ea typeface="Meiryo"/>
                <a:cs typeface="Meiryo"/>
              </a:rPr>
              <a:t>大蛇行</a:t>
            </a:r>
          </a:p>
        </p:txBody>
      </p:sp>
      <p:sp>
        <p:nvSpPr>
          <p:cNvPr id="12" name="figlabel"/>
          <p:cNvSpPr txBox="1"/>
          <p:nvPr/>
        </p:nvSpPr>
        <p:spPr>
          <a:xfrm>
            <a:off x="2470023" y="4461751"/>
            <a:ext cx="7248905" cy="208153"/>
          </a:xfrm>
          <a:prstGeom prst="rect">
            <a:avLst/>
          </a:prstGeom>
          <a:noFill/>
        </p:spPr>
        <p:txBody>
          <a:bodyPr wrap="none" anchor="ctr" lIns="0" rIns="0" tIns="0" bIns="0">
            <a:spAutoFit/>
          </a:bodyPr>
          <a:lstStyle/>
          <a:p>
            <a:pPr algn="ctr">
              <a:lnSpc>
                <a:spcPct val="120000"/>
              </a:lnSpc>
              <a:spcAft>
                <a:spcPts val="0"/>
              </a:spcAft>
            </a:pPr>
            <a:r>
              <a:rPr sz="1150" b="0">
                <a:solidFill>
                  <a:srgbClr val="6E6E6E"/>
                </a:solidFill>
                <a:latin typeface="Meiryo"/>
                <a:ea typeface="Meiryo"/>
                <a:cs typeface="Meiryo"/>
              </a:rPr>
              <a:t>縦軸＝資源量（千トン）　／　青い帯＝大蛇行なし（2006〜2016年）　／　橙の帯＝大蛇行（2017〜2024年）</a:t>
            </a:r>
          </a:p>
        </p:txBody>
      </p:sp>
      <p:sp>
        <p:nvSpPr>
          <p:cNvPr id="13" name="TextBox 12"/>
          <p:cNvSpPr txBox="1"/>
          <p:nvPr/>
        </p:nvSpPr>
        <p:spPr>
          <a:xfrm>
            <a:off x="566928" y="5212080"/>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※「大蛇行が原因で魚が減った」とは言わない。時期で分けて比べるだけにとどめる。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MSY（とっていい量の上限）の「山」を作っているのは何か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3</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魚が1種だけのモデルでは、とるほど増えにくくなる「混み合いの効果」が山を作る。</a:t>
            </a:r>
          </a:p>
        </p:txBody>
      </p:sp>
      <p:pic>
        <p:nvPicPr>
          <p:cNvPr id="5" name="Picture 4" descr="02_山ができる.png"/>
          <p:cNvPicPr>
            <a:picLocks noChangeAspect="1"/>
          </p:cNvPicPr>
          <p:nvPr/>
        </p:nvPicPr>
        <p:blipFill>
          <a:blip r:embed="rId2"/>
          <a:stretch>
            <a:fillRect/>
          </a:stretch>
        </p:blipFill>
        <p:spPr>
          <a:xfrm>
            <a:off x="566928" y="1737360"/>
            <a:ext cx="5212080" cy="3063240"/>
          </a:xfrm>
          <a:prstGeom prst="rect">
            <a:avLst/>
          </a:prstGeom>
        </p:spPr>
      </p:pic>
      <p:sp>
        <p:nvSpPr>
          <p:cNvPr id="6" name="figlabel"/>
          <p:cNvSpPr txBox="1"/>
          <p:nvPr/>
        </p:nvSpPr>
        <p:spPr>
          <a:xfrm>
            <a:off x="2225649" y="1781068"/>
            <a:ext cx="2363723" cy="241173"/>
          </a:xfrm>
          <a:prstGeom prst="rect">
            <a:avLst/>
          </a:prstGeom>
          <a:noFill/>
        </p:spPr>
        <p:txBody>
          <a:bodyPr wrap="none" anchor="ctr" lIns="0" rIns="0" tIns="0" bIns="0">
            <a:spAutoFit/>
          </a:bodyPr>
          <a:lstStyle/>
          <a:p>
            <a:pPr algn="ctr">
              <a:lnSpc>
                <a:spcPct val="120000"/>
              </a:lnSpc>
              <a:spcAft>
                <a:spcPts val="0"/>
              </a:spcAft>
            </a:pPr>
            <a:r>
              <a:rPr sz="1350" b="0">
                <a:solidFill>
                  <a:srgbClr val="1F4E79"/>
                </a:solidFill>
                <a:latin typeface="Meiryo"/>
                <a:ea typeface="Meiryo"/>
                <a:cs typeface="Meiryo"/>
              </a:rPr>
              <a:t>1種だけのモデル：山ができる</a:t>
            </a:r>
          </a:p>
        </p:txBody>
      </p:sp>
      <p:sp>
        <p:nvSpPr>
          <p:cNvPr id="7" name="figlabel"/>
          <p:cNvSpPr txBox="1"/>
          <p:nvPr/>
        </p:nvSpPr>
        <p:spPr>
          <a:xfrm>
            <a:off x="1970379" y="4524908"/>
            <a:ext cx="2874263"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漁獲率 f（1年に資源量の何割をとるか）</a:t>
            </a:r>
          </a:p>
        </p:txBody>
      </p:sp>
      <p:sp>
        <p:nvSpPr>
          <p:cNvPr id="8" name="figlabel"/>
          <p:cNvSpPr txBox="1"/>
          <p:nvPr/>
        </p:nvSpPr>
        <p:spPr>
          <a:xfrm>
            <a:off x="1300788" y="2131366"/>
            <a:ext cx="997965"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1年にとれる量</a:t>
            </a:r>
          </a:p>
        </p:txBody>
      </p:sp>
      <p:sp>
        <p:nvSpPr>
          <p:cNvPr id="9" name="figlabel"/>
          <p:cNvSpPr txBox="1"/>
          <p:nvPr/>
        </p:nvSpPr>
        <p:spPr>
          <a:xfrm>
            <a:off x="4242845" y="2811465"/>
            <a:ext cx="839470" cy="431038"/>
          </a:xfrm>
          <a:prstGeom prst="rect">
            <a:avLst/>
          </a:prstGeom>
          <a:noFill/>
        </p:spPr>
        <p:txBody>
          <a:bodyPr wrap="none" anchor="ctr" lIns="0" rIns="0" tIns="0" bIns="0">
            <a:spAutoFit/>
          </a:bodyPr>
          <a:lstStyle/>
          <a:p>
            <a:pPr algn="ctr">
              <a:lnSpc>
                <a:spcPct val="120000"/>
              </a:lnSpc>
              <a:spcAft>
                <a:spcPts val="0"/>
              </a:spcAft>
            </a:pPr>
            <a:r>
              <a:rPr sz="1250" b="0">
                <a:solidFill>
                  <a:srgbClr val="C0561A"/>
                </a:solidFill>
                <a:latin typeface="Meiryo"/>
                <a:ea typeface="Meiryo"/>
                <a:cs typeface="Meiryo"/>
              </a:rPr>
              <a:t>ここが最大</a:t>
            </a:r>
          </a:p>
          <a:p>
            <a:pPr algn="ctr">
              <a:lnSpc>
                <a:spcPct val="120000"/>
              </a:lnSpc>
              <a:spcAft>
                <a:spcPts val="0"/>
              </a:spcAft>
            </a:pPr>
            <a:r>
              <a:rPr sz="1250" b="0">
                <a:solidFill>
                  <a:srgbClr val="C0561A"/>
                </a:solidFill>
                <a:latin typeface="Meiryo"/>
                <a:ea typeface="Meiryo"/>
                <a:cs typeface="Meiryo"/>
              </a:rPr>
              <a:t>（MSY）</a:t>
            </a:r>
          </a:p>
        </p:txBody>
      </p:sp>
      <p:sp>
        <p:nvSpPr>
          <p:cNvPr id="10" name="TextBox 9"/>
          <p:cNvSpPr txBox="1"/>
          <p:nvPr/>
        </p:nvSpPr>
        <p:spPr>
          <a:xfrm>
            <a:off x="6172200" y="1783080"/>
            <a:ext cx="5440680" cy="365760"/>
          </a:xfrm>
          <a:prstGeom prst="rect">
            <a:avLst/>
          </a:prstGeom>
          <a:noFill/>
        </p:spPr>
        <p:txBody>
          <a:bodyPr wrap="square" anchor="t" lIns="0" rIns="0" tIns="0" bIns="0">
            <a:spAutoFit/>
          </a:bodyPr>
          <a:lstStyle/>
          <a:p>
            <a:pPr algn="l">
              <a:lnSpc>
                <a:spcPct val="132000"/>
              </a:lnSpc>
              <a:spcAft>
                <a:spcPts val="600"/>
              </a:spcAft>
            </a:pPr>
            <a:r>
              <a:rPr sz="1800" b="1">
                <a:solidFill>
                  <a:srgbClr val="1F4E79"/>
                </a:solidFill>
                <a:latin typeface="Meiryo"/>
                <a:ea typeface="Meiryo"/>
                <a:cs typeface="Meiryo"/>
              </a:rPr>
              <a:t>山ができる理由</a:t>
            </a:r>
          </a:p>
        </p:txBody>
      </p:sp>
      <p:sp>
        <p:nvSpPr>
          <p:cNvPr id="11" name="TextBox 10"/>
          <p:cNvSpPr txBox="1"/>
          <p:nvPr/>
        </p:nvSpPr>
        <p:spPr>
          <a:xfrm>
            <a:off x="6172200" y="2286000"/>
            <a:ext cx="5440680" cy="64008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とればとるほど魚が減り、増えにくくなる。この効果が式に入っていると、</a:t>
            </a:r>
          </a:p>
        </p:txBody>
      </p:sp>
      <p:sp>
        <p:nvSpPr>
          <p:cNvPr id="12" name="TextBox 11"/>
          <p:cNvSpPr txBox="1"/>
          <p:nvPr/>
        </p:nvSpPr>
        <p:spPr>
          <a:xfrm>
            <a:off x="6355080" y="3017520"/>
            <a:ext cx="5257800" cy="1280160"/>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1" dirty="0">
                      <a:solidFill>
                        <a:srgbClr val="222222"/>
                      </a:solidFill>
                      <a:latin typeface="Cambria Math" panose="02040503050406030204" pitchFamily="18" charset="0"/>
                    </a:rPr>
                    <m:t xml:space="preserve">K</m:t>
                  </m:r>
                  <m:d>
                    <m:dPr>
                      <m:begChr m:val="("/>
                      <m:endChr m:val=")"/>
                      <m:ctrlPr>
                        <a:rPr lang="en-US" sz="1600" b="0" i="1" dirty="0">
                          <a:solidFill>
                            <a:srgbClr val="222222"/>
                          </a:solidFill>
                          <a:latin typeface="Cambria Math" panose="02040503050406030204" pitchFamily="18" charset="0"/>
                        </a:rPr>
                      </m:ctrlPr>
                    </m:dPr>
                    <m:e>
                      <m:r>
                        <a:rPr lang="en-US" sz="1600" b="0" i="0" dirty="0">
                          <a:solidFill>
                            <a:srgbClr val="222222"/>
                          </a:solidFill>
                          <a:latin typeface="Cambria Math" panose="02040503050406030204" pitchFamily="18" charset="0"/>
                        </a:rPr>
                        <m:t xml:space="preserve">1</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1" dirty="0">
                              <a:solidFill>
                                <a:srgbClr val="222222"/>
                              </a:solidFill>
                              <a:latin typeface="Cambria Math" panose="02040503050406030204" pitchFamily="18" charset="0"/>
                            </a:rPr>
                            <m:t xml:space="preserve">f</m:t>
                          </m:r>
                        </m:num>
                        <m:den>
                          <m:r>
                            <a:rPr lang="en-US" sz="1600" b="0" i="1" dirty="0">
                              <a:solidFill>
                                <a:srgbClr val="222222"/>
                              </a:solidFill>
                              <a:latin typeface="Cambria Math" panose="02040503050406030204" pitchFamily="18" charset="0"/>
                            </a:rPr>
                            <m:t xml:space="preserve">r</m:t>
                          </m:r>
                        </m:den>
                      </m:f>
                    </m:e>
                  </m:d>
                </m:oMath>
              </m:oMathPara>
            </a14:m>
            <a:endParaRPr lang="en-US" sz="1600" dirty="0"/>
          </a:p>
          <a:p>
            <a:pPr marL="0" indent="0">
              <a:spcAft>
                <a:spcPts val="700"/>
              </a:spcAft>
            </a:pPr>
            <a14:m xmlns:a14="http://schemas.microsoft.com/office/drawing/2010/main">
              <m:oMathPara xmlns:m="http://schemas.openxmlformats.org/officeDocument/2006/math">
                <m:oMathParaPr>
                  <m:jc m:val="left"/>
                </m:oMathParaPr>
                <m:oMath>
                  <m:r>
                    <a:rPr lang="en-US" sz="1600" b="0" i="1" dirty="0">
                      <a:solidFill>
                        <a:srgbClr val="222222"/>
                      </a:solidFill>
                      <a:latin typeface="Cambria Math" panose="02040503050406030204" pitchFamily="18" charset="0"/>
                    </a:rPr>
                    <m:t xml:space="preserve">Y</m:t>
                  </m:r>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1" dirty="0">
                      <a:solidFill>
                        <a:srgbClr val="222222"/>
                      </a:solidFill>
                      <a:latin typeface="Cambria Math" panose="02040503050406030204" pitchFamily="18" charset="0"/>
                    </a:rPr>
                    <m:t xml:space="preserve">K</m:t>
                  </m:r>
                  <m:r>
                    <a:rPr lang="en-US" sz="1600" b="0" i="1" dirty="0">
                      <a:solidFill>
                        <a:srgbClr val="222222"/>
                      </a:solidFill>
                      <a:latin typeface="Cambria Math" panose="02040503050406030204" pitchFamily="18" charset="0"/>
                    </a:rPr>
                    <m:t xml:space="preserve">f</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1" dirty="0">
                          <a:solidFill>
                            <a:srgbClr val="222222"/>
                          </a:solidFill>
                          <a:latin typeface="Cambria Math" panose="02040503050406030204" pitchFamily="18" charset="0"/>
                        </a:rPr>
                        <m:t xml:space="preserve">K</m:t>
                      </m:r>
                    </m:num>
                    <m:den>
                      <m:r>
                        <a:rPr lang="en-US" sz="1600" b="0" i="1" dirty="0">
                          <a:solidFill>
                            <a:srgbClr val="222222"/>
                          </a:solidFill>
                          <a:latin typeface="Cambria Math" panose="02040503050406030204" pitchFamily="18" charset="0"/>
                        </a:rPr>
                        <m:t xml:space="preserve">r</m:t>
                      </m:r>
                    </m:den>
                  </m:f>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f</m:t>
                      </m:r>
                    </m:e>
                    <m:sup>
                      <m:r>
                        <a:rPr lang="en-US" sz="1600" b="0" i="0" dirty="0">
                          <a:solidFill>
                            <a:srgbClr val="222222"/>
                          </a:solidFill>
                          <a:latin typeface="Cambria Math" panose="02040503050406030204" pitchFamily="18" charset="0"/>
                        </a:rPr>
                        <m:t xml:space="preserve">2</m:t>
                      </m:r>
                    </m:sup>
                  </m:sSup>
                </m:oMath>
              </m:oMathPara>
            </a14:m>
            <a:endParaRPr lang="en-US" sz="1600" dirty="0"/>
          </a:p>
        </p:txBody>
      </p:sp>
      <p:sp>
        <p:nvSpPr>
          <p:cNvPr id="13" name="Rectangle 12"/>
          <p:cNvSpPr/>
          <p:nvPr/>
        </p:nvSpPr>
        <p:spPr>
          <a:xfrm>
            <a:off x="6172200" y="4434840"/>
            <a:ext cx="5440680"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27648" y="4553712"/>
            <a:ext cx="5129784" cy="36576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2乗の項があるから山になる</a:t>
            </a:r>
          </a:p>
        </p:txBody>
      </p:sp>
      <p:sp>
        <p:nvSpPr>
          <p:cNvPr id="15" name="Rectangle 14"/>
          <p:cNvSpPr/>
          <p:nvPr/>
        </p:nvSpPr>
        <p:spPr>
          <a:xfrm>
            <a:off x="566928" y="5285232"/>
            <a:ext cx="11057839" cy="86868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5413248"/>
            <a:ext cx="10655503" cy="658368"/>
          </a:xfrm>
          <a:prstGeom prst="rect">
            <a:avLst/>
          </a:prstGeom>
          <a:noFill/>
        </p:spPr>
        <p:txBody>
          <a:bodyPr wrap="square" anchor="t" lIns="0" rIns="0" tIns="0" bIns="0">
            <a:spAutoFit/>
          </a:bodyPr>
          <a:lstStyle/>
          <a:p>
            <a:pPr algn="l">
              <a:lnSpc>
                <a:spcPct val="132000"/>
              </a:lnSpc>
              <a:spcAft>
                <a:spcPts val="400"/>
              </a:spcAft>
            </a:pPr>
            <a:r>
              <a:rPr sz="1800" b="1">
                <a:solidFill>
                  <a:srgbClr val="C0561A"/>
                </a:solidFill>
                <a:latin typeface="Meiryo"/>
                <a:ea typeface="Meiryo"/>
                <a:cs typeface="Meiryo"/>
              </a:rPr>
              <a:t>問い：混み合いの効果を入れない多種のモデルでは、MSY はどう決まるのか。</a:t>
            </a:r>
          </a:p>
          <a:p>
            <a:pPr algn="l">
              <a:lnSpc>
                <a:spcPct val="132000"/>
              </a:lnSpc>
              <a:spcAft>
                <a:spcPts val="400"/>
              </a:spcAft>
            </a:pPr>
            <a:r>
              <a:rPr sz="1600" b="0">
                <a:solidFill>
                  <a:srgbClr val="222222"/>
                </a:solidFill>
                <a:latin typeface="Meiryo"/>
                <a:ea typeface="Meiryo"/>
                <a:cs typeface="Meiryo"/>
              </a:rPr>
              <a:t>本発表の答え：内側には決まらない。報告される値は、探索範囲の上限そのものになる。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餌の魚2種と、それを食べる魚2種</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4</a:t>
            </a:r>
          </a:p>
        </p:txBody>
      </p:sp>
      <p:sp>
        <p:nvSpPr>
          <p:cNvPr id="4" name="Rectangle 3"/>
          <p:cNvSpPr/>
          <p:nvPr/>
        </p:nvSpPr>
        <p:spPr>
          <a:xfrm>
            <a:off x="1417320" y="1554480"/>
            <a:ext cx="1920240" cy="4754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417320" y="167335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ブリ  y1</a:t>
            </a:r>
          </a:p>
        </p:txBody>
      </p:sp>
      <p:sp>
        <p:nvSpPr>
          <p:cNvPr id="6" name="Rectangle 5"/>
          <p:cNvSpPr/>
          <p:nvPr/>
        </p:nvSpPr>
        <p:spPr>
          <a:xfrm>
            <a:off x="3794760" y="1554480"/>
            <a:ext cx="1920240" cy="4754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3794760" y="167335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サワラ  y2</a:t>
            </a:r>
          </a:p>
        </p:txBody>
      </p:sp>
      <p:sp>
        <p:nvSpPr>
          <p:cNvPr id="8" name="Rectangle 7"/>
          <p:cNvSpPr/>
          <p:nvPr/>
        </p:nvSpPr>
        <p:spPr>
          <a:xfrm>
            <a:off x="1417320" y="3200400"/>
            <a:ext cx="1920240" cy="47548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417320" y="331927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マアジ  x1</a:t>
            </a:r>
          </a:p>
        </p:txBody>
      </p:sp>
      <p:sp>
        <p:nvSpPr>
          <p:cNvPr id="10" name="Rectangle 9"/>
          <p:cNvSpPr/>
          <p:nvPr/>
        </p:nvSpPr>
        <p:spPr>
          <a:xfrm>
            <a:off x="3794760" y="3200400"/>
            <a:ext cx="1920240" cy="47548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794760" y="3319272"/>
            <a:ext cx="1920240" cy="274320"/>
          </a:xfrm>
          <a:prstGeom prst="rect">
            <a:avLst/>
          </a:prstGeom>
          <a:noFill/>
        </p:spPr>
        <p:txBody>
          <a:bodyPr wrap="square" anchor="t" lIns="0" rIns="0" tIns="0" bIns="0">
            <a:spAutoFit/>
          </a:bodyPr>
          <a:lstStyle/>
          <a:p>
            <a:pPr algn="ctr">
              <a:lnSpc>
                <a:spcPct val="132000"/>
              </a:lnSpc>
              <a:spcAft>
                <a:spcPts val="600"/>
              </a:spcAft>
            </a:pPr>
            <a:r>
              <a:rPr sz="1400" b="0">
                <a:solidFill>
                  <a:srgbClr val="222222"/>
                </a:solidFill>
                <a:latin typeface="Meiryo"/>
                <a:ea typeface="Meiryo"/>
                <a:cs typeface="Meiryo"/>
              </a:rPr>
              <a:t>ウルメイワシ  x2</a:t>
            </a:r>
          </a:p>
        </p:txBody>
      </p:sp>
      <p:cxnSp>
        <p:nvCxnSpPr>
          <p:cNvPr id="12" name="Connector 11"/>
          <p:cNvCxnSpPr/>
          <p:nvPr/>
        </p:nvCxnSpPr>
        <p:spPr>
          <a:xfrm flipV="1">
            <a:off x="2377440" y="2029968"/>
            <a:ext cx="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377440" y="2029968"/>
            <a:ext cx="237744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2377440" y="2029968"/>
            <a:ext cx="237744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754880" y="2029968"/>
            <a:ext cx="0" cy="1170432"/>
          </a:xfrm>
          <a:prstGeom prst="line">
            <a:avLst/>
          </a:prstGeom>
          <a:ln w="1905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6928" y="1645920"/>
            <a:ext cx="822960" cy="274320"/>
          </a:xfrm>
          <a:prstGeom prst="rect">
            <a:avLst/>
          </a:prstGeom>
          <a:noFill/>
        </p:spPr>
        <p:txBody>
          <a:bodyPr wrap="square" anchor="t" lIns="0" rIns="0" tIns="0" bIns="0">
            <a:spAutoFit/>
          </a:bodyPr>
          <a:lstStyle/>
          <a:p>
            <a:pPr algn="l">
              <a:lnSpc>
                <a:spcPct val="132000"/>
              </a:lnSpc>
              <a:spcAft>
                <a:spcPts val="600"/>
              </a:spcAft>
            </a:pPr>
            <a:r>
              <a:rPr sz="1150" b="0">
                <a:solidFill>
                  <a:srgbClr val="C0561A"/>
                </a:solidFill>
                <a:latin typeface="Meiryo"/>
                <a:ea typeface="Meiryo"/>
                <a:cs typeface="Meiryo"/>
              </a:rPr>
              <a:t>食べる魚</a:t>
            </a:r>
          </a:p>
        </p:txBody>
      </p:sp>
      <p:sp>
        <p:nvSpPr>
          <p:cNvPr id="17" name="TextBox 16"/>
          <p:cNvSpPr txBox="1"/>
          <p:nvPr/>
        </p:nvSpPr>
        <p:spPr>
          <a:xfrm>
            <a:off x="566928" y="3291840"/>
            <a:ext cx="822960" cy="274320"/>
          </a:xfrm>
          <a:prstGeom prst="rect">
            <a:avLst/>
          </a:prstGeom>
          <a:noFill/>
        </p:spPr>
        <p:txBody>
          <a:bodyPr wrap="square" anchor="t" lIns="0" rIns="0" tIns="0" bIns="0">
            <a:spAutoFit/>
          </a:bodyPr>
          <a:lstStyle/>
          <a:p>
            <a:pPr algn="l">
              <a:lnSpc>
                <a:spcPct val="132000"/>
              </a:lnSpc>
              <a:spcAft>
                <a:spcPts val="600"/>
              </a:spcAft>
            </a:pPr>
            <a:r>
              <a:rPr sz="1150" b="0">
                <a:solidFill>
                  <a:srgbClr val="1F4E79"/>
                </a:solidFill>
                <a:latin typeface="Meiryo"/>
                <a:ea typeface="Meiryo"/>
                <a:cs typeface="Meiryo"/>
              </a:rPr>
              <a:t>餌の魚</a:t>
            </a:r>
          </a:p>
        </p:txBody>
      </p:sp>
      <p:sp>
        <p:nvSpPr>
          <p:cNvPr id="18" name="TextBox 17"/>
          <p:cNvSpPr txBox="1"/>
          <p:nvPr/>
        </p:nvSpPr>
        <p:spPr>
          <a:xfrm>
            <a:off x="566928" y="3913632"/>
            <a:ext cx="5212080" cy="274320"/>
          </a:xfrm>
          <a:prstGeom prst="rect">
            <a:avLst/>
          </a:prstGeom>
          <a:noFill/>
        </p:spPr>
        <p:txBody>
          <a:bodyPr wrap="square" anchor="t" lIns="0" rIns="0" tIns="0" bIns="0">
            <a:spAutoFit/>
          </a:bodyPr>
          <a:lstStyle/>
          <a:p>
            <a:pPr algn="l">
              <a:lnSpc>
                <a:spcPct val="132000"/>
              </a:lnSpc>
              <a:spcAft>
                <a:spcPts val="600"/>
              </a:spcAft>
            </a:pPr>
            <a:r>
              <a:rPr sz="1200" b="0">
                <a:solidFill>
                  <a:srgbClr val="6E6E6E"/>
                </a:solidFill>
                <a:latin typeface="Meiryo"/>
                <a:ea typeface="Meiryo"/>
                <a:cs typeface="Meiryo"/>
              </a:rPr>
              <a:t>矢印＝食べる関係（4本すべてを式に入れる）</a:t>
            </a:r>
          </a:p>
        </p:txBody>
      </p:sp>
      <p:sp>
        <p:nvSpPr>
          <p:cNvPr id="19" name="TextBox 18"/>
          <p:cNvSpPr txBox="1"/>
          <p:nvPr/>
        </p:nvSpPr>
        <p:spPr>
          <a:xfrm>
            <a:off x="566928" y="4261104"/>
            <a:ext cx="5212080" cy="274320"/>
          </a:xfrm>
          <a:prstGeom prst="rect">
            <a:avLst/>
          </a:prstGeom>
          <a:noFill/>
        </p:spPr>
        <p:txBody>
          <a:bodyPr wrap="square" anchor="t" lIns="0" rIns="0" tIns="0" bIns="0">
            <a:spAutoFit/>
          </a:bodyPr>
          <a:lstStyle/>
          <a:p>
            <a:pPr algn="l">
              <a:lnSpc>
                <a:spcPct val="132000"/>
              </a:lnSpc>
              <a:spcAft>
                <a:spcPts val="600"/>
              </a:spcAft>
            </a:pPr>
            <a:r>
              <a:rPr sz="1300" b="0">
                <a:solidFill>
                  <a:srgbClr val="C0561A"/>
                </a:solidFill>
                <a:latin typeface="Meiryo"/>
                <a:ea typeface="Meiryo"/>
                <a:cs typeface="Meiryo"/>
              </a:rPr>
              <a:t>同じ段の魚どうしの取り合いは、式に入れていない</a:t>
            </a:r>
          </a:p>
        </p:txBody>
      </p:sp>
      <p:graphicFrame>
        <p:nvGraphicFramePr>
          <p:cNvPr id="20" name="Table 19"/>
          <p:cNvGraphicFramePr>
            <a:graphicFrameLocks noGrp="1"/>
          </p:cNvGraphicFramePr>
          <p:nvPr/>
        </p:nvGraphicFramePr>
        <p:xfrm>
          <a:off x="5989320" y="1417320"/>
          <a:ext cx="5632703" cy="2066544"/>
        </p:xfrm>
        <a:graphic>
          <a:graphicData uri="http://schemas.openxmlformats.org/drawingml/2006/table">
            <a:tbl>
              <a:tblPr firstRow="1">
                <a:tableStyleId>{5C22544A-7EE6-4342-B048-85BDC9FD1C3A}</a:tableStyleId>
              </a:tblPr>
              <a:tblGrid>
                <a:gridCol w="1691640"/>
                <a:gridCol w="3941063"/>
              </a:tblGrid>
              <a:tr h="384048">
                <a:tc>
                  <a:txBody>
                    <a:bodyPr/>
                    <a:lstStyle/>
                    <a:p>
                      <a:pPr algn="l"/>
                      <a:r>
                        <a:rPr sz="1400" b="1">
                          <a:solidFill>
                            <a:srgbClr val="FFFFFF"/>
                          </a:solidFill>
                          <a:latin typeface="Meiryo"/>
                          <a:ea typeface="Meiryo"/>
                          <a:cs typeface="Meiryo"/>
                        </a:rPr>
                        <a:t>魚種</a:t>
                      </a:r>
                    </a:p>
                  </a:txBody>
                  <a:tcPr marL="91440" marR="73152" marT="27432" marB="27432" anchor="ctr">
                    <a:solidFill>
                      <a:srgbClr val="1F4E79"/>
                    </a:solidFill>
                  </a:tcPr>
                </a:tc>
                <a:tc>
                  <a:txBody>
                    <a:bodyPr/>
                    <a:lstStyle/>
                    <a:p>
                      <a:pPr algn="l"/>
                      <a:r>
                        <a:rPr sz="1400" b="1">
                          <a:solidFill>
                            <a:srgbClr val="FFFFFF"/>
                          </a:solidFill>
                          <a:latin typeface="Meiryo"/>
                          <a:ea typeface="Meiryo"/>
                          <a:cs typeface="Meiryo"/>
                        </a:rPr>
                        <a:t>資源量と漁獲量の出どころ</a:t>
                      </a:r>
                    </a:p>
                  </a:txBody>
                  <a:tcPr marL="91440" marR="73152" marT="27432" marB="27432" anchor="ctr">
                    <a:solidFill>
                      <a:srgbClr val="1F4E79"/>
                    </a:solidFill>
                  </a:tcPr>
                </a:tc>
              </a:tr>
              <a:tr h="420624">
                <a:tc>
                  <a:txBody>
                    <a:bodyPr/>
                    <a:lstStyle/>
                    <a:p>
                      <a:pPr algn="l"/>
                      <a:r>
                        <a:rPr sz="1400" b="0">
                          <a:solidFill>
                            <a:srgbClr val="222222"/>
                          </a:solidFill>
                          <a:latin typeface="Meiryo"/>
                          <a:ea typeface="Meiryo"/>
                          <a:cs typeface="Meiryo"/>
                        </a:rPr>
                        <a:t>マアジ</a:t>
                      </a:r>
                    </a:p>
                  </a:txBody>
                  <a:tcPr marL="91440" marR="73152" marT="27432" marB="27432" anchor="ctr">
                    <a:solidFill>
                      <a:srgbClr val="FFFFFF"/>
                    </a:solidFill>
                  </a:tcPr>
                </a:tc>
                <a:tc>
                  <a:txBody>
                    <a:bodyPr/>
                    <a:lstStyle/>
                    <a:p>
                      <a:pPr algn="l"/>
                      <a:r>
                        <a:rPr sz="1400" b="0">
                          <a:solidFill>
                            <a:srgbClr val="222222"/>
                          </a:solidFill>
                          <a:latin typeface="Meiryo"/>
                          <a:ea typeface="Meiryo"/>
                          <a:cs typeface="Meiryo"/>
                        </a:rPr>
                        <a:t>水産研究・教育機構（1982〜2024年）</a:t>
                      </a:r>
                    </a:p>
                  </a:txBody>
                  <a:tcPr marL="91440" marR="73152" marT="27432" marB="27432" anchor="ctr">
                    <a:solidFill>
                      <a:srgbClr val="FFFFFF"/>
                    </a:solidFill>
                  </a:tcPr>
                </a:tc>
              </a:tr>
              <a:tr h="420624">
                <a:tc>
                  <a:txBody>
                    <a:bodyPr/>
                    <a:lstStyle/>
                    <a:p>
                      <a:pPr algn="l"/>
                      <a:r>
                        <a:rPr sz="1400" b="0">
                          <a:solidFill>
                            <a:srgbClr val="222222"/>
                          </a:solidFill>
                          <a:latin typeface="Meiryo"/>
                          <a:ea typeface="Meiryo"/>
                          <a:cs typeface="Meiryo"/>
                        </a:rPr>
                        <a:t>ウルメイワシ</a:t>
                      </a:r>
                    </a:p>
                  </a:txBody>
                  <a:tcPr marL="91440" marR="73152" marT="27432" marB="27432" anchor="ctr">
                    <a:solidFill>
                      <a:srgbClr val="F2F5F9"/>
                    </a:solidFill>
                  </a:tcPr>
                </a:tc>
                <a:tc>
                  <a:txBody>
                    <a:bodyPr/>
                    <a:lstStyle/>
                    <a:p>
                      <a:pPr algn="l"/>
                      <a:r>
                        <a:rPr sz="1400" b="0">
                          <a:solidFill>
                            <a:srgbClr val="222222"/>
                          </a:solidFill>
                          <a:latin typeface="Meiryo"/>
                          <a:ea typeface="Meiryo"/>
                          <a:cs typeface="Meiryo"/>
                        </a:rPr>
                        <a:t>資源量の目安 ＋ 太平洋側12県の漁獲量</a:t>
                      </a:r>
                    </a:p>
                  </a:txBody>
                  <a:tcPr marL="91440" marR="73152" marT="27432" marB="27432" anchor="ctr">
                    <a:solidFill>
                      <a:srgbClr val="F2F5F9"/>
                    </a:solidFill>
                  </a:tcPr>
                </a:tc>
              </a:tr>
              <a:tr h="420624">
                <a:tc>
                  <a:txBody>
                    <a:bodyPr/>
                    <a:lstStyle/>
                    <a:p>
                      <a:pPr algn="l"/>
                      <a:r>
                        <a:rPr sz="1400" b="0">
                          <a:solidFill>
                            <a:srgbClr val="222222"/>
                          </a:solidFill>
                          <a:latin typeface="Meiryo"/>
                          <a:ea typeface="Meiryo"/>
                          <a:cs typeface="Meiryo"/>
                        </a:rPr>
                        <a:t>ブリ</a:t>
                      </a:r>
                    </a:p>
                  </a:txBody>
                  <a:tcPr marL="91440" marR="73152" marT="27432" marB="27432" anchor="ctr">
                    <a:solidFill>
                      <a:srgbClr val="FFFFFF"/>
                    </a:solidFill>
                  </a:tcPr>
                </a:tc>
                <a:tc>
                  <a:txBody>
                    <a:bodyPr/>
                    <a:lstStyle/>
                    <a:p>
                      <a:pPr algn="l"/>
                      <a:r>
                        <a:rPr sz="1400" b="0">
                          <a:solidFill>
                            <a:srgbClr val="222222"/>
                          </a:solidFill>
                          <a:latin typeface="Meiryo"/>
                          <a:ea typeface="Meiryo"/>
                          <a:cs typeface="Meiryo"/>
                        </a:rPr>
                        <a:t>水産研究・教育機構（1994〜2024年）</a:t>
                      </a:r>
                    </a:p>
                  </a:txBody>
                  <a:tcPr marL="91440" marR="73152" marT="27432" marB="27432" anchor="ctr">
                    <a:solidFill>
                      <a:srgbClr val="FFFFFF"/>
                    </a:solidFill>
                  </a:tcPr>
                </a:tc>
              </a:tr>
              <a:tr h="420624">
                <a:tc>
                  <a:txBody>
                    <a:bodyPr/>
                    <a:lstStyle/>
                    <a:p>
                      <a:pPr algn="l"/>
                      <a:r>
                        <a:rPr sz="1400" b="0">
                          <a:solidFill>
                            <a:srgbClr val="222222"/>
                          </a:solidFill>
                          <a:latin typeface="Meiryo"/>
                          <a:ea typeface="Meiryo"/>
                          <a:cs typeface="Meiryo"/>
                        </a:rPr>
                        <a:t>サワラ</a:t>
                      </a:r>
                    </a:p>
                  </a:txBody>
                  <a:tcPr marL="91440" marR="73152" marT="27432" marB="27432" anchor="ctr">
                    <a:solidFill>
                      <a:srgbClr val="F2F5F9"/>
                    </a:solidFill>
                  </a:tcPr>
                </a:tc>
                <a:tc>
                  <a:txBody>
                    <a:bodyPr/>
                    <a:lstStyle/>
                    <a:p>
                      <a:pPr algn="l"/>
                      <a:r>
                        <a:rPr sz="1400" b="0">
                          <a:solidFill>
                            <a:srgbClr val="222222"/>
                          </a:solidFill>
                          <a:latin typeface="Meiryo"/>
                          <a:ea typeface="Meiryo"/>
                          <a:cs typeface="Meiryo"/>
                        </a:rPr>
                        <a:t>水産研究・教育機構（1987〜2024年）</a:t>
                      </a:r>
                    </a:p>
                  </a:txBody>
                  <a:tcPr marL="91440" marR="73152" marT="27432" marB="27432" anchor="ctr">
                    <a:solidFill>
                      <a:srgbClr val="F2F5F9"/>
                    </a:solidFill>
                  </a:tcPr>
                </a:tc>
              </a:tr>
            </a:tbl>
          </a:graphicData>
        </a:graphic>
      </p:graphicFrame>
      <p:sp>
        <p:nvSpPr>
          <p:cNvPr id="21" name="TextBox 20"/>
          <p:cNvSpPr txBox="1"/>
          <p:nvPr/>
        </p:nvSpPr>
        <p:spPr>
          <a:xfrm>
            <a:off x="5989320" y="3584448"/>
            <a:ext cx="5632704" cy="320040"/>
          </a:xfrm>
          <a:prstGeom prst="rect">
            <a:avLst/>
          </a:prstGeom>
          <a:noFill/>
        </p:spPr>
        <p:txBody>
          <a:bodyPr wrap="square" anchor="t" lIns="0" rIns="0" tIns="0" bIns="0">
            <a:spAutoFit/>
          </a:bodyPr>
          <a:lstStyle/>
          <a:p>
            <a:pPr algn="l">
              <a:lnSpc>
                <a:spcPct val="132000"/>
              </a:lnSpc>
              <a:spcAft>
                <a:spcPts val="600"/>
              </a:spcAft>
            </a:pPr>
            <a:r>
              <a:rPr sz="1300" b="0">
                <a:solidFill>
                  <a:srgbClr val="6E6E6E"/>
                </a:solidFill>
                <a:latin typeface="Meiryo"/>
                <a:ea typeface="Meiryo"/>
                <a:cs typeface="Meiryo"/>
              </a:rPr>
              <a:t>※いずれも太平洋系群。資源量と漁獲量の年ごとの値を使う。</a:t>
            </a:r>
          </a:p>
        </p:txBody>
      </p:sp>
      <p:sp>
        <p:nvSpPr>
          <p:cNvPr id="22" name="TextBox 21"/>
          <p:cNvSpPr txBox="1"/>
          <p:nvPr/>
        </p:nvSpPr>
        <p:spPr>
          <a:xfrm>
            <a:off x="5989320" y="4096512"/>
            <a:ext cx="5632704" cy="1371600"/>
          </a:xfrm>
          <a:prstGeom prst="rect">
            <a:avLst/>
          </a:prstGeom>
          <a:noFill/>
        </p:spPr>
        <p:txBody>
          <a:bodyPr wrap="square" anchor="t" lIns="0" rIns="0" tIns="0" bIns="0">
            <a:spAutoFit/>
          </a:bodyPr>
          <a:lstStyle/>
          <a:p>
            <a:pPr algn="l">
              <a:lnSpc>
                <a:spcPct val="132000"/>
              </a:lnSpc>
              <a:spcAft>
                <a:spcPts val="500"/>
              </a:spcAft>
            </a:pPr>
            <a:r>
              <a:rPr sz="1600" b="0">
                <a:solidFill>
                  <a:srgbClr val="222222"/>
                </a:solidFill>
                <a:latin typeface="Meiryo"/>
                <a:ea typeface="Meiryo"/>
                <a:cs typeface="Meiryo"/>
              </a:rPr>
              <a:t>4種そろう期間は 1994〜2024年（31年分）</a:t>
            </a:r>
          </a:p>
          <a:p>
            <a:pPr algn="l">
              <a:lnSpc>
                <a:spcPct val="132000"/>
              </a:lnSpc>
              <a:spcAft>
                <a:spcPts val="500"/>
              </a:spcAft>
            </a:pPr>
            <a:r>
              <a:rPr sz="1600" b="0">
                <a:solidFill>
                  <a:srgbClr val="222222"/>
                </a:solidFill>
                <a:latin typeface="Meiryo"/>
                <a:ea typeface="Meiryo"/>
                <a:cs typeface="Meiryo"/>
              </a:rPr>
              <a:t>大蛇行なし：2006〜2016年（11年）</a:t>
            </a:r>
          </a:p>
          <a:p>
            <a:pPr algn="l">
              <a:lnSpc>
                <a:spcPct val="132000"/>
              </a:lnSpc>
              <a:spcAft>
                <a:spcPts val="500"/>
              </a:spcAft>
            </a:pPr>
            <a:r>
              <a:rPr sz="1600" b="0">
                <a:solidFill>
                  <a:srgbClr val="222222"/>
                </a:solidFill>
                <a:latin typeface="Meiryo"/>
                <a:ea typeface="Meiryo"/>
                <a:cs typeface="Meiryo"/>
              </a:rPr>
              <a:t>大蛇行：2017〜2024年（8年）</a:t>
            </a:r>
          </a:p>
        </p:txBody>
      </p:sp>
      <p:sp>
        <p:nvSpPr>
          <p:cNvPr id="23" name="Rectangle 22"/>
          <p:cNvSpPr/>
          <p:nvPr/>
        </p:nvSpPr>
        <p:spPr>
          <a:xfrm>
            <a:off x="566928" y="5504688"/>
            <a:ext cx="11057839" cy="71323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8096" y="5650992"/>
            <a:ext cx="10655503" cy="45720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漁獲率 f ＝ 漁獲量 ÷ 資源量。推定する値ではなく、データから直接計算できる既知の値（上限 0.95）。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4種をつないだ式：混み合いの効果は入れていない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5</a:t>
            </a:r>
          </a:p>
        </p:txBody>
      </p:sp>
      <p:sp>
        <p:nvSpPr>
          <p:cNvPr id="4" name="Rectangle 3"/>
          <p:cNvSpPr/>
          <p:nvPr/>
        </p:nvSpPr>
        <p:spPr>
          <a:xfrm>
            <a:off x="566928" y="1207008"/>
            <a:ext cx="6263640" cy="19659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68096" y="1316736"/>
            <a:ext cx="5852160" cy="274320"/>
          </a:xfrm>
          <a:prstGeom prst="rect">
            <a:avLst/>
          </a:prstGeom>
          <a:noFill/>
        </p:spPr>
        <p:txBody>
          <a:bodyPr wrap="square" anchor="t" lIns="0" rIns="0" tIns="0" bIns="0">
            <a:spAutoFit/>
          </a:bodyPr>
          <a:lstStyle/>
          <a:p>
            <a:pPr algn="l">
              <a:lnSpc>
                <a:spcPct val="132000"/>
              </a:lnSpc>
              <a:spcAft>
                <a:spcPts val="600"/>
              </a:spcAft>
            </a:pPr>
            <a:r>
              <a:rPr sz="1400" b="1">
                <a:solidFill>
                  <a:srgbClr val="1F4E79"/>
                </a:solidFill>
                <a:latin typeface="Meiryo"/>
                <a:ea typeface="Meiryo"/>
                <a:cs typeface="Meiryo"/>
              </a:rPr>
              <a:t>餌の魚</a:t>
            </a:r>
          </a:p>
        </p:txBody>
      </p:sp>
      <p:sp>
        <p:nvSpPr>
          <p:cNvPr id="6" name="TextBox 5"/>
          <p:cNvSpPr txBox="1"/>
          <p:nvPr/>
        </p:nvSpPr>
        <p:spPr>
          <a:xfrm>
            <a:off x="768096" y="1591056"/>
            <a:ext cx="585216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r</m:t>
                          </m:r>
                        </m:e>
                        <m:sub>
                          <m:r>
                            <a:rPr lang="en-US" sz="1500" b="0" i="1" dirty="0">
                              <a:solidFill>
                                <a:srgbClr val="222222"/>
                              </a:solidFill>
                              <a:latin typeface="Cambria Math" panose="02040503050406030204" pitchFamily="18" charset="0"/>
                            </a:rPr>
                            <m:t xml:space="preserve">xi</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xi</m:t>
                          </m:r>
                        </m:sub>
                      </m:sSub>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j</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e>
                  </m:nary>
                </m:oMath>
              </m:oMathPara>
            </a14:m>
            <a:endParaRPr lang="en-US" sz="1500" dirty="0"/>
          </a:p>
        </p:txBody>
      </p:sp>
      <p:sp>
        <p:nvSpPr>
          <p:cNvPr id="7" name="TextBox 6"/>
          <p:cNvSpPr txBox="1"/>
          <p:nvPr/>
        </p:nvSpPr>
        <p:spPr>
          <a:xfrm>
            <a:off x="768096" y="2212848"/>
            <a:ext cx="5852160" cy="274320"/>
          </a:xfrm>
          <a:prstGeom prst="rect">
            <a:avLst/>
          </a:prstGeom>
          <a:noFill/>
        </p:spPr>
        <p:txBody>
          <a:bodyPr wrap="square" anchor="t" lIns="0" rIns="0" tIns="0" bIns="0">
            <a:spAutoFit/>
          </a:bodyPr>
          <a:lstStyle/>
          <a:p>
            <a:pPr algn="l">
              <a:lnSpc>
                <a:spcPct val="132000"/>
              </a:lnSpc>
              <a:spcAft>
                <a:spcPts val="600"/>
              </a:spcAft>
            </a:pPr>
            <a:r>
              <a:rPr sz="1400" b="1">
                <a:solidFill>
                  <a:srgbClr val="C0561A"/>
                </a:solidFill>
                <a:latin typeface="Meiryo"/>
                <a:ea typeface="Meiryo"/>
                <a:cs typeface="Meiryo"/>
              </a:rPr>
              <a:t>食べる魚</a:t>
            </a:r>
          </a:p>
        </p:txBody>
      </p:sp>
      <p:sp>
        <p:nvSpPr>
          <p:cNvPr id="8" name="TextBox 7"/>
          <p:cNvSpPr txBox="1"/>
          <p:nvPr/>
        </p:nvSpPr>
        <p:spPr>
          <a:xfrm>
            <a:off x="768096" y="2487168"/>
            <a:ext cx="585216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r</m:t>
                          </m:r>
                        </m:e>
                        <m:sub>
                          <m:r>
                            <a:rPr lang="en-US" sz="1500" b="0" i="1" dirty="0">
                              <a:solidFill>
                                <a:srgbClr val="222222"/>
                              </a:solidFill>
                              <a:latin typeface="Cambria Math" panose="02040503050406030204" pitchFamily="18" charset="0"/>
                            </a:rPr>
                            <m:t xml:space="preserve">yj</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yj</m:t>
                          </m:r>
                        </m:sub>
                      </m:sSub>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i</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c</m:t>
                          </m:r>
                        </m:e>
                        <m:sub>
                          <m:r>
                            <a:rPr lang="en-US" sz="1500" b="0" i="1"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e>
                  </m:nary>
                </m:oMath>
              </m:oMathPara>
            </a14:m>
            <a:endParaRPr lang="en-US" sz="1500" dirty="0"/>
          </a:p>
        </p:txBody>
      </p:sp>
      <p:sp>
        <p:nvSpPr>
          <p:cNvPr id="9" name="TextBox 8"/>
          <p:cNvSpPr txBox="1"/>
          <p:nvPr/>
        </p:nvSpPr>
        <p:spPr>
          <a:xfrm>
            <a:off x="566928" y="3273552"/>
            <a:ext cx="6263640" cy="1005840"/>
          </a:xfrm>
          <a:prstGeom prst="rect">
            <a:avLst/>
          </a:prstGeom>
          <a:noFill/>
        </p:spPr>
        <p:txBody>
          <a:bodyPr wrap="square" anchor="t" lIns="0" rIns="0" tIns="0" bIns="0">
            <a:spAutoFit/>
          </a:bodyPr>
          <a:lstStyle/>
          <a:p>
            <a:pPr algn="l">
              <a:lnSpc>
                <a:spcPct val="132000"/>
              </a:lnSpc>
              <a:spcAft>
                <a:spcPts val="500"/>
              </a:spcAft>
            </a:pPr>
            <a:r>
              <a:rPr sz="1450" b="0">
                <a:solidFill>
                  <a:srgbClr val="222222"/>
                </a:solidFill>
                <a:latin typeface="Meiryo"/>
                <a:ea typeface="Meiryo"/>
                <a:cs typeface="Meiryo"/>
              </a:rPr>
              <a:t>r_x：餌の魚がもともと増える速さ　　r_y：食べる魚が自然に減る速さ</a:t>
            </a:r>
          </a:p>
          <a:p>
            <a:pPr algn="l">
              <a:lnSpc>
                <a:spcPct val="132000"/>
              </a:lnSpc>
              <a:spcAft>
                <a:spcPts val="500"/>
              </a:spcAft>
            </a:pPr>
            <a:r>
              <a:rPr sz="1450" b="0">
                <a:solidFill>
                  <a:srgbClr val="222222"/>
                </a:solidFill>
                <a:latin typeface="Meiryo"/>
                <a:ea typeface="Meiryo"/>
                <a:cs typeface="Meiryo"/>
              </a:rPr>
              <a:t>λ：食べられる強さ　　c：変換の割合（食べた分が体になる割合）</a:t>
            </a:r>
          </a:p>
          <a:p>
            <a:pPr algn="l">
              <a:lnSpc>
                <a:spcPct val="132000"/>
              </a:lnSpc>
              <a:spcAft>
                <a:spcPts val="500"/>
              </a:spcAft>
            </a:pPr>
            <a:r>
              <a:rPr sz="1450" b="0">
                <a:solidFill>
                  <a:srgbClr val="222222"/>
                </a:solidFill>
                <a:latin typeface="Meiryo"/>
                <a:ea typeface="Meiryo"/>
                <a:cs typeface="Meiryo"/>
              </a:rPr>
              <a:t>f：漁獲率（データから計算した既知の値）</a:t>
            </a:r>
          </a:p>
        </p:txBody>
      </p:sp>
      <p:sp>
        <p:nvSpPr>
          <p:cNvPr id="10" name="TextBox 9"/>
          <p:cNvSpPr txBox="1"/>
          <p:nvPr/>
        </p:nvSpPr>
        <p:spPr>
          <a:xfrm>
            <a:off x="566928" y="4261104"/>
            <a:ext cx="6263640" cy="274320"/>
          </a:xfrm>
          <a:prstGeom prst="rect">
            <a:avLst/>
          </a:prstGeom>
          <a:noFill/>
        </p:spPr>
        <p:txBody>
          <a:bodyPr wrap="square" anchor="t" lIns="0" rIns="0" tIns="0" bIns="0">
            <a:spAutoFit/>
          </a:bodyPr>
          <a:lstStyle/>
          <a:p>
            <a:pPr algn="l">
              <a:lnSpc>
                <a:spcPct val="132000"/>
              </a:lnSpc>
              <a:spcAft>
                <a:spcPts val="600"/>
              </a:spcAft>
            </a:pPr>
            <a:r>
              <a:rPr sz="1500" b="1">
                <a:solidFill>
                  <a:srgbClr val="1F4E79"/>
                </a:solidFill>
                <a:latin typeface="Meiryo"/>
                <a:ea typeface="Meiryo"/>
                <a:cs typeface="Meiryo"/>
              </a:rPr>
              <a:t>まとめて書くと</a:t>
            </a:r>
          </a:p>
        </p:txBody>
      </p:sp>
      <p:sp>
        <p:nvSpPr>
          <p:cNvPr id="11" name="TextBox 10"/>
          <p:cNvSpPr txBox="1"/>
          <p:nvPr/>
        </p:nvSpPr>
        <p:spPr>
          <a:xfrm>
            <a:off x="566928" y="4626864"/>
            <a:ext cx="6263640" cy="56692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d>
                    <m:dPr>
                      <m:begChr m:val="("/>
                      <m:endChr m:val=")"/>
                      <m:ctrlPr>
                        <a:rPr lang="en-US" sz="1500" b="0" i="1" dirty="0">
                          <a:solidFill>
                            <a:srgbClr val="222222"/>
                          </a:solidFill>
                          <a:latin typeface="Cambria Math" panose="02040503050406030204" pitchFamily="18" charset="0"/>
                        </a:rPr>
                      </m:ctrlPr>
                    </m:d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ρ</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 </m:t>
                      </m:r>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j</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1" dirty="0">
                                  <a:solidFill>
                                    <a:srgbClr val="222222"/>
                                  </a:solidFill>
                                  <a:latin typeface="Cambria Math" panose="02040503050406030204" pitchFamily="18" charset="0"/>
                                </a:rPr>
                                <m:t xml:space="preserve">ij</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j</m:t>
                              </m:r>
                            </m:sub>
                          </m:sSub>
                        </m:e>
                      </m:nary>
                    </m:e>
                  </m:d>
                </m:oMath>
              </m:oMathPara>
            </a14:m>
            <a:endParaRPr lang="en-US" sz="1500" dirty="0"/>
          </a:p>
        </p:txBody>
      </p:sp>
      <p:sp>
        <p:nvSpPr>
          <p:cNvPr id="12" name="TextBox 11"/>
          <p:cNvSpPr txBox="1"/>
          <p:nvPr/>
        </p:nvSpPr>
        <p:spPr>
          <a:xfrm>
            <a:off x="566928" y="5248656"/>
            <a:ext cx="6263640" cy="310896"/>
          </a:xfrm>
          <a:prstGeom prst="rect">
            <a:avLst/>
          </a:prstGeom>
          <a:noFill/>
        </p:spPr>
        <p:txBody>
          <a:bodyPr wrap="square" anchor="t" lIns="0" rIns="0" tIns="0" bIns="0">
            <a:spAutoFit/>
          </a:bodyPr>
          <a:lstStyle/>
          <a:p>
            <a:pPr algn="l">
              <a:lnSpc>
                <a:spcPct val="132000"/>
              </a:lnSpc>
              <a:spcAft>
                <a:spcPts val="600"/>
              </a:spcAft>
            </a:pPr>
            <a:r>
              <a:rPr sz="1450" b="0">
                <a:solidFill>
                  <a:srgbClr val="6E6E6E"/>
                </a:solidFill>
                <a:latin typeface="Meiryo"/>
                <a:ea typeface="Meiryo"/>
                <a:cs typeface="Meiryo"/>
              </a:rPr>
              <a:t>この行列 A の、どこをゼロにしたか。これが後半の結論を決める。</a:t>
            </a:r>
          </a:p>
        </p:txBody>
      </p:sp>
      <p:sp>
        <p:nvSpPr>
          <p:cNvPr id="13" name="Rectangle 12"/>
          <p:cNvSpPr/>
          <p:nvPr/>
        </p:nvSpPr>
        <p:spPr>
          <a:xfrm>
            <a:off x="7973568" y="1627632"/>
            <a:ext cx="1737360" cy="76809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9710928" y="2395728"/>
            <a:ext cx="1737360" cy="76809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7356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マアジ</a:t>
            </a:r>
          </a:p>
        </p:txBody>
      </p:sp>
      <p:sp>
        <p:nvSpPr>
          <p:cNvPr id="16" name="TextBox 15"/>
          <p:cNvSpPr txBox="1"/>
          <p:nvPr/>
        </p:nvSpPr>
        <p:spPr>
          <a:xfrm>
            <a:off x="884224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ウルメ</a:t>
            </a:r>
          </a:p>
        </p:txBody>
      </p:sp>
      <p:sp>
        <p:nvSpPr>
          <p:cNvPr id="17" name="TextBox 16"/>
          <p:cNvSpPr txBox="1"/>
          <p:nvPr/>
        </p:nvSpPr>
        <p:spPr>
          <a:xfrm>
            <a:off x="971092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ブリ</a:t>
            </a:r>
          </a:p>
        </p:txBody>
      </p:sp>
      <p:sp>
        <p:nvSpPr>
          <p:cNvPr id="18" name="TextBox 17"/>
          <p:cNvSpPr txBox="1"/>
          <p:nvPr/>
        </p:nvSpPr>
        <p:spPr>
          <a:xfrm>
            <a:off x="10579608" y="1316736"/>
            <a:ext cx="868680" cy="256032"/>
          </a:xfrm>
          <a:prstGeom prst="rect">
            <a:avLst/>
          </a:prstGeom>
          <a:noFill/>
        </p:spPr>
        <p:txBody>
          <a:bodyPr wrap="square" anchor="t" lIns="0" rIns="0" tIns="0" bIns="0">
            <a:spAutoFit/>
          </a:bodyPr>
          <a:lstStyle/>
          <a:p>
            <a:pPr algn="ctr">
              <a:lnSpc>
                <a:spcPct val="132000"/>
              </a:lnSpc>
              <a:spcAft>
                <a:spcPts val="600"/>
              </a:spcAft>
            </a:pPr>
            <a:r>
              <a:rPr sz="1150" b="0">
                <a:solidFill>
                  <a:srgbClr val="6E6E6E"/>
                </a:solidFill>
                <a:latin typeface="Meiryo"/>
                <a:ea typeface="Meiryo"/>
                <a:cs typeface="Meiryo"/>
              </a:rPr>
              <a:t>サワラ</a:t>
            </a:r>
          </a:p>
        </p:txBody>
      </p:sp>
      <p:sp>
        <p:nvSpPr>
          <p:cNvPr id="19" name="TextBox 18"/>
          <p:cNvSpPr txBox="1"/>
          <p:nvPr/>
        </p:nvSpPr>
        <p:spPr>
          <a:xfrm>
            <a:off x="7077456" y="1709928"/>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マアジ</a:t>
            </a:r>
          </a:p>
        </p:txBody>
      </p:sp>
      <p:sp>
        <p:nvSpPr>
          <p:cNvPr id="20" name="TextBox 19"/>
          <p:cNvSpPr txBox="1"/>
          <p:nvPr/>
        </p:nvSpPr>
        <p:spPr>
          <a:xfrm>
            <a:off x="797356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1" name="TextBox 20"/>
          <p:cNvSpPr txBox="1"/>
          <p:nvPr/>
        </p:nvSpPr>
        <p:spPr>
          <a:xfrm>
            <a:off x="884224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2" name="TextBox 21"/>
          <p:cNvSpPr txBox="1"/>
          <p:nvPr/>
        </p:nvSpPr>
        <p:spPr>
          <a:xfrm>
            <a:off x="971092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−λ11</a:t>
            </a:r>
          </a:p>
        </p:txBody>
      </p:sp>
      <p:sp>
        <p:nvSpPr>
          <p:cNvPr id="23" name="TextBox 22"/>
          <p:cNvSpPr txBox="1"/>
          <p:nvPr/>
        </p:nvSpPr>
        <p:spPr>
          <a:xfrm>
            <a:off x="10579608" y="1709928"/>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−λ12</a:t>
            </a:r>
          </a:p>
        </p:txBody>
      </p:sp>
      <p:sp>
        <p:nvSpPr>
          <p:cNvPr id="24" name="TextBox 23"/>
          <p:cNvSpPr txBox="1"/>
          <p:nvPr/>
        </p:nvSpPr>
        <p:spPr>
          <a:xfrm>
            <a:off x="7077456" y="2093976"/>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ウルメ</a:t>
            </a:r>
          </a:p>
        </p:txBody>
      </p:sp>
      <p:sp>
        <p:nvSpPr>
          <p:cNvPr id="25" name="TextBox 24"/>
          <p:cNvSpPr txBox="1"/>
          <p:nvPr/>
        </p:nvSpPr>
        <p:spPr>
          <a:xfrm>
            <a:off x="797356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6" name="TextBox 25"/>
          <p:cNvSpPr txBox="1"/>
          <p:nvPr/>
        </p:nvSpPr>
        <p:spPr>
          <a:xfrm>
            <a:off x="884224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27" name="TextBox 26"/>
          <p:cNvSpPr txBox="1"/>
          <p:nvPr/>
        </p:nvSpPr>
        <p:spPr>
          <a:xfrm>
            <a:off x="971092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−λ21</a:t>
            </a:r>
          </a:p>
        </p:txBody>
      </p:sp>
      <p:sp>
        <p:nvSpPr>
          <p:cNvPr id="28" name="TextBox 27"/>
          <p:cNvSpPr txBox="1"/>
          <p:nvPr/>
        </p:nvSpPr>
        <p:spPr>
          <a:xfrm>
            <a:off x="10579608" y="2093976"/>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−λ22</a:t>
            </a:r>
          </a:p>
        </p:txBody>
      </p:sp>
      <p:sp>
        <p:nvSpPr>
          <p:cNvPr id="29" name="TextBox 28"/>
          <p:cNvSpPr txBox="1"/>
          <p:nvPr/>
        </p:nvSpPr>
        <p:spPr>
          <a:xfrm>
            <a:off x="7077456" y="2478024"/>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ブリ</a:t>
            </a:r>
          </a:p>
        </p:txBody>
      </p:sp>
      <p:sp>
        <p:nvSpPr>
          <p:cNvPr id="30" name="TextBox 29"/>
          <p:cNvSpPr txBox="1"/>
          <p:nvPr/>
        </p:nvSpPr>
        <p:spPr>
          <a:xfrm>
            <a:off x="797356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c1λ11</a:t>
            </a:r>
          </a:p>
        </p:txBody>
      </p:sp>
      <p:sp>
        <p:nvSpPr>
          <p:cNvPr id="31" name="TextBox 30"/>
          <p:cNvSpPr txBox="1"/>
          <p:nvPr/>
        </p:nvSpPr>
        <p:spPr>
          <a:xfrm>
            <a:off x="884224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d1λ21</a:t>
            </a:r>
          </a:p>
        </p:txBody>
      </p:sp>
      <p:sp>
        <p:nvSpPr>
          <p:cNvPr id="32" name="TextBox 31"/>
          <p:cNvSpPr txBox="1"/>
          <p:nvPr/>
        </p:nvSpPr>
        <p:spPr>
          <a:xfrm>
            <a:off x="971092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3" name="TextBox 32"/>
          <p:cNvSpPr txBox="1"/>
          <p:nvPr/>
        </p:nvSpPr>
        <p:spPr>
          <a:xfrm>
            <a:off x="10579608" y="2478024"/>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4" name="TextBox 33"/>
          <p:cNvSpPr txBox="1"/>
          <p:nvPr/>
        </p:nvSpPr>
        <p:spPr>
          <a:xfrm>
            <a:off x="7077456" y="2862072"/>
            <a:ext cx="749808" cy="256032"/>
          </a:xfrm>
          <a:prstGeom prst="rect">
            <a:avLst/>
          </a:prstGeom>
          <a:noFill/>
        </p:spPr>
        <p:txBody>
          <a:bodyPr wrap="square" anchor="t" lIns="0" rIns="0" tIns="0" bIns="0">
            <a:spAutoFit/>
          </a:bodyPr>
          <a:lstStyle/>
          <a:p>
            <a:pPr algn="r">
              <a:lnSpc>
                <a:spcPct val="132000"/>
              </a:lnSpc>
              <a:spcAft>
                <a:spcPts val="600"/>
              </a:spcAft>
            </a:pPr>
            <a:r>
              <a:rPr sz="1150" b="0">
                <a:solidFill>
                  <a:srgbClr val="6E6E6E"/>
                </a:solidFill>
                <a:latin typeface="Meiryo"/>
                <a:ea typeface="Meiryo"/>
                <a:cs typeface="Meiryo"/>
              </a:rPr>
              <a:t>サワラ</a:t>
            </a:r>
          </a:p>
        </p:txBody>
      </p:sp>
      <p:sp>
        <p:nvSpPr>
          <p:cNvPr id="35" name="TextBox 34"/>
          <p:cNvSpPr txBox="1"/>
          <p:nvPr/>
        </p:nvSpPr>
        <p:spPr>
          <a:xfrm>
            <a:off x="797356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c2λ12</a:t>
            </a:r>
          </a:p>
        </p:txBody>
      </p:sp>
      <p:sp>
        <p:nvSpPr>
          <p:cNvPr id="36" name="TextBox 35"/>
          <p:cNvSpPr txBox="1"/>
          <p:nvPr/>
        </p:nvSpPr>
        <p:spPr>
          <a:xfrm>
            <a:off x="884224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222222"/>
                </a:solidFill>
                <a:latin typeface="Meiryo"/>
                <a:ea typeface="Meiryo"/>
                <a:cs typeface="Meiryo"/>
              </a:rPr>
              <a:t>d2λ22</a:t>
            </a:r>
          </a:p>
        </p:txBody>
      </p:sp>
      <p:sp>
        <p:nvSpPr>
          <p:cNvPr id="37" name="TextBox 36"/>
          <p:cNvSpPr txBox="1"/>
          <p:nvPr/>
        </p:nvSpPr>
        <p:spPr>
          <a:xfrm>
            <a:off x="971092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8" name="TextBox 37"/>
          <p:cNvSpPr txBox="1"/>
          <p:nvPr/>
        </p:nvSpPr>
        <p:spPr>
          <a:xfrm>
            <a:off x="10579608" y="2862072"/>
            <a:ext cx="868680" cy="256032"/>
          </a:xfrm>
          <a:prstGeom prst="rect">
            <a:avLst/>
          </a:prstGeom>
          <a:noFill/>
        </p:spPr>
        <p:txBody>
          <a:bodyPr wrap="square" anchor="t" lIns="0" rIns="0" tIns="0" bIns="0">
            <a:spAutoFit/>
          </a:bodyPr>
          <a:lstStyle/>
          <a:p>
            <a:pPr algn="ctr">
              <a:lnSpc>
                <a:spcPct val="132000"/>
              </a:lnSpc>
              <a:spcAft>
                <a:spcPts val="600"/>
              </a:spcAft>
            </a:pPr>
            <a:r>
              <a:rPr sz="1300" b="0">
                <a:solidFill>
                  <a:srgbClr val="6E6E6E"/>
                </a:solidFill>
                <a:latin typeface="Meiryo"/>
                <a:ea typeface="Meiryo"/>
                <a:cs typeface="Meiryo"/>
              </a:rPr>
              <a:t>0</a:t>
            </a:r>
          </a:p>
        </p:txBody>
      </p:sp>
      <p:sp>
        <p:nvSpPr>
          <p:cNvPr id="39" name="Left Bracket 38"/>
          <p:cNvSpPr/>
          <p:nvPr/>
        </p:nvSpPr>
        <p:spPr>
          <a:xfrm>
            <a:off x="7845552" y="1572768"/>
            <a:ext cx="109728" cy="1645919"/>
          </a:xfrm>
          <a:prstGeom prst="leftBracket">
            <a:avLst/>
          </a:prstGeom>
          <a:noFill/>
          <a:ln w="17780">
            <a:solidFill>
              <a:srgbClr val="222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Bracket 39"/>
          <p:cNvSpPr/>
          <p:nvPr/>
        </p:nvSpPr>
        <p:spPr>
          <a:xfrm>
            <a:off x="11466576" y="1572768"/>
            <a:ext cx="109728" cy="1645919"/>
          </a:xfrm>
          <a:prstGeom prst="rightBracket">
            <a:avLst/>
          </a:prstGeom>
          <a:noFill/>
          <a:ln w="17780">
            <a:solidFill>
              <a:srgbClr val="222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73568" y="3346704"/>
            <a:ext cx="3566160" cy="274320"/>
          </a:xfrm>
          <a:prstGeom prst="rect">
            <a:avLst/>
          </a:prstGeom>
          <a:noFill/>
        </p:spPr>
        <p:txBody>
          <a:bodyPr wrap="square" anchor="t" lIns="0" rIns="0" tIns="0" bIns="0">
            <a:spAutoFit/>
          </a:bodyPr>
          <a:lstStyle/>
          <a:p>
            <a:pPr algn="l">
              <a:lnSpc>
                <a:spcPct val="132000"/>
              </a:lnSpc>
              <a:spcAft>
                <a:spcPts val="600"/>
              </a:spcAft>
            </a:pPr>
            <a:r>
              <a:rPr sz="1200" b="0">
                <a:solidFill>
                  <a:srgbClr val="C0561A"/>
                </a:solidFill>
                <a:latin typeface="Meiryo"/>
                <a:ea typeface="Meiryo"/>
                <a:cs typeface="Meiryo"/>
              </a:rPr>
              <a:t>灰色＝すべてゼロ</a:t>
            </a:r>
          </a:p>
        </p:txBody>
      </p:sp>
      <p:sp>
        <p:nvSpPr>
          <p:cNvPr id="42" name="TextBox 41"/>
          <p:cNvSpPr txBox="1"/>
          <p:nvPr/>
        </p:nvSpPr>
        <p:spPr>
          <a:xfrm>
            <a:off x="7040880" y="3749039"/>
            <a:ext cx="4572000" cy="914400"/>
          </a:xfrm>
          <a:prstGeom prst="rect">
            <a:avLst/>
          </a:prstGeom>
          <a:noFill/>
        </p:spPr>
        <p:txBody>
          <a:bodyPr wrap="square" anchor="t" lIns="0" rIns="0" tIns="0" bIns="0">
            <a:spAutoFit/>
          </a:bodyPr>
          <a:lstStyle/>
          <a:p>
            <a:pPr algn="l">
              <a:lnSpc>
                <a:spcPct val="132000"/>
              </a:lnSpc>
              <a:spcAft>
                <a:spcPts val="400"/>
              </a:spcAft>
            </a:pPr>
            <a:r>
              <a:rPr sz="1350" b="0">
                <a:solidFill>
                  <a:srgbClr val="222222"/>
                </a:solidFill>
                <a:latin typeface="Meiryo"/>
                <a:ea typeface="Meiryo"/>
                <a:cs typeface="Meiryo"/>
              </a:rPr>
              <a:t>・左上がゼロ ＝ 餌の魚どうしの取り合いなし</a:t>
            </a:r>
          </a:p>
          <a:p>
            <a:pPr algn="l">
              <a:lnSpc>
                <a:spcPct val="132000"/>
              </a:lnSpc>
              <a:spcAft>
                <a:spcPts val="400"/>
              </a:spcAft>
            </a:pPr>
            <a:r>
              <a:rPr sz="1350" b="0">
                <a:solidFill>
                  <a:srgbClr val="222222"/>
                </a:solidFill>
                <a:latin typeface="Meiryo"/>
                <a:ea typeface="Meiryo"/>
                <a:cs typeface="Meiryo"/>
              </a:rPr>
              <a:t>・右下がゼロ ＝ 食べる魚どうしの関係なし</a:t>
            </a:r>
          </a:p>
        </p:txBody>
      </p:sp>
      <p:sp>
        <p:nvSpPr>
          <p:cNvPr id="43" name="Rectangle 42"/>
          <p:cNvSpPr/>
          <p:nvPr/>
        </p:nvSpPr>
        <p:spPr>
          <a:xfrm>
            <a:off x="566928" y="5623560"/>
            <a:ext cx="11057839" cy="65836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8096" y="5760720"/>
            <a:ext cx="10655503" cy="41148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同じ段の魚どうしの関係も、自分自身の混み合いも、どちらも式に入れていない。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MSY を出すまでの流れ</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6</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係数をデータから決め、そこに漁獲率を入れて回し、資源が減りすぎない範囲で漁獲量を最大にする。</a:t>
            </a:r>
          </a:p>
        </p:txBody>
      </p:sp>
      <p:sp>
        <p:nvSpPr>
          <p:cNvPr id="5" name="Rectangle 4"/>
          <p:cNvSpPr/>
          <p:nvPr/>
        </p:nvSpPr>
        <p:spPr>
          <a:xfrm>
            <a:off x="566928" y="1700784"/>
            <a:ext cx="1417320" cy="932688"/>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40080" y="1700784"/>
            <a:ext cx="1271016"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222222"/>
                </a:solidFill>
                <a:latin typeface="Meiryo"/>
                <a:ea typeface="Meiryo"/>
                <a:cs typeface="Meiryo"/>
              </a:rPr>
              <a:t>データ</a:t>
            </a:r>
          </a:p>
          <a:p>
            <a:pPr algn="ctr">
              <a:lnSpc>
                <a:spcPct val="122000"/>
              </a:lnSpc>
              <a:spcAft>
                <a:spcPts val="200"/>
              </a:spcAft>
            </a:pPr>
            <a:r>
              <a:rPr sz="1250" b="1">
                <a:solidFill>
                  <a:srgbClr val="6E6E6E"/>
                </a:solidFill>
                <a:latin typeface="Meiryo"/>
                <a:ea typeface="Meiryo"/>
                <a:cs typeface="Meiryo"/>
              </a:rPr>
              <a:t>資源量・漁獲量</a:t>
            </a:r>
          </a:p>
        </p:txBody>
      </p:sp>
      <p:sp>
        <p:nvSpPr>
          <p:cNvPr id="7" name="Rectangle 6"/>
          <p:cNvSpPr/>
          <p:nvPr/>
        </p:nvSpPr>
        <p:spPr>
          <a:xfrm>
            <a:off x="2203704"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276856"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① パラメータを</a:t>
            </a:r>
          </a:p>
          <a:p>
            <a:pPr algn="ctr">
              <a:lnSpc>
                <a:spcPct val="122000"/>
              </a:lnSpc>
              <a:spcAft>
                <a:spcPts val="200"/>
              </a:spcAft>
            </a:pPr>
            <a:r>
              <a:rPr sz="1400" b="1">
                <a:solidFill>
                  <a:srgbClr val="FFFFFF"/>
                </a:solidFill>
                <a:latin typeface="Meiryo"/>
                <a:ea typeface="Meiryo"/>
                <a:cs typeface="Meiryo"/>
              </a:rPr>
              <a:t>レジーム別に推定</a:t>
            </a:r>
          </a:p>
        </p:txBody>
      </p:sp>
      <p:sp>
        <p:nvSpPr>
          <p:cNvPr id="9" name="Rectangle 8"/>
          <p:cNvSpPr/>
          <p:nvPr/>
        </p:nvSpPr>
        <p:spPr>
          <a:xfrm>
            <a:off x="4873752"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46904"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② 漁獲率 f を入れて</a:t>
            </a:r>
          </a:p>
          <a:p>
            <a:pPr algn="ctr">
              <a:lnSpc>
                <a:spcPct val="122000"/>
              </a:lnSpc>
              <a:spcAft>
                <a:spcPts val="200"/>
              </a:spcAft>
            </a:pPr>
            <a:r>
              <a:rPr sz="1400" b="1">
                <a:solidFill>
                  <a:srgbClr val="FFFFFF"/>
                </a:solidFill>
                <a:latin typeface="Meiryo"/>
                <a:ea typeface="Meiryo"/>
                <a:cs typeface="Meiryo"/>
              </a:rPr>
              <a:t>T 年計算</a:t>
            </a:r>
          </a:p>
        </p:txBody>
      </p:sp>
      <p:sp>
        <p:nvSpPr>
          <p:cNvPr id="11" name="Rectangle 10"/>
          <p:cNvSpPr/>
          <p:nvPr/>
        </p:nvSpPr>
        <p:spPr>
          <a:xfrm>
            <a:off x="7543800" y="1700784"/>
            <a:ext cx="2450592" cy="93268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616952" y="1700784"/>
            <a:ext cx="2304288"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FFFFFF"/>
                </a:solidFill>
                <a:latin typeface="Meiryo"/>
                <a:ea typeface="Meiryo"/>
                <a:cs typeface="Meiryo"/>
              </a:rPr>
              <a:t>③ 減りすぎない条件で</a:t>
            </a:r>
          </a:p>
          <a:p>
            <a:pPr algn="ctr">
              <a:lnSpc>
                <a:spcPct val="122000"/>
              </a:lnSpc>
              <a:spcAft>
                <a:spcPts val="200"/>
              </a:spcAft>
            </a:pPr>
            <a:r>
              <a:rPr sz="1400" b="1">
                <a:solidFill>
                  <a:srgbClr val="FFFFFF"/>
                </a:solidFill>
                <a:latin typeface="Meiryo"/>
                <a:ea typeface="Meiryo"/>
                <a:cs typeface="Meiryo"/>
              </a:rPr>
              <a:t>期間平均漁獲量を最大化</a:t>
            </a:r>
          </a:p>
        </p:txBody>
      </p:sp>
      <p:sp>
        <p:nvSpPr>
          <p:cNvPr id="13" name="Rectangle 12"/>
          <p:cNvSpPr/>
          <p:nvPr/>
        </p:nvSpPr>
        <p:spPr>
          <a:xfrm>
            <a:off x="10213848" y="1700784"/>
            <a:ext cx="1408176" cy="93268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287000" y="1700784"/>
            <a:ext cx="1261872" cy="932688"/>
          </a:xfrm>
          <a:prstGeom prst="rect">
            <a:avLst/>
          </a:prstGeom>
          <a:noFill/>
        </p:spPr>
        <p:txBody>
          <a:bodyPr wrap="square" anchor="ctr" lIns="0" rIns="0" tIns="0" bIns="0">
            <a:spAutoFit/>
          </a:bodyPr>
          <a:lstStyle/>
          <a:p>
            <a:pPr algn="ctr">
              <a:lnSpc>
                <a:spcPct val="122000"/>
              </a:lnSpc>
              <a:spcAft>
                <a:spcPts val="200"/>
              </a:spcAft>
            </a:pPr>
            <a:r>
              <a:rPr sz="1400" b="1">
                <a:solidFill>
                  <a:srgbClr val="C0561A"/>
                </a:solidFill>
                <a:latin typeface="Meiryo"/>
                <a:ea typeface="Meiryo"/>
                <a:cs typeface="Meiryo"/>
              </a:rPr>
              <a:t>レジーム別の</a:t>
            </a:r>
          </a:p>
          <a:p>
            <a:pPr algn="ctr">
              <a:lnSpc>
                <a:spcPct val="122000"/>
              </a:lnSpc>
              <a:spcAft>
                <a:spcPts val="200"/>
              </a:spcAft>
            </a:pPr>
            <a:r>
              <a:rPr sz="1400" b="1">
                <a:solidFill>
                  <a:srgbClr val="C0561A"/>
                </a:solidFill>
                <a:latin typeface="Meiryo"/>
                <a:ea typeface="Meiryo"/>
                <a:cs typeface="Meiryo"/>
              </a:rPr>
              <a:t>MSY</a:t>
            </a:r>
          </a:p>
        </p:txBody>
      </p:sp>
      <p:cxnSp>
        <p:nvCxnSpPr>
          <p:cNvPr id="15" name="Connector 14"/>
          <p:cNvCxnSpPr/>
          <p:nvPr/>
        </p:nvCxnSpPr>
        <p:spPr>
          <a:xfrm>
            <a:off x="2011679" y="2167128"/>
            <a:ext cx="164593"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681728" y="2167128"/>
            <a:ext cx="164592"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51775" y="2167128"/>
            <a:ext cx="164593"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21824" y="2167128"/>
            <a:ext cx="164592" cy="0"/>
          </a:xfrm>
          <a:prstGeom prst="line">
            <a:avLst/>
          </a:prstGeom>
          <a:ln w="25400">
            <a:solidFill>
              <a:srgbClr val="1F4E7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203704"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50008"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・時期ごとに係数12個を別々に推定</a:t>
            </a:r>
          </a:p>
          <a:p>
            <a:pPr algn="l">
              <a:lnSpc>
                <a:spcPct val="124000"/>
              </a:lnSpc>
              <a:spcAft>
                <a:spcPts val="400"/>
              </a:spcAft>
            </a:pPr>
            <a:r>
              <a:rPr sz="1200" b="0">
                <a:solidFill>
                  <a:srgbClr val="222222"/>
                </a:solidFill>
                <a:latin typeface="Meiryo"/>
                <a:ea typeface="Meiryo"/>
                <a:cs typeface="Meiryo"/>
              </a:rPr>
              <a:t>・正規化した空間で ODE を数値積分（LSODA）</a:t>
            </a:r>
          </a:p>
          <a:p>
            <a:pPr algn="l">
              <a:lnSpc>
                <a:spcPct val="124000"/>
              </a:lnSpc>
              <a:spcAft>
                <a:spcPts val="400"/>
              </a:spcAft>
            </a:pPr>
            <a:r>
              <a:rPr sz="1200" b="0">
                <a:solidFill>
                  <a:srgbClr val="222222"/>
                </a:solidFill>
                <a:latin typeface="Meiryo"/>
                <a:ea typeface="Meiryo"/>
                <a:cs typeface="Meiryo"/>
              </a:rPr>
              <a:t>・対数残差を最小二乗法（trf）で最小化</a:t>
            </a:r>
          </a:p>
          <a:p>
            <a:pPr algn="l">
              <a:lnSpc>
                <a:spcPct val="124000"/>
              </a:lnSpc>
              <a:spcAft>
                <a:spcPts val="400"/>
              </a:spcAft>
            </a:pPr>
            <a:r>
              <a:rPr sz="1200" b="0">
                <a:solidFill>
                  <a:srgbClr val="222222"/>
                </a:solidFill>
                <a:latin typeface="Meiryo"/>
                <a:ea typeface="Meiryo"/>
                <a:cs typeface="Meiryo"/>
              </a:rPr>
              <a:t>・出発点を多数変えて局所解を避ける</a:t>
            </a:r>
          </a:p>
          <a:p>
            <a:pPr algn="l">
              <a:lnSpc>
                <a:spcPct val="124000"/>
              </a:lnSpc>
              <a:spcAft>
                <a:spcPts val="400"/>
              </a:spcAft>
            </a:pPr>
            <a:r>
              <a:rPr sz="1200" b="0">
                <a:solidFill>
                  <a:srgbClr val="222222"/>
                </a:solidFill>
                <a:latin typeface="Meiryo"/>
                <a:ea typeface="Meiryo"/>
                <a:cs typeface="Meiryo"/>
              </a:rPr>
              <a:t>・当てはまりは NRMSE で評価</a:t>
            </a:r>
          </a:p>
        </p:txBody>
      </p:sp>
      <p:sp>
        <p:nvSpPr>
          <p:cNvPr id="21" name="Rectangle 20"/>
          <p:cNvSpPr/>
          <p:nvPr/>
        </p:nvSpPr>
        <p:spPr>
          <a:xfrm>
            <a:off x="4873752"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20056"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・推定した式に、魚種ごとの一定の漁獲率 f を入れる</a:t>
            </a:r>
          </a:p>
          <a:p>
            <a:pPr algn="l">
              <a:lnSpc>
                <a:spcPct val="124000"/>
              </a:lnSpc>
              <a:spcAft>
                <a:spcPts val="400"/>
              </a:spcAft>
            </a:pPr>
            <a:r>
              <a:rPr sz="1200" b="0">
                <a:solidFill>
                  <a:srgbClr val="222222"/>
                </a:solidFill>
                <a:latin typeface="Meiryo"/>
                <a:ea typeface="Meiryo"/>
                <a:cs typeface="Meiryo"/>
              </a:rPr>
              <a:t>・f は4成分（マアジ・ウルメ・ブリ・サワラ）</a:t>
            </a:r>
          </a:p>
          <a:p>
            <a:pPr algn="l">
              <a:lnSpc>
                <a:spcPct val="124000"/>
              </a:lnSpc>
              <a:spcAft>
                <a:spcPts val="400"/>
              </a:spcAft>
            </a:pPr>
            <a:r>
              <a:rPr sz="1200" b="0">
                <a:solidFill>
                  <a:srgbClr val="222222"/>
                </a:solidFill>
                <a:latin typeface="Meiryo"/>
                <a:ea typeface="Meiryo"/>
                <a:cs typeface="Meiryo"/>
              </a:rPr>
              <a:t>・観測初年の資源量から T 年ぶん積分する</a:t>
            </a:r>
          </a:p>
        </p:txBody>
      </p:sp>
      <p:sp>
        <p:nvSpPr>
          <p:cNvPr id="23" name="Rectangle 22"/>
          <p:cNvSpPr/>
          <p:nvPr/>
        </p:nvSpPr>
        <p:spPr>
          <a:xfrm>
            <a:off x="7543800" y="2743200"/>
            <a:ext cx="2450592" cy="2359152"/>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90104" y="2871216"/>
            <a:ext cx="2157984" cy="2103120"/>
          </a:xfrm>
          <a:prstGeom prst="rect">
            <a:avLst/>
          </a:prstGeom>
          <a:noFill/>
        </p:spPr>
        <p:txBody>
          <a:bodyPr wrap="square" anchor="t" lIns="0" rIns="0" tIns="0" bIns="0">
            <a:spAutoFit/>
          </a:bodyPr>
          <a:lstStyle/>
          <a:p>
            <a:pPr algn="l">
              <a:lnSpc>
                <a:spcPct val="124000"/>
              </a:lnSpc>
              <a:spcAft>
                <a:spcPts val="400"/>
              </a:spcAft>
            </a:pPr>
            <a:r>
              <a:rPr sz="1200" b="0">
                <a:solidFill>
                  <a:srgbClr val="222222"/>
                </a:solidFill>
                <a:latin typeface="Meiryo"/>
                <a:ea typeface="Meiryo"/>
                <a:cs typeface="Meiryo"/>
              </a:rPr>
              <a:t>・f を 0〜0.95 の格子で総当たり（4次元）</a:t>
            </a:r>
          </a:p>
          <a:p>
            <a:pPr algn="l">
              <a:lnSpc>
                <a:spcPct val="124000"/>
              </a:lnSpc>
              <a:spcAft>
                <a:spcPts val="400"/>
              </a:spcAft>
            </a:pPr>
            <a:r>
              <a:rPr sz="1200" b="0">
                <a:solidFill>
                  <a:srgbClr val="222222"/>
                </a:solidFill>
                <a:latin typeface="Meiryo"/>
                <a:ea typeface="Meiryo"/>
                <a:cs typeface="Meiryo"/>
              </a:rPr>
              <a:t>・資源が減りすぎない条件を満たす f だけ残す</a:t>
            </a:r>
          </a:p>
          <a:p>
            <a:pPr algn="l">
              <a:lnSpc>
                <a:spcPct val="124000"/>
              </a:lnSpc>
              <a:spcAft>
                <a:spcPts val="400"/>
              </a:spcAft>
            </a:pPr>
            <a:r>
              <a:rPr sz="1200" b="0">
                <a:solidFill>
                  <a:srgbClr val="222222"/>
                </a:solidFill>
                <a:latin typeface="Meiryo"/>
                <a:ea typeface="Meiryo"/>
                <a:cs typeface="Meiryo"/>
              </a:rPr>
              <a:t>・既定は「最終年の資源量が初年の9割以上」</a:t>
            </a:r>
          </a:p>
          <a:p>
            <a:pPr algn="l">
              <a:lnSpc>
                <a:spcPct val="124000"/>
              </a:lnSpc>
              <a:spcAft>
                <a:spcPts val="400"/>
              </a:spcAft>
            </a:pPr>
            <a:r>
              <a:rPr sz="1200" b="0">
                <a:solidFill>
                  <a:srgbClr val="222222"/>
                </a:solidFill>
                <a:latin typeface="Meiryo"/>
                <a:ea typeface="Meiryo"/>
                <a:cs typeface="Meiryo"/>
              </a:rPr>
              <a:t>・残った f のなかで期間平均漁獲量を最大にする</a:t>
            </a:r>
          </a:p>
        </p:txBody>
      </p:sp>
      <p:sp>
        <p:nvSpPr>
          <p:cNvPr id="25" name="Rectangle 24"/>
          <p:cNvSpPr/>
          <p:nvPr/>
        </p:nvSpPr>
        <p:spPr>
          <a:xfrm>
            <a:off x="566928" y="5193792"/>
            <a:ext cx="11057839" cy="96012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5376672"/>
            <a:ext cx="2286000" cy="365760"/>
          </a:xfrm>
          <a:prstGeom prst="rect">
            <a:avLst/>
          </a:prstGeom>
          <a:noFill/>
        </p:spPr>
        <p:txBody>
          <a:bodyPr wrap="square" anchor="t" lIns="0" rIns="0" tIns="0" bIns="0">
            <a:spAutoFit/>
          </a:bodyPr>
          <a:lstStyle/>
          <a:p>
            <a:pPr algn="l">
              <a:lnSpc>
                <a:spcPct val="132000"/>
              </a:lnSpc>
              <a:spcAft>
                <a:spcPts val="600"/>
              </a:spcAft>
            </a:pPr>
            <a:r>
              <a:rPr sz="1450" b="1">
                <a:solidFill>
                  <a:srgbClr val="C0561A"/>
                </a:solidFill>
                <a:latin typeface="Meiryo"/>
                <a:ea typeface="Meiryo"/>
                <a:cs typeface="Meiryo"/>
              </a:rPr>
              <a:t>③で最大にする量</a:t>
            </a:r>
          </a:p>
        </p:txBody>
      </p:sp>
      <p:sp>
        <p:nvSpPr>
          <p:cNvPr id="27" name="TextBox 26"/>
          <p:cNvSpPr txBox="1"/>
          <p:nvPr/>
        </p:nvSpPr>
        <p:spPr>
          <a:xfrm>
            <a:off x="3218688" y="5321808"/>
            <a:ext cx="4206240"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1" dirty="0">
                      <a:solidFill>
                        <a:srgbClr val="222222"/>
                      </a:solidFill>
                      <a:latin typeface="Cambria Math" panose="02040503050406030204" pitchFamily="18" charset="0"/>
                    </a:rPr>
                    <m:t xml:space="preserve">Y</m:t>
                  </m:r>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nary>
                    <m:naryPr>
                      <m:chr m:val="∫"/>
                      <m:limLoc m:val="subSup"/>
                      <m:ctrlPr>
                        <a:rPr lang="en-US" sz="1500" b="0" i="1" dirty="0">
                          <a:solidFill>
                            <a:srgbClr val="222222"/>
                          </a:solidFill>
                          <a:latin typeface="Cambria Math" panose="02040503050406030204" pitchFamily="18" charset="0"/>
                        </a:rPr>
                      </m:ctrlPr>
                    </m:naryPr>
                    <m:sub>
                      <m:r>
                        <a:rPr lang="en-US" sz="1500" b="0" i="0" dirty="0">
                          <a:solidFill>
                            <a:srgbClr val="222222"/>
                          </a:solidFill>
                          <a:latin typeface="Cambria Math" panose="02040503050406030204" pitchFamily="18" charset="0"/>
                        </a:rPr>
                        <m:t xml:space="preserve">0</m:t>
                      </m:r>
                    </m:sub>
                    <m:sup>
                      <m:r>
                        <a:rPr lang="en-US" sz="1500" b="0" i="1" dirty="0">
                          <a:solidFill>
                            <a:srgbClr val="222222"/>
                          </a:solidFill>
                          <a:latin typeface="Cambria Math" panose="02040503050406030204" pitchFamily="18" charset="0"/>
                        </a:rPr>
                        <m:t xml:space="preserve">T</m:t>
                      </m:r>
                    </m:sup>
                    <m:e>
                      <m:nary>
                        <m:naryPr>
                          <m:chr m:val="∑"/>
                          <m:limLoc m:val="subSup"/>
                          <m:supHide m:val="1"/>
                          <m:ctrlPr>
                            <a:rPr lang="en-US" sz="1500" b="0" i="1" dirty="0">
                              <a:solidFill>
                                <a:srgbClr val="222222"/>
                              </a:solidFill>
                              <a:latin typeface="Cambria Math" panose="02040503050406030204" pitchFamily="18" charset="0"/>
                            </a:rPr>
                          </m:ctrlPr>
                        </m:naryPr>
                        <m:sub>
                          <m:r>
                            <a:rPr lang="en-US" sz="1500" b="0" i="1" dirty="0">
                              <a:solidFill>
                                <a:srgbClr val="222222"/>
                              </a:solidFill>
                              <a:latin typeface="Cambria Math" panose="02040503050406030204" pitchFamily="18" charset="0"/>
                            </a:rPr>
                            <m:t xml:space="preserve">i</m:t>
                          </m:r>
                        </m:sub>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1" dirty="0">
                                  <a:solidFill>
                                    <a:srgbClr val="222222"/>
                                  </a:solidFill>
                                  <a:latin typeface="Cambria Math" panose="02040503050406030204" pitchFamily="18" charset="0"/>
                                </a:rPr>
                                <m:t xml:space="preserve">i</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1" dirty="0">
                                  <a:solidFill>
                                    <a:srgbClr val="222222"/>
                                  </a:solidFill>
                                  <a:latin typeface="Cambria Math" panose="02040503050406030204" pitchFamily="18" charset="0"/>
                                </a:rPr>
                                <m:t xml:space="preserve">i</m:t>
                              </m:r>
                            </m:sub>
                          </m:sSub>
                        </m:e>
                      </m:nary>
                      <m:r>
                        <a:rPr lang="en-US" sz="1500" b="0" i="0" dirty="0">
                          <a:solidFill>
                            <a:srgbClr val="222222"/>
                          </a:solidFill>
                          <a:latin typeface="Cambria Math" panose="02040503050406030204" pitchFamily="18" charset="0"/>
                        </a:rPr>
                        <m:t xml:space="preserve"> </m:t>
                      </m:r>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e>
                  </m:nary>
                </m:oMath>
              </m:oMathPara>
            </a14:m>
            <a:endParaRPr lang="en-US" sz="1500" dirty="0"/>
          </a:p>
        </p:txBody>
      </p:sp>
      <p:sp>
        <p:nvSpPr>
          <p:cNvPr id="28" name="TextBox 27"/>
          <p:cNvSpPr txBox="1"/>
          <p:nvPr/>
        </p:nvSpPr>
        <p:spPr>
          <a:xfrm>
            <a:off x="7790688" y="5358384"/>
            <a:ext cx="3657600" cy="685800"/>
          </a:xfrm>
          <a:prstGeom prst="rect">
            <a:avLst/>
          </a:prstGeom>
          <a:noFill/>
        </p:spPr>
        <p:txBody>
          <a:bodyPr wrap="square" anchor="t" lIns="0" rIns="0" tIns="0" bIns="0">
            <a:spAutoFit/>
          </a:bodyPr>
          <a:lstStyle/>
          <a:p>
            <a:pPr algn="l">
              <a:lnSpc>
                <a:spcPct val="132000"/>
              </a:lnSpc>
              <a:spcAft>
                <a:spcPts val="600"/>
              </a:spcAft>
            </a:pPr>
            <a:r>
              <a:rPr sz="1300" b="0">
                <a:solidFill>
                  <a:srgbClr val="222222"/>
                </a:solidFill>
                <a:latin typeface="Meiryo"/>
                <a:ea typeface="Meiryo"/>
                <a:cs typeface="Meiryo"/>
              </a:rPr>
              <a:t>B は資源量、f は漁獲率。時期ごとに①〜③を通し、大蛇行なし／大蛇行それぞれの答えを出す。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係数の決め方と、自由度を3段階に落とした3つの版</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7</a:t>
            </a:r>
          </a:p>
        </p:txBody>
      </p:sp>
      <p:sp>
        <p:nvSpPr>
          <p:cNvPr id="4" name="TextBox 3"/>
          <p:cNvSpPr txBox="1"/>
          <p:nvPr/>
        </p:nvSpPr>
        <p:spPr>
          <a:xfrm>
            <a:off x="566928" y="1170432"/>
            <a:ext cx="11057839" cy="100584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・式を時間に沿って解き、実データとの差（対数でとる）がいちばん小さくなる係数を探す</a:t>
            </a:r>
          </a:p>
          <a:p>
            <a:pPr algn="l">
              <a:lnSpc>
                <a:spcPct val="132000"/>
              </a:lnSpc>
              <a:spcAft>
                <a:spcPts val="600"/>
              </a:spcAft>
            </a:pPr>
            <a:r>
              <a:rPr sz="1600" b="0">
                <a:solidFill>
                  <a:srgbClr val="222222"/>
                </a:solidFill>
                <a:latin typeface="Meiryo"/>
                <a:ea typeface="Meiryo"/>
                <a:cs typeface="Meiryo"/>
              </a:rPr>
              <a:t>・答えが手前の谷に落ちないよう、出発点を何通りも変えて探す（大蛇行なし 64×12通り／大蛇行 32×8通り）</a:t>
            </a:r>
          </a:p>
          <a:p>
            <a:pPr algn="l">
              <a:lnSpc>
                <a:spcPct val="132000"/>
              </a:lnSpc>
              <a:spcAft>
                <a:spcPts val="600"/>
              </a:spcAft>
            </a:pPr>
            <a:r>
              <a:rPr sz="1600" b="0">
                <a:solidFill>
                  <a:srgbClr val="222222"/>
                </a:solidFill>
                <a:latin typeface="Meiryo"/>
                <a:ea typeface="Meiryo"/>
                <a:cs typeface="Meiryo"/>
              </a:rPr>
              <a:t>・良し悪しは「ずれ」で見る。ずれ＝平均で割った誤差なので、魚種をまたいで比べられる</a:t>
            </a:r>
          </a:p>
        </p:txBody>
      </p:sp>
      <p:graphicFrame>
        <p:nvGraphicFramePr>
          <p:cNvPr id="5" name="Table 4"/>
          <p:cNvGraphicFramePr>
            <a:graphicFrameLocks noGrp="1"/>
          </p:cNvGraphicFramePr>
          <p:nvPr/>
        </p:nvGraphicFramePr>
        <p:xfrm>
          <a:off x="566928" y="2606040"/>
          <a:ext cx="11055096" cy="2139696"/>
        </p:xfrm>
        <a:graphic>
          <a:graphicData uri="http://schemas.openxmlformats.org/drawingml/2006/table">
            <a:tbl>
              <a:tblPr firstRow="1">
                <a:tableStyleId>{5C22544A-7EE6-4342-B048-85BDC9FD1C3A}</a:tableStyleId>
              </a:tblPr>
              <a:tblGrid>
                <a:gridCol w="1783080"/>
                <a:gridCol w="1508760"/>
                <a:gridCol w="3886200"/>
                <a:gridCol w="3877056"/>
              </a:tblGrid>
              <a:tr h="438912">
                <a:tc>
                  <a:txBody>
                    <a:bodyPr/>
                    <a:lstStyle/>
                    <a:p>
                      <a:pPr algn="l"/>
                      <a:r>
                        <a:rPr sz="1350" b="1">
                          <a:solidFill>
                            <a:srgbClr val="FFFFFF"/>
                          </a:solidFill>
                          <a:latin typeface="Meiryo"/>
                          <a:ea typeface="Meiryo"/>
                          <a:cs typeface="Meiryo"/>
                        </a:rPr>
                        <a:t>版</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自由な係数の数</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固定する値</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ねらい</a:t>
                      </a:r>
                    </a:p>
                  </a:txBody>
                  <a:tcPr marL="91440" marR="73152" marT="27432" marB="27432" anchor="ctr">
                    <a:solidFill>
                      <a:srgbClr val="1F4E79"/>
                    </a:solidFill>
                  </a:tcPr>
                </a:tc>
              </a:tr>
              <a:tr h="566928">
                <a:tc>
                  <a:txBody>
                    <a:bodyPr/>
                    <a:lstStyle/>
                    <a:p>
                      <a:pPr algn="l"/>
                      <a:r>
                        <a:rPr sz="1350" b="0">
                          <a:solidFill>
                            <a:srgbClr val="222222"/>
                          </a:solidFill>
                          <a:latin typeface="Meiryo"/>
                          <a:ea typeface="Meiryo"/>
                          <a:cs typeface="Meiryo"/>
                        </a:rPr>
                        <a:t>自由に決める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12個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モデルの表現力の上限を見る</a:t>
                      </a:r>
                    </a:p>
                  </a:txBody>
                  <a:tcPr marL="91440" marR="73152" marT="27432" marB="27432" anchor="ctr">
                    <a:solidFill>
                      <a:srgbClr val="FFFFFF"/>
                    </a:solidFill>
                  </a:tcPr>
                </a:tc>
              </a:tr>
              <a:tr h="566928">
                <a:tc>
                  <a:txBody>
                    <a:bodyPr/>
                    <a:lstStyle/>
                    <a:p>
                      <a:pPr algn="l"/>
                      <a:r>
                        <a:rPr sz="1350" b="0">
                          <a:solidFill>
                            <a:srgbClr val="222222"/>
                          </a:solidFill>
                          <a:latin typeface="Meiryo"/>
                          <a:ea typeface="Meiryo"/>
                          <a:cs typeface="Meiryo"/>
                        </a:rPr>
                        <a:t>固定を1段階</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10個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餌2種の「増える速さ」</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1種ずつの解析の値を入れてみる</a:t>
                      </a:r>
                    </a:p>
                  </a:txBody>
                  <a:tcPr marL="91440" marR="73152" marT="27432" marB="27432" anchor="ctr">
                    <a:solidFill>
                      <a:srgbClr val="F2F5F9"/>
                    </a:solidFill>
                  </a:tcPr>
                </a:tc>
              </a:tr>
              <a:tr h="566928">
                <a:tc>
                  <a:txBody>
                    <a:bodyPr/>
                    <a:lstStyle/>
                    <a:p>
                      <a:pPr algn="l"/>
                      <a:r>
                        <a:rPr sz="1350" b="0">
                          <a:solidFill>
                            <a:srgbClr val="222222"/>
                          </a:solidFill>
                          <a:latin typeface="Meiryo"/>
                          <a:ea typeface="Meiryo"/>
                          <a:cs typeface="Meiryo"/>
                        </a:rPr>
                        <a:t>固定を2段階</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8個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＋「食べた分が体になる割合」の和</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借りる値をできるだけ増やす</a:t>
                      </a:r>
                    </a:p>
                  </a:txBody>
                  <a:tcPr marL="91440" marR="73152" marT="27432" marB="27432" anchor="ctr">
                    <a:solidFill>
                      <a:srgbClr val="FFFFFF"/>
                    </a:solidFill>
                  </a:tcPr>
                </a:tc>
              </a:tr>
            </a:tbl>
          </a:graphicData>
        </a:graphic>
      </p:graphicFrame>
      <p:sp>
        <p:nvSpPr>
          <p:cNvPr id="6" name="TextBox 5"/>
          <p:cNvSpPr txBox="1"/>
          <p:nvPr/>
        </p:nvSpPr>
        <p:spPr>
          <a:xfrm>
            <a:off x="566928" y="4892040"/>
            <a:ext cx="10326319" cy="6858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自由に決める12個：餌2種と食べる魚2種の増える速さ・減る速さ4つ、食べられる強さ4つ、変換の割合4つ。混み合いの項まで入れた16個の版も試したが、大蛇行の8年に対して数が多すぎて値が定まらないため使わ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どちらの時期も、観測をよく再現できた</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8</a:t>
            </a:r>
          </a:p>
        </p:txBody>
      </p:sp>
      <p:pic>
        <p:nvPicPr>
          <p:cNvPr id="4" name="Picture 3" descr="05_当てはまり.png"/>
          <p:cNvPicPr>
            <a:picLocks noChangeAspect="1"/>
          </p:cNvPicPr>
          <p:nvPr/>
        </p:nvPicPr>
        <p:blipFill>
          <a:blip r:embed="rId2"/>
          <a:stretch>
            <a:fillRect/>
          </a:stretch>
        </p:blipFill>
        <p:spPr>
          <a:xfrm>
            <a:off x="1069848" y="1207008"/>
            <a:ext cx="10058400" cy="4160520"/>
          </a:xfrm>
          <a:prstGeom prst="rect">
            <a:avLst/>
          </a:prstGeom>
        </p:spPr>
      </p:pic>
      <p:sp>
        <p:nvSpPr>
          <p:cNvPr id="5" name="figlabel"/>
          <p:cNvSpPr txBox="1"/>
          <p:nvPr/>
        </p:nvSpPr>
        <p:spPr>
          <a:xfrm>
            <a:off x="2787986" y="1585554"/>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6" name="figlabel"/>
          <p:cNvSpPr txBox="1"/>
          <p:nvPr/>
        </p:nvSpPr>
        <p:spPr>
          <a:xfrm>
            <a:off x="221732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0.141</a:t>
            </a:r>
          </a:p>
        </p:txBody>
      </p:sp>
      <p:sp>
        <p:nvSpPr>
          <p:cNvPr id="7" name="figlabel"/>
          <p:cNvSpPr txBox="1"/>
          <p:nvPr/>
        </p:nvSpPr>
        <p:spPr>
          <a:xfrm>
            <a:off x="282021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0.485</a:t>
            </a:r>
          </a:p>
        </p:txBody>
      </p:sp>
      <p:sp>
        <p:nvSpPr>
          <p:cNvPr id="8" name="figlabel"/>
          <p:cNvSpPr txBox="1"/>
          <p:nvPr/>
        </p:nvSpPr>
        <p:spPr>
          <a:xfrm>
            <a:off x="3423103"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0.484</a:t>
            </a:r>
          </a:p>
        </p:txBody>
      </p:sp>
      <p:sp>
        <p:nvSpPr>
          <p:cNvPr id="9" name="figlabel"/>
          <p:cNvSpPr txBox="1"/>
          <p:nvPr/>
        </p:nvSpPr>
        <p:spPr>
          <a:xfrm>
            <a:off x="4934400" y="1585554"/>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0" name="figlabel"/>
          <p:cNvSpPr txBox="1"/>
          <p:nvPr/>
        </p:nvSpPr>
        <p:spPr>
          <a:xfrm>
            <a:off x="4592340"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0.104</a:t>
            </a:r>
          </a:p>
        </p:txBody>
      </p:sp>
      <p:sp>
        <p:nvSpPr>
          <p:cNvPr id="11" name="figlabel"/>
          <p:cNvSpPr txBox="1"/>
          <p:nvPr/>
        </p:nvSpPr>
        <p:spPr>
          <a:xfrm>
            <a:off x="519522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0.246</a:t>
            </a:r>
          </a:p>
        </p:txBody>
      </p:sp>
      <p:sp>
        <p:nvSpPr>
          <p:cNvPr id="12" name="figlabel"/>
          <p:cNvSpPr txBox="1"/>
          <p:nvPr/>
        </p:nvSpPr>
        <p:spPr>
          <a:xfrm>
            <a:off x="5798117"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0.581</a:t>
            </a:r>
          </a:p>
        </p:txBody>
      </p:sp>
      <p:sp>
        <p:nvSpPr>
          <p:cNvPr id="13" name="figlabel"/>
          <p:cNvSpPr txBox="1"/>
          <p:nvPr/>
        </p:nvSpPr>
        <p:spPr>
          <a:xfrm>
            <a:off x="7614215" y="1585554"/>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4" name="figlabel"/>
          <p:cNvSpPr txBox="1"/>
          <p:nvPr/>
        </p:nvSpPr>
        <p:spPr>
          <a:xfrm>
            <a:off x="6967354"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0.055</a:t>
            </a:r>
          </a:p>
        </p:txBody>
      </p:sp>
      <p:sp>
        <p:nvSpPr>
          <p:cNvPr id="15" name="figlabel"/>
          <p:cNvSpPr txBox="1"/>
          <p:nvPr/>
        </p:nvSpPr>
        <p:spPr>
          <a:xfrm>
            <a:off x="7570242"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0.308</a:t>
            </a:r>
          </a:p>
        </p:txBody>
      </p:sp>
      <p:sp>
        <p:nvSpPr>
          <p:cNvPr id="16" name="figlabel"/>
          <p:cNvSpPr txBox="1"/>
          <p:nvPr/>
        </p:nvSpPr>
        <p:spPr>
          <a:xfrm>
            <a:off x="8173131"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0.419</a:t>
            </a:r>
          </a:p>
        </p:txBody>
      </p:sp>
      <p:sp>
        <p:nvSpPr>
          <p:cNvPr id="17" name="figlabel"/>
          <p:cNvSpPr txBox="1"/>
          <p:nvPr/>
        </p:nvSpPr>
        <p:spPr>
          <a:xfrm>
            <a:off x="9913029" y="1585554"/>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8" name="figlabel"/>
          <p:cNvSpPr txBox="1"/>
          <p:nvPr/>
        </p:nvSpPr>
        <p:spPr>
          <a:xfrm>
            <a:off x="9342368"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0.097</a:t>
            </a:r>
          </a:p>
        </p:txBody>
      </p:sp>
      <p:sp>
        <p:nvSpPr>
          <p:cNvPr id="19" name="figlabel"/>
          <p:cNvSpPr txBox="1"/>
          <p:nvPr/>
        </p:nvSpPr>
        <p:spPr>
          <a:xfrm>
            <a:off x="9945256"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0.131</a:t>
            </a:r>
          </a:p>
        </p:txBody>
      </p:sp>
      <p:sp>
        <p:nvSpPr>
          <p:cNvPr id="20" name="figlabel"/>
          <p:cNvSpPr txBox="1"/>
          <p:nvPr/>
        </p:nvSpPr>
        <p:spPr>
          <a:xfrm>
            <a:off x="10548145" y="1855870"/>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0.321</a:t>
            </a:r>
          </a:p>
        </p:txBody>
      </p:sp>
      <p:sp>
        <p:nvSpPr>
          <p:cNvPr id="21" name="figlabel"/>
          <p:cNvSpPr txBox="1"/>
          <p:nvPr/>
        </p:nvSpPr>
        <p:spPr>
          <a:xfrm>
            <a:off x="2787986" y="331887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22" name="figlabel"/>
          <p:cNvSpPr txBox="1"/>
          <p:nvPr/>
        </p:nvSpPr>
        <p:spPr>
          <a:xfrm>
            <a:off x="221732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0.066</a:t>
            </a:r>
          </a:p>
        </p:txBody>
      </p:sp>
      <p:sp>
        <p:nvSpPr>
          <p:cNvPr id="23" name="figlabel"/>
          <p:cNvSpPr txBox="1"/>
          <p:nvPr/>
        </p:nvSpPr>
        <p:spPr>
          <a:xfrm>
            <a:off x="282021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0.452</a:t>
            </a:r>
          </a:p>
        </p:txBody>
      </p:sp>
      <p:sp>
        <p:nvSpPr>
          <p:cNvPr id="24" name="figlabel"/>
          <p:cNvSpPr txBox="1"/>
          <p:nvPr/>
        </p:nvSpPr>
        <p:spPr>
          <a:xfrm>
            <a:off x="3423103"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0.452</a:t>
            </a:r>
          </a:p>
        </p:txBody>
      </p:sp>
      <p:sp>
        <p:nvSpPr>
          <p:cNvPr id="25" name="figlabel"/>
          <p:cNvSpPr txBox="1"/>
          <p:nvPr/>
        </p:nvSpPr>
        <p:spPr>
          <a:xfrm>
            <a:off x="4934400" y="3318875"/>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26" name="figlabel"/>
          <p:cNvSpPr txBox="1"/>
          <p:nvPr/>
        </p:nvSpPr>
        <p:spPr>
          <a:xfrm>
            <a:off x="4592340"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0.061</a:t>
            </a:r>
          </a:p>
        </p:txBody>
      </p:sp>
      <p:sp>
        <p:nvSpPr>
          <p:cNvPr id="27" name="figlabel"/>
          <p:cNvSpPr txBox="1"/>
          <p:nvPr/>
        </p:nvSpPr>
        <p:spPr>
          <a:xfrm>
            <a:off x="519522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0.089</a:t>
            </a:r>
          </a:p>
        </p:txBody>
      </p:sp>
      <p:sp>
        <p:nvSpPr>
          <p:cNvPr id="28" name="figlabel"/>
          <p:cNvSpPr txBox="1"/>
          <p:nvPr/>
        </p:nvSpPr>
        <p:spPr>
          <a:xfrm>
            <a:off x="5798117"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0.334</a:t>
            </a:r>
          </a:p>
        </p:txBody>
      </p:sp>
      <p:sp>
        <p:nvSpPr>
          <p:cNvPr id="29" name="figlabel"/>
          <p:cNvSpPr txBox="1"/>
          <p:nvPr/>
        </p:nvSpPr>
        <p:spPr>
          <a:xfrm>
            <a:off x="7614215" y="3318875"/>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30" name="figlabel"/>
          <p:cNvSpPr txBox="1"/>
          <p:nvPr/>
        </p:nvSpPr>
        <p:spPr>
          <a:xfrm>
            <a:off x="6967354"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0.082</a:t>
            </a:r>
          </a:p>
        </p:txBody>
      </p:sp>
      <p:sp>
        <p:nvSpPr>
          <p:cNvPr id="31" name="figlabel"/>
          <p:cNvSpPr txBox="1"/>
          <p:nvPr/>
        </p:nvSpPr>
        <p:spPr>
          <a:xfrm>
            <a:off x="7570242"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0.075</a:t>
            </a:r>
          </a:p>
        </p:txBody>
      </p:sp>
      <p:sp>
        <p:nvSpPr>
          <p:cNvPr id="32" name="figlabel"/>
          <p:cNvSpPr txBox="1"/>
          <p:nvPr/>
        </p:nvSpPr>
        <p:spPr>
          <a:xfrm>
            <a:off x="8173131"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0.419</a:t>
            </a:r>
          </a:p>
        </p:txBody>
      </p:sp>
      <p:sp>
        <p:nvSpPr>
          <p:cNvPr id="33" name="figlabel"/>
          <p:cNvSpPr txBox="1"/>
          <p:nvPr/>
        </p:nvSpPr>
        <p:spPr>
          <a:xfrm>
            <a:off x="9913029" y="3318875"/>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34" name="figlabel"/>
          <p:cNvSpPr txBox="1"/>
          <p:nvPr/>
        </p:nvSpPr>
        <p:spPr>
          <a:xfrm>
            <a:off x="9342368"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1F4E79"/>
                </a:solidFill>
                <a:latin typeface="Meiryo"/>
                <a:ea typeface="Meiryo"/>
                <a:cs typeface="Meiryo"/>
              </a:rPr>
              <a:t>0.051</a:t>
            </a:r>
          </a:p>
        </p:txBody>
      </p:sp>
      <p:sp>
        <p:nvSpPr>
          <p:cNvPr id="35" name="figlabel"/>
          <p:cNvSpPr txBox="1"/>
          <p:nvPr/>
        </p:nvSpPr>
        <p:spPr>
          <a:xfrm>
            <a:off x="9945256"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5E8FB5"/>
                </a:solidFill>
                <a:latin typeface="Meiryo"/>
                <a:ea typeface="Meiryo"/>
                <a:cs typeface="Meiryo"/>
              </a:rPr>
              <a:t>0.065</a:t>
            </a:r>
          </a:p>
        </p:txBody>
      </p:sp>
      <p:sp>
        <p:nvSpPr>
          <p:cNvPr id="36" name="figlabel"/>
          <p:cNvSpPr txBox="1"/>
          <p:nvPr/>
        </p:nvSpPr>
        <p:spPr>
          <a:xfrm>
            <a:off x="10548145" y="3589191"/>
            <a:ext cx="359410" cy="175133"/>
          </a:xfrm>
          <a:prstGeom prst="rect">
            <a:avLst/>
          </a:prstGeom>
          <a:noFill/>
        </p:spPr>
        <p:txBody>
          <a:bodyPr wrap="none" anchor="ctr" lIns="0" rIns="0" tIns="0" bIns="0">
            <a:spAutoFit/>
          </a:bodyPr>
          <a:lstStyle/>
          <a:p>
            <a:pPr algn="l">
              <a:lnSpc>
                <a:spcPct val="120000"/>
              </a:lnSpc>
              <a:spcAft>
                <a:spcPts val="0"/>
              </a:spcAft>
            </a:pPr>
            <a:r>
              <a:rPr sz="950" b="0">
                <a:solidFill>
                  <a:srgbClr val="7E8B96"/>
                </a:solidFill>
                <a:latin typeface="Meiryo"/>
                <a:ea typeface="Meiryo"/>
                <a:cs typeface="Meiryo"/>
              </a:rPr>
              <a:t>0.146</a:t>
            </a:r>
          </a:p>
        </p:txBody>
      </p:sp>
      <p:sp>
        <p:nvSpPr>
          <p:cNvPr id="37" name="figlabel"/>
          <p:cNvSpPr txBox="1"/>
          <p:nvPr/>
        </p:nvSpPr>
        <p:spPr>
          <a:xfrm>
            <a:off x="4399178" y="1244389"/>
            <a:ext cx="629920" cy="208153"/>
          </a:xfrm>
          <a:prstGeom prst="rect">
            <a:avLst/>
          </a:prstGeom>
          <a:noFill/>
        </p:spPr>
        <p:txBody>
          <a:bodyPr wrap="none" anchor="ctr" lIns="0" rIns="0" tIns="0" bIns="0">
            <a:spAutoFit/>
          </a:bodyPr>
          <a:lstStyle/>
          <a:p>
            <a:pPr algn="l">
              <a:lnSpc>
                <a:spcPct val="120000"/>
              </a:lnSpc>
              <a:spcAft>
                <a:spcPts val="0"/>
              </a:spcAft>
            </a:pPr>
            <a:r>
              <a:rPr sz="1150" b="0">
                <a:solidFill>
                  <a:srgbClr val="222222"/>
                </a:solidFill>
                <a:latin typeface="Meiryo"/>
                <a:ea typeface="Meiryo"/>
                <a:cs typeface="Meiryo"/>
              </a:rPr>
              <a:t>実データ</a:t>
            </a:r>
          </a:p>
        </p:txBody>
      </p:sp>
      <p:sp>
        <p:nvSpPr>
          <p:cNvPr id="38" name="figlabel"/>
          <p:cNvSpPr txBox="1"/>
          <p:nvPr/>
        </p:nvSpPr>
        <p:spPr>
          <a:xfrm>
            <a:off x="5787237" y="1244389"/>
            <a:ext cx="927861" cy="208153"/>
          </a:xfrm>
          <a:prstGeom prst="rect">
            <a:avLst/>
          </a:prstGeom>
          <a:noFill/>
        </p:spPr>
        <p:txBody>
          <a:bodyPr wrap="none" anchor="ctr" lIns="0" rIns="0" tIns="0" bIns="0">
            <a:spAutoFit/>
          </a:bodyPr>
          <a:lstStyle/>
          <a:p>
            <a:pPr algn="l">
              <a:lnSpc>
                <a:spcPct val="120000"/>
              </a:lnSpc>
              <a:spcAft>
                <a:spcPts val="0"/>
              </a:spcAft>
            </a:pPr>
            <a:r>
              <a:rPr sz="1150" b="0">
                <a:solidFill>
                  <a:srgbClr val="1F4E79"/>
                </a:solidFill>
                <a:latin typeface="Meiryo"/>
                <a:ea typeface="Meiryo"/>
                <a:cs typeface="Meiryo"/>
              </a:rPr>
              <a:t>12個（自由）</a:t>
            </a:r>
          </a:p>
        </p:txBody>
      </p:sp>
      <p:sp>
        <p:nvSpPr>
          <p:cNvPr id="39" name="figlabel"/>
          <p:cNvSpPr txBox="1"/>
          <p:nvPr/>
        </p:nvSpPr>
        <p:spPr>
          <a:xfrm>
            <a:off x="7477048" y="1244389"/>
            <a:ext cx="343662" cy="208153"/>
          </a:xfrm>
          <a:prstGeom prst="rect">
            <a:avLst/>
          </a:prstGeom>
          <a:noFill/>
        </p:spPr>
        <p:txBody>
          <a:bodyPr wrap="none" anchor="ctr" lIns="0" rIns="0" tIns="0" bIns="0">
            <a:spAutoFit/>
          </a:bodyPr>
          <a:lstStyle/>
          <a:p>
            <a:pPr algn="l">
              <a:lnSpc>
                <a:spcPct val="120000"/>
              </a:lnSpc>
              <a:spcAft>
                <a:spcPts val="0"/>
              </a:spcAft>
            </a:pPr>
            <a:r>
              <a:rPr sz="1150" b="0">
                <a:solidFill>
                  <a:srgbClr val="5E8FB5"/>
                </a:solidFill>
                <a:latin typeface="Meiryo"/>
                <a:ea typeface="Meiryo"/>
                <a:cs typeface="Meiryo"/>
              </a:rPr>
              <a:t>10個</a:t>
            </a:r>
          </a:p>
        </p:txBody>
      </p:sp>
      <p:sp>
        <p:nvSpPr>
          <p:cNvPr id="40" name="figlabel"/>
          <p:cNvSpPr txBox="1"/>
          <p:nvPr/>
        </p:nvSpPr>
        <p:spPr>
          <a:xfrm>
            <a:off x="8603589" y="1244389"/>
            <a:ext cx="267716" cy="208153"/>
          </a:xfrm>
          <a:prstGeom prst="rect">
            <a:avLst/>
          </a:prstGeom>
          <a:noFill/>
        </p:spPr>
        <p:txBody>
          <a:bodyPr wrap="none" anchor="ctr" lIns="0" rIns="0" tIns="0" bIns="0">
            <a:spAutoFit/>
          </a:bodyPr>
          <a:lstStyle/>
          <a:p>
            <a:pPr algn="l">
              <a:lnSpc>
                <a:spcPct val="120000"/>
              </a:lnSpc>
              <a:spcAft>
                <a:spcPts val="0"/>
              </a:spcAft>
            </a:pPr>
            <a:r>
              <a:rPr sz="1150" b="0">
                <a:solidFill>
                  <a:srgbClr val="7E8B96"/>
                </a:solidFill>
                <a:latin typeface="Meiryo"/>
                <a:ea typeface="Meiryo"/>
                <a:cs typeface="Meiryo"/>
              </a:rPr>
              <a:t>8個</a:t>
            </a:r>
          </a:p>
        </p:txBody>
      </p:sp>
      <p:sp>
        <p:nvSpPr>
          <p:cNvPr id="41" name="figlabel"/>
          <p:cNvSpPr txBox="1"/>
          <p:nvPr/>
        </p:nvSpPr>
        <p:spPr>
          <a:xfrm>
            <a:off x="1110081" y="1298539"/>
            <a:ext cx="1652270"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縦軸：資源量（千トン）</a:t>
            </a:r>
          </a:p>
        </p:txBody>
      </p:sp>
      <p:sp>
        <p:nvSpPr>
          <p:cNvPr id="42" name="figlabel"/>
          <p:cNvSpPr txBox="1"/>
          <p:nvPr/>
        </p:nvSpPr>
        <p:spPr>
          <a:xfrm>
            <a:off x="1130198" y="2331110"/>
            <a:ext cx="502920" cy="414528"/>
          </a:xfrm>
          <a:prstGeom prst="rect">
            <a:avLst/>
          </a:prstGeom>
          <a:noFill/>
        </p:spPr>
        <p:txBody>
          <a:bodyPr wrap="none" anchor="ctr" lIns="0" rIns="0" tIns="0" bIns="0">
            <a:spAutoFit/>
          </a:bodyPr>
          <a:lstStyle/>
          <a:p>
            <a:pPr algn="l">
              <a:lnSpc>
                <a:spcPct val="120000"/>
              </a:lnSpc>
              <a:spcAft>
                <a:spcPts val="0"/>
              </a:spcAft>
            </a:pPr>
            <a:r>
              <a:rPr sz="1200" b="0">
                <a:solidFill>
                  <a:srgbClr val="6E6E6E"/>
                </a:solidFill>
                <a:latin typeface="Meiryo"/>
                <a:ea typeface="Meiryo"/>
                <a:cs typeface="Meiryo"/>
              </a:rPr>
              <a:t>大蛇行</a:t>
            </a:r>
          </a:p>
          <a:p>
            <a:pPr algn="l">
              <a:lnSpc>
                <a:spcPct val="120000"/>
              </a:lnSpc>
              <a:spcAft>
                <a:spcPts val="0"/>
              </a:spcAft>
            </a:pPr>
            <a:r>
              <a:rPr sz="1200" b="0">
                <a:solidFill>
                  <a:srgbClr val="6E6E6E"/>
                </a:solidFill>
                <a:latin typeface="Meiryo"/>
                <a:ea typeface="Meiryo"/>
                <a:cs typeface="Meiryo"/>
              </a:rPr>
              <a:t>なし</a:t>
            </a:r>
          </a:p>
        </p:txBody>
      </p:sp>
      <p:sp>
        <p:nvSpPr>
          <p:cNvPr id="43" name="figlabel"/>
          <p:cNvSpPr txBox="1"/>
          <p:nvPr/>
        </p:nvSpPr>
        <p:spPr>
          <a:xfrm>
            <a:off x="1130198" y="4260799"/>
            <a:ext cx="5029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大蛇行</a:t>
            </a:r>
          </a:p>
        </p:txBody>
      </p:sp>
      <p:sp>
        <p:nvSpPr>
          <p:cNvPr id="44" name="figlabel"/>
          <p:cNvSpPr txBox="1"/>
          <p:nvPr/>
        </p:nvSpPr>
        <p:spPr>
          <a:xfrm>
            <a:off x="3000375" y="5146956"/>
            <a:ext cx="6197346" cy="208153"/>
          </a:xfrm>
          <a:prstGeom prst="rect">
            <a:avLst/>
          </a:prstGeom>
          <a:noFill/>
        </p:spPr>
        <p:txBody>
          <a:bodyPr wrap="none" anchor="ctr" lIns="0" rIns="0" tIns="0" bIns="0">
            <a:spAutoFit/>
          </a:bodyPr>
          <a:lstStyle/>
          <a:p>
            <a:pPr algn="ctr">
              <a:lnSpc>
                <a:spcPct val="120000"/>
              </a:lnSpc>
              <a:spcAft>
                <a:spcPts val="0"/>
              </a:spcAft>
            </a:pPr>
            <a:r>
              <a:rPr sz="1150" b="0">
                <a:solidFill>
                  <a:srgbClr val="6E6E6E"/>
                </a:solidFill>
                <a:latin typeface="Meiryo"/>
                <a:ea typeface="Meiryo"/>
                <a:cs typeface="Meiryo"/>
              </a:rPr>
              <a:t>「ずれ」＝平均で割った誤差（小さいほど良い）。枠の中の数字は左から 12個・10個・8個。</a:t>
            </a:r>
          </a:p>
        </p:txBody>
      </p:sp>
      <p:sp>
        <p:nvSpPr>
          <p:cNvPr id="45" name="TextBox 44"/>
          <p:cNvSpPr txBox="1"/>
          <p:nvPr/>
        </p:nvSpPr>
        <p:spPr>
          <a:xfrm>
            <a:off x="566928" y="5440680"/>
            <a:ext cx="11057839" cy="27432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全体の平均（大蛇行なし／大蛇行）：　12個 0.099／0.065　　10個 0.293／0.170　　8個 0.452／0.338</a:t>
            </a:r>
          </a:p>
        </p:txBody>
      </p:sp>
      <p:sp>
        <p:nvSpPr>
          <p:cNvPr id="46" name="Rectangle 45"/>
          <p:cNvSpPr/>
          <p:nvPr/>
        </p:nvSpPr>
        <p:spPr>
          <a:xfrm>
            <a:off x="566928" y="5779008"/>
            <a:ext cx="10326319" cy="512064"/>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8096" y="5888736"/>
            <a:ext cx="9923983" cy="329184"/>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以降は12個の自由推定を使う。この後の話は、当てはまりが悪いせいで起きているのではない。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1種ずつの解析から借りられるのは「増える速さ」まで</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9</a:t>
            </a:r>
          </a:p>
        </p:txBody>
      </p:sp>
      <p:sp>
        <p:nvSpPr>
          <p:cNvPr id="4" name="TextBox 3"/>
          <p:cNvSpPr txBox="1"/>
          <p:nvPr/>
        </p:nvSpPr>
        <p:spPr>
          <a:xfrm>
            <a:off x="566928" y="1170432"/>
            <a:ext cx="11057839" cy="457200"/>
          </a:xfrm>
          <a:prstGeom prst="rect">
            <a:avLst/>
          </a:prstGeom>
          <a:noFill/>
        </p:spPr>
        <p:txBody>
          <a:bodyPr wrap="square" anchor="t" lIns="0" rIns="0" tIns="0" bIns="0">
            <a:spAutoFit/>
          </a:bodyPr>
          <a:lstStyle/>
          <a:p>
            <a:pPr algn="l">
              <a:lnSpc>
                <a:spcPct val="132000"/>
              </a:lnSpc>
              <a:spcAft>
                <a:spcPts val="600"/>
              </a:spcAft>
            </a:pPr>
            <a:r>
              <a:rPr sz="1700" b="0">
                <a:solidFill>
                  <a:srgbClr val="222222"/>
                </a:solidFill>
                <a:latin typeface="Meiryo"/>
                <a:ea typeface="Meiryo"/>
                <a:cs typeface="Meiryo"/>
              </a:rPr>
              <a:t>前の枚で見た崩れ方は、借りてきた値が「和」であることから起きている。</a:t>
            </a:r>
          </a:p>
        </p:txBody>
      </p:sp>
      <p:sp>
        <p:nvSpPr>
          <p:cNvPr id="5" name="Rectangle 4"/>
          <p:cNvSpPr/>
          <p:nvPr/>
        </p:nvSpPr>
        <p:spPr>
          <a:xfrm>
            <a:off x="566928" y="1737360"/>
            <a:ext cx="5212080" cy="1755648"/>
          </a:xfrm>
          <a:prstGeom prst="rect">
            <a:avLst/>
          </a:prstGeom>
          <a:solidFill>
            <a:srgbClr val="F2F5F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1874519"/>
            <a:ext cx="4773168" cy="310896"/>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1種ずつの解析が与えるもの</a:t>
            </a:r>
          </a:p>
        </p:txBody>
      </p:sp>
      <p:sp>
        <p:nvSpPr>
          <p:cNvPr id="7" name="TextBox 6"/>
          <p:cNvSpPr txBox="1"/>
          <p:nvPr/>
        </p:nvSpPr>
        <p:spPr>
          <a:xfrm>
            <a:off x="786384" y="2249424"/>
            <a:ext cx="4773168"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c</m:t>
                      </m:r>
                    </m:e>
                    <m:sub>
                      <m:r>
                        <a:rPr lang="en-US" sz="1800" b="0" i="0" dirty="0">
                          <a:solidFill>
                            <a:srgbClr val="1F4E79"/>
                          </a:solidFill>
                          <a:latin typeface="Cambria Math" panose="02040503050406030204" pitchFamily="18" charset="0"/>
                        </a:rPr>
                        <m:t xml:space="preserve">1</m:t>
                      </m:r>
                    </m:sub>
                  </m:sSub>
                  <m:r>
                    <a:rPr lang="en-US" sz="1800" b="0" i="0" dirty="0">
                      <a:solidFill>
                        <a:srgbClr val="1F4E79"/>
                      </a:solidFill>
                      <a:latin typeface="Cambria Math" panose="02040503050406030204" pitchFamily="18" charset="0"/>
                    </a:rPr>
                    <m:t xml:space="preserve"> + </m:t>
                  </m:r>
                  <m:sSub>
                    <m:sSubPr>
                      <m:ctrlPr>
                        <a:rPr lang="en-US" sz="1800" b="0" i="1" dirty="0">
                          <a:solidFill>
                            <a:srgbClr val="1F4E79"/>
                          </a:solidFill>
                          <a:latin typeface="Cambria Math" panose="02040503050406030204" pitchFamily="18" charset="0"/>
                        </a:rPr>
                      </m:ctrlPr>
                    </m:sSubPr>
                    <m:e>
                      <m:r>
                        <a:rPr lang="en-US" sz="1800" b="0" i="1" dirty="0">
                          <a:solidFill>
                            <a:srgbClr val="1F4E79"/>
                          </a:solidFill>
                          <a:latin typeface="Cambria Math" panose="02040503050406030204" pitchFamily="18" charset="0"/>
                        </a:rPr>
                        <m:t xml:space="preserve">d</m:t>
                      </m:r>
                    </m:e>
                    <m:sub>
                      <m:r>
                        <a:rPr lang="en-US" sz="1800" b="0" i="0" dirty="0">
                          <a:solidFill>
                            <a:srgbClr val="1F4E79"/>
                          </a:solidFill>
                          <a:latin typeface="Cambria Math" panose="02040503050406030204" pitchFamily="18" charset="0"/>
                        </a:rPr>
                        <m:t xml:space="preserve">1</m:t>
                      </m:r>
                    </m:sub>
                  </m:sSub>
                </m:oMath>
              </m:oMathPara>
            </a14:m>
            <a:endParaRPr lang="en-US" sz="1800" dirty="0"/>
          </a:p>
        </p:txBody>
      </p:sp>
      <p:sp>
        <p:nvSpPr>
          <p:cNvPr id="8" name="TextBox 7"/>
          <p:cNvSpPr txBox="1"/>
          <p:nvPr/>
        </p:nvSpPr>
        <p:spPr>
          <a:xfrm>
            <a:off x="786384" y="2798064"/>
            <a:ext cx="4773168"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食べた分が体になる割合の和。ブリなら、2つの餌からの分をまとめた1つの数しか出てこない。</a:t>
            </a:r>
          </a:p>
        </p:txBody>
      </p:sp>
      <p:sp>
        <p:nvSpPr>
          <p:cNvPr id="9" name="Rectangle 8"/>
          <p:cNvSpPr/>
          <p:nvPr/>
        </p:nvSpPr>
        <p:spPr>
          <a:xfrm>
            <a:off x="6391656" y="1737360"/>
            <a:ext cx="5230368" cy="175564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11112" y="1874519"/>
            <a:ext cx="4791456" cy="310896"/>
          </a:xfrm>
          <a:prstGeom prst="rect">
            <a:avLst/>
          </a:prstGeom>
          <a:noFill/>
        </p:spPr>
        <p:txBody>
          <a:bodyPr wrap="square" anchor="t" lIns="0" rIns="0" tIns="0" bIns="0">
            <a:spAutoFit/>
          </a:bodyPr>
          <a:lstStyle/>
          <a:p>
            <a:pPr algn="l">
              <a:lnSpc>
                <a:spcPct val="132000"/>
              </a:lnSpc>
              <a:spcAft>
                <a:spcPts val="600"/>
              </a:spcAft>
            </a:pPr>
            <a:r>
              <a:rPr sz="1600" b="1">
                <a:solidFill>
                  <a:srgbClr val="C0561A"/>
                </a:solidFill>
                <a:latin typeface="Meiryo"/>
                <a:ea typeface="Meiryo"/>
                <a:cs typeface="Meiryo"/>
              </a:rPr>
              <a:t>資源量のデータが決めているもの</a:t>
            </a:r>
          </a:p>
        </p:txBody>
      </p:sp>
      <p:sp>
        <p:nvSpPr>
          <p:cNvPr id="11" name="TextBox 10"/>
          <p:cNvSpPr txBox="1"/>
          <p:nvPr/>
        </p:nvSpPr>
        <p:spPr>
          <a:xfrm>
            <a:off x="6611112" y="2249424"/>
            <a:ext cx="4791456" cy="47548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c</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11</m:t>
                      </m:r>
                    </m:sub>
                  </m:sSub>
                  <m:r>
                    <a:rPr lang="en-US" sz="1800" b="0" i="0" dirty="0">
                      <a:solidFill>
                        <a:srgbClr val="C0561A"/>
                      </a:solidFill>
                      <a:latin typeface="Cambria Math" panose="02040503050406030204" pitchFamily="18" charset="0"/>
                    </a:rPr>
                    <m:t xml:space="preserve">，</m:t>
                  </m:r>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d</m:t>
                      </m:r>
                    </m:e>
                    <m:sub>
                      <m:r>
                        <a:rPr lang="en-US" sz="1800" b="0" i="0" dirty="0">
                          <a:solidFill>
                            <a:srgbClr val="C0561A"/>
                          </a:solidFill>
                          <a:latin typeface="Cambria Math" panose="02040503050406030204" pitchFamily="18" charset="0"/>
                        </a:rPr>
                        <m:t xml:space="preserve">1</m:t>
                      </m:r>
                    </m:sub>
                  </m:sSub>
                  <m:sSub>
                    <m:sSubPr>
                      <m:ctrlPr>
                        <a:rPr lang="en-US" sz="1800" b="0" i="1" dirty="0">
                          <a:solidFill>
                            <a:srgbClr val="C0561A"/>
                          </a:solidFill>
                          <a:latin typeface="Cambria Math" panose="02040503050406030204" pitchFamily="18" charset="0"/>
                        </a:rPr>
                      </m:ctrlPr>
                    </m:sSubPr>
                    <m:e>
                      <m:r>
                        <a:rPr lang="en-US" sz="1800" b="0" i="1" dirty="0">
                          <a:solidFill>
                            <a:srgbClr val="C0561A"/>
                          </a:solidFill>
                          <a:latin typeface="Cambria Math" panose="02040503050406030204" pitchFamily="18" charset="0"/>
                        </a:rPr>
                        <m:t xml:space="preserve">λ</m:t>
                      </m:r>
                    </m:e>
                    <m:sub>
                      <m:r>
                        <a:rPr lang="en-US" sz="1800" b="0" i="0" dirty="0">
                          <a:solidFill>
                            <a:srgbClr val="C0561A"/>
                          </a:solidFill>
                          <a:latin typeface="Cambria Math" panose="02040503050406030204" pitchFamily="18" charset="0"/>
                        </a:rPr>
                        <m:t xml:space="preserve">21</m:t>
                      </m:r>
                    </m:sub>
                  </m:sSub>
                </m:oMath>
              </m:oMathPara>
            </a14:m>
            <a:endParaRPr lang="en-US" sz="1800" dirty="0"/>
          </a:p>
        </p:txBody>
      </p:sp>
      <p:sp>
        <p:nvSpPr>
          <p:cNvPr id="12" name="TextBox 11"/>
          <p:cNvSpPr txBox="1"/>
          <p:nvPr/>
        </p:nvSpPr>
        <p:spPr>
          <a:xfrm>
            <a:off x="6611112" y="2798064"/>
            <a:ext cx="4791456" cy="640080"/>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その割合と「食べられる強さ」のかけ算。経路ごとに別々の値で、和とは対応しない。</a:t>
            </a:r>
          </a:p>
        </p:txBody>
      </p:sp>
      <p:cxnSp>
        <p:nvCxnSpPr>
          <p:cNvPr id="13" name="Connector 12"/>
          <p:cNvCxnSpPr/>
          <p:nvPr/>
        </p:nvCxnSpPr>
        <p:spPr>
          <a:xfrm>
            <a:off x="5815584" y="2615184"/>
            <a:ext cx="539496" cy="0"/>
          </a:xfrm>
          <a:prstGeom prst="line">
            <a:avLst/>
          </a:prstGeom>
          <a:ln w="25400">
            <a:solidFill>
              <a:srgbClr val="6E6E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66928" y="3675887"/>
            <a:ext cx="11057839" cy="1133856"/>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822191"/>
            <a:ext cx="10618927" cy="914400"/>
          </a:xfrm>
          <a:prstGeom prst="rect">
            <a:avLst/>
          </a:prstGeom>
          <a:noFill/>
        </p:spPr>
        <p:txBody>
          <a:bodyPr wrap="square" anchor="t" lIns="0" rIns="0" tIns="0" bIns="0">
            <a:spAutoFit/>
          </a:bodyPr>
          <a:lstStyle/>
          <a:p>
            <a:pPr algn="l">
              <a:lnSpc>
                <a:spcPct val="132000"/>
              </a:lnSpc>
              <a:spcAft>
                <a:spcPts val="700"/>
              </a:spcAft>
            </a:pPr>
            <a:r>
              <a:rPr sz="1550" b="0">
                <a:solidFill>
                  <a:srgbClr val="222222"/>
                </a:solidFill>
                <a:latin typeface="Meiryo"/>
                <a:ea typeface="Meiryo"/>
                <a:cs typeface="Meiryo"/>
              </a:rPr>
              <a:t>和を固定すると、かけ算の値を保つために「食べられる強さ」が不自然に大きくなる（例：ウルメ→ブリ の λ が 0.224 → 1.00）。</a:t>
            </a:r>
          </a:p>
          <a:p>
            <a:pPr algn="l">
              <a:lnSpc>
                <a:spcPct val="132000"/>
              </a:lnSpc>
              <a:spcAft>
                <a:spcPts val="700"/>
              </a:spcAft>
            </a:pPr>
            <a:r>
              <a:rPr sz="1550" b="0">
                <a:solidFill>
                  <a:srgbClr val="222222"/>
                </a:solidFill>
                <a:latin typeface="Meiryo"/>
                <a:ea typeface="Meiryo"/>
                <a:cs typeface="Meiryo"/>
              </a:rPr>
              <a:t>この係数は餌の魚の式にも出てくるので、ゆがみが餌の魚の当てはまりまで広がる。</a:t>
            </a:r>
          </a:p>
        </p:txBody>
      </p:sp>
      <p:sp>
        <p:nvSpPr>
          <p:cNvPr id="16" name="Rectangle 15"/>
          <p:cNvSpPr/>
          <p:nvPr/>
        </p:nvSpPr>
        <p:spPr>
          <a:xfrm>
            <a:off x="566928" y="4956048"/>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68096" y="5084064"/>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借りられるのは「増える速さ」まで。変換の割合の和まで固定すると、当てはまりが壊れる。</a:t>
            </a:r>
          </a:p>
        </p:txBody>
      </p:sp>
      <p:sp>
        <p:nvSpPr>
          <p:cNvPr id="18" name="TextBox 17"/>
          <p:cNvSpPr txBox="1"/>
          <p:nvPr/>
        </p:nvSpPr>
        <p:spPr>
          <a:xfrm>
            <a:off x="566928" y="5715000"/>
            <a:ext cx="10326319" cy="566928"/>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「和と積は切り分けられない」と言い切るのは正確ではない。原理的には分けられるが、この長さのデータでは実質的にほとんど区別がつかない。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同じ記号 r でも、中身が違う</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10</a:t>
            </a:r>
          </a:p>
        </p:txBody>
      </p:sp>
      <p:pic>
        <p:nvPicPr>
          <p:cNvPr id="4" name="Picture 3" descr="07_増える速さと漁獲率.png"/>
          <p:cNvPicPr>
            <a:picLocks noChangeAspect="1"/>
          </p:cNvPicPr>
          <p:nvPr/>
        </p:nvPicPr>
        <p:blipFill>
          <a:blip r:embed="rId2"/>
          <a:stretch>
            <a:fillRect/>
          </a:stretch>
        </p:blipFill>
        <p:spPr>
          <a:xfrm>
            <a:off x="566928" y="1325880"/>
            <a:ext cx="6172200" cy="2880360"/>
          </a:xfrm>
          <a:prstGeom prst="rect">
            <a:avLst/>
          </a:prstGeom>
        </p:spPr>
      </p:pic>
      <p:sp>
        <p:nvSpPr>
          <p:cNvPr id="5" name="figlabel"/>
          <p:cNvSpPr txBox="1"/>
          <p:nvPr/>
        </p:nvSpPr>
        <p:spPr>
          <a:xfrm>
            <a:off x="3604884" y="1509453"/>
            <a:ext cx="2515362"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1種ずつの解析から借りた「増える速さ」</a:t>
            </a:r>
          </a:p>
        </p:txBody>
      </p:sp>
      <p:sp>
        <p:nvSpPr>
          <p:cNvPr id="6" name="figlabel"/>
          <p:cNvSpPr txBox="1"/>
          <p:nvPr/>
        </p:nvSpPr>
        <p:spPr>
          <a:xfrm>
            <a:off x="3604884" y="1739882"/>
            <a:ext cx="2467356"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実際にとっている割合（1994〜2024年）</a:t>
            </a:r>
          </a:p>
        </p:txBody>
      </p:sp>
      <p:sp>
        <p:nvSpPr>
          <p:cNvPr id="7" name="figlabel"/>
          <p:cNvSpPr txBox="1"/>
          <p:nvPr/>
        </p:nvSpPr>
        <p:spPr>
          <a:xfrm>
            <a:off x="2311908" y="3886520"/>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マアジ</a:t>
            </a:r>
          </a:p>
        </p:txBody>
      </p:sp>
      <p:sp>
        <p:nvSpPr>
          <p:cNvPr id="8" name="figlabel"/>
          <p:cNvSpPr txBox="1"/>
          <p:nvPr/>
        </p:nvSpPr>
        <p:spPr>
          <a:xfrm>
            <a:off x="4789551" y="3886520"/>
            <a:ext cx="99822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ウルメイワシ</a:t>
            </a:r>
          </a:p>
        </p:txBody>
      </p:sp>
      <p:sp>
        <p:nvSpPr>
          <p:cNvPr id="9" name="figlabel"/>
          <p:cNvSpPr txBox="1"/>
          <p:nvPr/>
        </p:nvSpPr>
        <p:spPr>
          <a:xfrm>
            <a:off x="1711833" y="2400376"/>
            <a:ext cx="1722120" cy="414528"/>
          </a:xfrm>
          <a:prstGeom prst="rect">
            <a:avLst/>
          </a:prstGeom>
          <a:noFill/>
        </p:spPr>
        <p:txBody>
          <a:bodyPr wrap="none" anchor="ctr" lIns="0" rIns="0" tIns="0" bIns="0">
            <a:spAutoFit/>
          </a:bodyPr>
          <a:lstStyle/>
          <a:p>
            <a:pPr algn="ctr">
              <a:lnSpc>
                <a:spcPct val="120000"/>
              </a:lnSpc>
              <a:spcAft>
                <a:spcPts val="0"/>
              </a:spcAft>
            </a:pPr>
            <a:r>
              <a:rPr sz="1200" b="0">
                <a:solidFill>
                  <a:srgbClr val="C0561A"/>
                </a:solidFill>
                <a:latin typeface="Meiryo"/>
                <a:ea typeface="Meiryo"/>
                <a:cs typeface="Meiryo"/>
              </a:rPr>
              <a:t>マアジだけ逆転</a:t>
            </a:r>
          </a:p>
          <a:p>
            <a:pPr algn="ctr">
              <a:lnSpc>
                <a:spcPct val="120000"/>
              </a:lnSpc>
              <a:spcAft>
                <a:spcPts val="0"/>
              </a:spcAft>
            </a:pPr>
            <a:r>
              <a:rPr sz="1200" b="0">
                <a:solidFill>
                  <a:srgbClr val="C0561A"/>
                </a:solidFill>
                <a:latin typeface="Meiryo"/>
                <a:ea typeface="Meiryo"/>
                <a:cs typeface="Meiryo"/>
              </a:rPr>
              <a:t>（とる量のほうが多い）</a:t>
            </a:r>
          </a:p>
        </p:txBody>
      </p:sp>
      <p:sp>
        <p:nvSpPr>
          <p:cNvPr id="10" name="figlabel"/>
          <p:cNvSpPr txBox="1"/>
          <p:nvPr/>
        </p:nvSpPr>
        <p:spPr>
          <a:xfrm>
            <a:off x="640994" y="1369085"/>
            <a:ext cx="1582165" cy="208153"/>
          </a:xfrm>
          <a:prstGeom prst="rect">
            <a:avLst/>
          </a:prstGeom>
          <a:noFill/>
        </p:spPr>
        <p:txBody>
          <a:bodyPr wrap="none" anchor="ctr" lIns="0" rIns="0" tIns="0" bIns="0">
            <a:spAutoFit/>
          </a:bodyPr>
          <a:lstStyle/>
          <a:p>
            <a:pPr algn="l">
              <a:lnSpc>
                <a:spcPct val="120000"/>
              </a:lnSpc>
              <a:spcAft>
                <a:spcPts val="0"/>
              </a:spcAft>
            </a:pPr>
            <a:r>
              <a:rPr sz="1150" b="0">
                <a:solidFill>
                  <a:srgbClr val="6E6E6E"/>
                </a:solidFill>
                <a:latin typeface="Meiryo"/>
                <a:ea typeface="Meiryo"/>
                <a:cs typeface="Meiryo"/>
              </a:rPr>
              <a:t>縦軸：1年あたりの割合</a:t>
            </a:r>
          </a:p>
        </p:txBody>
      </p:sp>
      <p:sp>
        <p:nvSpPr>
          <p:cNvPr id="11" name="TextBox 10"/>
          <p:cNvSpPr txBox="1"/>
          <p:nvPr/>
        </p:nvSpPr>
        <p:spPr>
          <a:xfrm>
            <a:off x="7059168" y="1298448"/>
            <a:ext cx="4553712" cy="3657600"/>
          </a:xfrm>
          <a:prstGeom prst="rect">
            <a:avLst/>
          </a:prstGeom>
          <a:noFill/>
        </p:spPr>
        <p:txBody>
          <a:bodyPr wrap="square" anchor="t" lIns="0" rIns="0" tIns="0" bIns="0">
            <a:spAutoFit/>
          </a:bodyPr>
          <a:lstStyle/>
          <a:p>
            <a:pPr algn="l">
              <a:lnSpc>
                <a:spcPct val="132000"/>
              </a:lnSpc>
              <a:spcAft>
                <a:spcPts val="900"/>
              </a:spcAft>
            </a:pPr>
            <a:r>
              <a:rPr sz="1700" b="1">
                <a:solidFill>
                  <a:srgbClr val="1F4E79"/>
                </a:solidFill>
                <a:latin typeface="Meiryo"/>
                <a:ea typeface="Meiryo"/>
                <a:cs typeface="Meiryo"/>
              </a:rPr>
              <a:t>1種ずつの解析の r</a:t>
            </a:r>
          </a:p>
          <a:p>
            <a:pPr algn="l">
              <a:lnSpc>
                <a:spcPct val="132000"/>
              </a:lnSpc>
              <a:spcAft>
                <a:spcPts val="900"/>
              </a:spcAft>
            </a:pPr>
            <a:r>
              <a:rPr sz="1550" b="0">
                <a:solidFill>
                  <a:srgbClr val="222222"/>
                </a:solidFill>
                <a:latin typeface="Meiryo"/>
                <a:ea typeface="Meiryo"/>
                <a:cs typeface="Meiryo"/>
              </a:rPr>
              <a:t>混み合いを含んだ「もうけ分」の増え方</a:t>
            </a:r>
          </a:p>
          <a:p>
            <a:pPr algn="l">
              <a:lnSpc>
                <a:spcPct val="132000"/>
              </a:lnSpc>
              <a:spcAft>
                <a:spcPts val="900"/>
              </a:spcAft>
            </a:pPr>
            <a:r>
              <a:rPr sz="1700" b="1">
                <a:solidFill>
                  <a:srgbClr val="1F4E79"/>
                </a:solidFill>
                <a:latin typeface="Meiryo"/>
                <a:ea typeface="Meiryo"/>
                <a:cs typeface="Meiryo"/>
              </a:rPr>
              <a:t>今回の式の r_x</a:t>
            </a:r>
          </a:p>
          <a:p>
            <a:pPr algn="l">
              <a:lnSpc>
                <a:spcPct val="132000"/>
              </a:lnSpc>
              <a:spcAft>
                <a:spcPts val="900"/>
              </a:spcAft>
            </a:pPr>
            <a:r>
              <a:rPr sz="1550" b="0">
                <a:solidFill>
                  <a:srgbClr val="222222"/>
                </a:solidFill>
                <a:latin typeface="Meiryo"/>
                <a:ea typeface="Meiryo"/>
                <a:cs typeface="Meiryo"/>
              </a:rPr>
              <a:t>混み合いを含まない、そのままの増える速さ</a:t>
            </a:r>
          </a:p>
          <a:p>
            <a:pPr algn="l">
              <a:lnSpc>
                <a:spcPct val="132000"/>
              </a:lnSpc>
              <a:spcAft>
                <a:spcPts val="900"/>
              </a:spcAft>
            </a:pPr>
            <a:r>
              <a:rPr sz="1700" b="1">
                <a:solidFill>
                  <a:srgbClr val="C0561A"/>
                </a:solidFill>
                <a:latin typeface="Meiryo"/>
                <a:ea typeface="Meiryo"/>
                <a:cs typeface="Meiryo"/>
              </a:rPr>
              <a:t>マアジで起きたこと</a:t>
            </a:r>
          </a:p>
          <a:p>
            <a:pPr algn="l">
              <a:lnSpc>
                <a:spcPct val="132000"/>
              </a:lnSpc>
              <a:spcAft>
                <a:spcPts val="900"/>
              </a:spcAft>
            </a:pPr>
            <a:r>
              <a:rPr sz="1550" b="0">
                <a:solidFill>
                  <a:srgbClr val="222222"/>
                </a:solidFill>
                <a:latin typeface="Meiryo"/>
                <a:ea typeface="Meiryo"/>
                <a:cs typeface="Meiryo"/>
              </a:rPr>
              <a:t>借りた r（0.228）が、実際にとっている割合（0.431）より小さい。式のうえでは食べられる前から毎年減る計算になり、横ばいの実データに合わない。</a:t>
            </a:r>
          </a:p>
        </p:txBody>
      </p:sp>
      <p:sp>
        <p:nvSpPr>
          <p:cNvPr id="12" name="Rectangle 11"/>
          <p:cNvSpPr/>
          <p:nvPr/>
        </p:nvSpPr>
        <p:spPr>
          <a:xfrm>
            <a:off x="566928" y="5074920"/>
            <a:ext cx="11057839" cy="56692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8096" y="5202936"/>
            <a:ext cx="10655503" cy="365760"/>
          </a:xfrm>
          <a:prstGeom prst="rect">
            <a:avLst/>
          </a:prstGeom>
          <a:noFill/>
        </p:spPr>
        <p:txBody>
          <a:bodyPr wrap="square" anchor="t" lIns="0" rIns="0" tIns="0" bIns="0">
            <a:spAutoFit/>
          </a:bodyPr>
          <a:lstStyle/>
          <a:p>
            <a:pPr algn="l">
              <a:lnSpc>
                <a:spcPct val="132000"/>
              </a:lnSpc>
              <a:spcAft>
                <a:spcPts val="600"/>
              </a:spcAft>
            </a:pPr>
            <a:r>
              <a:rPr sz="1700" b="1">
                <a:solidFill>
                  <a:srgbClr val="C0561A"/>
                </a:solidFill>
                <a:latin typeface="Meiryo"/>
                <a:ea typeface="Meiryo"/>
                <a:cs typeface="Meiryo"/>
              </a:rPr>
              <a:t>1種ずつの解析の値を、そのまま多種の式に入れることはできない。意味の翻訳が要る。</a:t>
            </a:r>
          </a:p>
        </p:txBody>
      </p:sp>
      <p:sp>
        <p:nvSpPr>
          <p:cNvPr id="14" name="TextBox 13"/>
          <p:cNvSpPr txBox="1"/>
          <p:nvPr/>
        </p:nvSpPr>
        <p:spPr>
          <a:xfrm>
            <a:off x="566928" y="5833872"/>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ウルメイワシは とっている割合 0.113 ≪ 増える速さ 0.739 なので、この問題は起きない。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大蛇行の時期は、餌の魚が減り、食べる魚が増える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11</a:t>
            </a:r>
          </a:p>
        </p:txBody>
      </p:sp>
      <p:pic>
        <p:nvPicPr>
          <p:cNvPr id="4" name="Picture 3" descr="08_時期ごとの比較.png"/>
          <p:cNvPicPr>
            <a:picLocks noChangeAspect="1"/>
          </p:cNvPicPr>
          <p:nvPr/>
        </p:nvPicPr>
        <p:blipFill>
          <a:blip r:embed="rId2"/>
          <a:stretch>
            <a:fillRect/>
          </a:stretch>
        </p:blipFill>
        <p:spPr>
          <a:xfrm>
            <a:off x="886968" y="1261872"/>
            <a:ext cx="10424160" cy="3017520"/>
          </a:xfrm>
          <a:prstGeom prst="rect">
            <a:avLst/>
          </a:prstGeom>
        </p:spPr>
      </p:pic>
      <p:sp>
        <p:nvSpPr>
          <p:cNvPr id="5" name="figlabel"/>
          <p:cNvSpPr txBox="1"/>
          <p:nvPr/>
        </p:nvSpPr>
        <p:spPr>
          <a:xfrm>
            <a:off x="2633001" y="1369933"/>
            <a:ext cx="2522220" cy="232918"/>
          </a:xfrm>
          <a:prstGeom prst="rect">
            <a:avLst/>
          </a:prstGeom>
          <a:noFill/>
        </p:spPr>
        <p:txBody>
          <a:bodyPr wrap="none" anchor="ctr" lIns="0" rIns="0" tIns="0" bIns="0">
            <a:spAutoFit/>
          </a:bodyPr>
          <a:lstStyle/>
          <a:p>
            <a:pPr algn="ctr">
              <a:lnSpc>
                <a:spcPct val="120000"/>
              </a:lnSpc>
              <a:spcAft>
                <a:spcPts val="0"/>
              </a:spcAft>
            </a:pPr>
            <a:r>
              <a:rPr sz="1300" b="0">
                <a:solidFill>
                  <a:srgbClr val="222222"/>
                </a:solidFill>
                <a:latin typeface="Meiryo"/>
                <a:ea typeface="Meiryo"/>
                <a:cs typeface="Meiryo"/>
              </a:rPr>
              <a:t>餌の魚は減り、食べる魚は増えた</a:t>
            </a:r>
          </a:p>
        </p:txBody>
      </p:sp>
      <p:sp>
        <p:nvSpPr>
          <p:cNvPr id="6" name="figlabel"/>
          <p:cNvSpPr txBox="1"/>
          <p:nvPr/>
        </p:nvSpPr>
        <p:spPr>
          <a:xfrm>
            <a:off x="2225585" y="4007815"/>
            <a:ext cx="3337051"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大蛇行なし → 大蛇行 の変化（期間平均の資源量）</a:t>
            </a:r>
          </a:p>
        </p:txBody>
      </p:sp>
      <p:sp>
        <p:nvSpPr>
          <p:cNvPr id="7" name="figlabel"/>
          <p:cNvSpPr txBox="1"/>
          <p:nvPr/>
        </p:nvSpPr>
        <p:spPr>
          <a:xfrm>
            <a:off x="1293669" y="1821294"/>
            <a:ext cx="5029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マアジ</a:t>
            </a:r>
          </a:p>
        </p:txBody>
      </p:sp>
      <p:sp>
        <p:nvSpPr>
          <p:cNvPr id="8" name="figlabel"/>
          <p:cNvSpPr txBox="1"/>
          <p:nvPr/>
        </p:nvSpPr>
        <p:spPr>
          <a:xfrm>
            <a:off x="836469" y="2341816"/>
            <a:ext cx="9601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ウルメイワシ</a:t>
            </a:r>
          </a:p>
        </p:txBody>
      </p:sp>
      <p:sp>
        <p:nvSpPr>
          <p:cNvPr id="9" name="figlabel"/>
          <p:cNvSpPr txBox="1"/>
          <p:nvPr/>
        </p:nvSpPr>
        <p:spPr>
          <a:xfrm>
            <a:off x="1446069" y="2862338"/>
            <a:ext cx="3505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ブリ</a:t>
            </a:r>
          </a:p>
        </p:txBody>
      </p:sp>
      <p:sp>
        <p:nvSpPr>
          <p:cNvPr id="10" name="figlabel"/>
          <p:cNvSpPr txBox="1"/>
          <p:nvPr/>
        </p:nvSpPr>
        <p:spPr>
          <a:xfrm>
            <a:off x="1293669" y="3382860"/>
            <a:ext cx="502920" cy="216408"/>
          </a:xfrm>
          <a:prstGeom prst="rect">
            <a:avLst/>
          </a:prstGeom>
          <a:noFill/>
        </p:spPr>
        <p:txBody>
          <a:bodyPr wrap="none" anchor="ctr" lIns="0" rIns="0" tIns="0" bIns="0">
            <a:spAutoFit/>
          </a:bodyPr>
          <a:lstStyle/>
          <a:p>
            <a:pPr algn="r">
              <a:lnSpc>
                <a:spcPct val="120000"/>
              </a:lnSpc>
              <a:spcAft>
                <a:spcPts val="0"/>
              </a:spcAft>
            </a:pPr>
            <a:r>
              <a:rPr sz="1200" b="0">
                <a:solidFill>
                  <a:srgbClr val="222222"/>
                </a:solidFill>
                <a:latin typeface="Meiryo"/>
                <a:ea typeface="Meiryo"/>
                <a:cs typeface="Meiryo"/>
              </a:rPr>
              <a:t>サワラ</a:t>
            </a:r>
          </a:p>
        </p:txBody>
      </p:sp>
      <p:sp>
        <p:nvSpPr>
          <p:cNvPr id="11" name="figlabel"/>
          <p:cNvSpPr txBox="1"/>
          <p:nvPr/>
        </p:nvSpPr>
        <p:spPr>
          <a:xfrm>
            <a:off x="7464057" y="1369933"/>
            <a:ext cx="3347720" cy="232918"/>
          </a:xfrm>
          <a:prstGeom prst="rect">
            <a:avLst/>
          </a:prstGeom>
          <a:noFill/>
        </p:spPr>
        <p:txBody>
          <a:bodyPr wrap="none" anchor="ctr" lIns="0" rIns="0" tIns="0" bIns="0">
            <a:spAutoFit/>
          </a:bodyPr>
          <a:lstStyle/>
          <a:p>
            <a:pPr algn="ctr">
              <a:lnSpc>
                <a:spcPct val="120000"/>
              </a:lnSpc>
              <a:spcAft>
                <a:spcPts val="0"/>
              </a:spcAft>
            </a:pPr>
            <a:r>
              <a:rPr sz="1300" b="0">
                <a:solidFill>
                  <a:srgbClr val="222222"/>
                </a:solidFill>
                <a:latin typeface="Meiryo"/>
                <a:ea typeface="Meiryo"/>
                <a:cs typeface="Meiryo"/>
              </a:rPr>
              <a:t>サワラの取り分がウルメからマアジへ移った</a:t>
            </a:r>
          </a:p>
        </p:txBody>
      </p:sp>
      <p:sp>
        <p:nvSpPr>
          <p:cNvPr id="12" name="figlabel"/>
          <p:cNvSpPr txBox="1"/>
          <p:nvPr/>
        </p:nvSpPr>
        <p:spPr>
          <a:xfrm>
            <a:off x="7202370" y="3865840"/>
            <a:ext cx="84582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マアジ→ブリ</a:t>
            </a:r>
          </a:p>
        </p:txBody>
      </p:sp>
      <p:sp>
        <p:nvSpPr>
          <p:cNvPr id="13" name="figlabel"/>
          <p:cNvSpPr txBox="1"/>
          <p:nvPr/>
        </p:nvSpPr>
        <p:spPr>
          <a:xfrm>
            <a:off x="8210795" y="3865840"/>
            <a:ext cx="84582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ウルメ→ブリ</a:t>
            </a:r>
          </a:p>
        </p:txBody>
      </p:sp>
      <p:sp>
        <p:nvSpPr>
          <p:cNvPr id="14" name="figlabel"/>
          <p:cNvSpPr txBox="1"/>
          <p:nvPr/>
        </p:nvSpPr>
        <p:spPr>
          <a:xfrm>
            <a:off x="9152544" y="3865840"/>
            <a:ext cx="97917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マアジ→サワラ</a:t>
            </a:r>
          </a:p>
        </p:txBody>
      </p:sp>
      <p:sp>
        <p:nvSpPr>
          <p:cNvPr id="15" name="figlabel"/>
          <p:cNvSpPr txBox="1"/>
          <p:nvPr/>
        </p:nvSpPr>
        <p:spPr>
          <a:xfrm>
            <a:off x="10160968" y="3865840"/>
            <a:ext cx="979170" cy="191642"/>
          </a:xfrm>
          <a:prstGeom prst="rect">
            <a:avLst/>
          </a:prstGeom>
          <a:noFill/>
        </p:spPr>
        <p:txBody>
          <a:bodyPr wrap="none" anchor="ctr" lIns="0" rIns="0" tIns="0" bIns="0">
            <a:spAutoFit/>
          </a:bodyPr>
          <a:lstStyle/>
          <a:p>
            <a:pPr algn="ctr">
              <a:lnSpc>
                <a:spcPct val="120000"/>
              </a:lnSpc>
              <a:spcAft>
                <a:spcPts val="0"/>
              </a:spcAft>
            </a:pPr>
            <a:r>
              <a:rPr sz="1050" b="0">
                <a:solidFill>
                  <a:srgbClr val="222222"/>
                </a:solidFill>
                <a:latin typeface="Meiryo"/>
                <a:ea typeface="Meiryo"/>
                <a:cs typeface="Meiryo"/>
              </a:rPr>
              <a:t>ウルメ→サワラ</a:t>
            </a:r>
          </a:p>
        </p:txBody>
      </p:sp>
      <p:sp>
        <p:nvSpPr>
          <p:cNvPr id="16" name="figlabel"/>
          <p:cNvSpPr txBox="1"/>
          <p:nvPr/>
        </p:nvSpPr>
        <p:spPr>
          <a:xfrm>
            <a:off x="9884151" y="1673355"/>
            <a:ext cx="712470"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大蛇行なし</a:t>
            </a:r>
          </a:p>
        </p:txBody>
      </p:sp>
      <p:sp>
        <p:nvSpPr>
          <p:cNvPr id="17" name="figlabel"/>
          <p:cNvSpPr txBox="1"/>
          <p:nvPr/>
        </p:nvSpPr>
        <p:spPr>
          <a:xfrm>
            <a:off x="9884151" y="1875318"/>
            <a:ext cx="445770" cy="191642"/>
          </a:xfrm>
          <a:prstGeom prst="rect">
            <a:avLst/>
          </a:prstGeom>
          <a:noFill/>
        </p:spPr>
        <p:txBody>
          <a:bodyPr wrap="none" anchor="ctr" lIns="0" rIns="0" tIns="0" bIns="0">
            <a:spAutoFit/>
          </a:bodyPr>
          <a:lstStyle/>
          <a:p>
            <a:pPr algn="l">
              <a:lnSpc>
                <a:spcPct val="120000"/>
              </a:lnSpc>
              <a:spcAft>
                <a:spcPts val="0"/>
              </a:spcAft>
            </a:pPr>
            <a:r>
              <a:rPr sz="1050" b="0">
                <a:solidFill>
                  <a:srgbClr val="222222"/>
                </a:solidFill>
                <a:latin typeface="Meiryo"/>
                <a:ea typeface="Meiryo"/>
                <a:cs typeface="Meiryo"/>
              </a:rPr>
              <a:t>大蛇行</a:t>
            </a:r>
          </a:p>
        </p:txBody>
      </p:sp>
      <p:sp>
        <p:nvSpPr>
          <p:cNvPr id="18" name="figlabel"/>
          <p:cNvSpPr txBox="1"/>
          <p:nvPr/>
        </p:nvSpPr>
        <p:spPr>
          <a:xfrm>
            <a:off x="10580683" y="3561810"/>
            <a:ext cx="381762" cy="191642"/>
          </a:xfrm>
          <a:prstGeom prst="rect">
            <a:avLst/>
          </a:prstGeom>
          <a:noFill/>
        </p:spPr>
        <p:txBody>
          <a:bodyPr wrap="none" anchor="ctr" lIns="0" rIns="0" tIns="0" bIns="0">
            <a:spAutoFit/>
          </a:bodyPr>
          <a:lstStyle/>
          <a:p>
            <a:pPr algn="ctr">
              <a:lnSpc>
                <a:spcPct val="120000"/>
              </a:lnSpc>
              <a:spcAft>
                <a:spcPts val="0"/>
              </a:spcAft>
            </a:pPr>
            <a:r>
              <a:rPr sz="1050" b="0">
                <a:solidFill>
                  <a:srgbClr val="C0561A"/>
                </a:solidFill>
                <a:latin typeface="Meiryo"/>
                <a:ea typeface="Meiryo"/>
                <a:cs typeface="Meiryo"/>
              </a:rPr>
              <a:t>ほぼ0</a:t>
            </a:r>
          </a:p>
        </p:txBody>
      </p:sp>
      <p:sp>
        <p:nvSpPr>
          <p:cNvPr id="19" name="figlabel"/>
          <p:cNvSpPr txBox="1"/>
          <p:nvPr/>
        </p:nvSpPr>
        <p:spPr>
          <a:xfrm>
            <a:off x="9572345" y="4088917"/>
            <a:ext cx="1582420" cy="199898"/>
          </a:xfrm>
          <a:prstGeom prst="rect">
            <a:avLst/>
          </a:prstGeom>
          <a:noFill/>
        </p:spPr>
        <p:txBody>
          <a:bodyPr wrap="none" anchor="ctr" lIns="0" rIns="0" tIns="0" bIns="0">
            <a:spAutoFit/>
          </a:bodyPr>
          <a:lstStyle/>
          <a:p>
            <a:pPr algn="r">
              <a:lnSpc>
                <a:spcPct val="120000"/>
              </a:lnSpc>
              <a:spcAft>
                <a:spcPts val="0"/>
              </a:spcAft>
            </a:pPr>
            <a:r>
              <a:rPr sz="1100" b="0">
                <a:solidFill>
                  <a:srgbClr val="6E6E6E"/>
                </a:solidFill>
                <a:latin typeface="Meiryo"/>
                <a:ea typeface="Meiryo"/>
                <a:cs typeface="Meiryo"/>
              </a:rPr>
              <a:t>縦軸：食べて増える強さ</a:t>
            </a:r>
          </a:p>
        </p:txBody>
      </p:sp>
      <p:sp>
        <p:nvSpPr>
          <p:cNvPr id="20" name="Rectangle 19"/>
          <p:cNvSpPr/>
          <p:nvPr/>
        </p:nvSpPr>
        <p:spPr>
          <a:xfrm>
            <a:off x="566928" y="4709160"/>
            <a:ext cx="11057839"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4864608"/>
            <a:ext cx="10655503" cy="114300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読み方：大蛇行の時期はサワラの取り分がウルメイワシからマアジへ移り、ブリは食べることへの依存を下げつつ自然に減る速さも下がって増えた、と読める。</a:t>
            </a:r>
          </a:p>
          <a:p>
            <a:pPr algn="l">
              <a:lnSpc>
                <a:spcPct val="132000"/>
              </a:lnSpc>
              <a:spcAft>
                <a:spcPts val="600"/>
              </a:spcAft>
            </a:pPr>
            <a:r>
              <a:rPr sz="1550" b="0">
                <a:solidFill>
                  <a:srgbClr val="222222"/>
                </a:solidFill>
                <a:latin typeface="Meiryo"/>
                <a:ea typeface="Meiryo"/>
                <a:cs typeface="Meiryo"/>
              </a:rPr>
              <a:t>ただし係数は1組しか求めていないので、増えた減ったの確からしさまでは言わない。この後の結論は、これらの値に左右されない。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とっていい量の計算手順</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12</a:t>
            </a:r>
          </a:p>
        </p:txBody>
      </p:sp>
      <p:sp>
        <p:nvSpPr>
          <p:cNvPr id="4" name="Rectangle 3"/>
          <p:cNvSpPr/>
          <p:nvPr/>
        </p:nvSpPr>
        <p:spPr>
          <a:xfrm>
            <a:off x="566928" y="1325880"/>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444752"/>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1</a:t>
            </a:r>
          </a:p>
        </p:txBody>
      </p:sp>
      <p:sp>
        <p:nvSpPr>
          <p:cNvPr id="6" name="TextBox 5"/>
          <p:cNvSpPr txBox="1"/>
          <p:nvPr/>
        </p:nvSpPr>
        <p:spPr>
          <a:xfrm>
            <a:off x="1344168" y="1444752"/>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推定した式に、魚種ごとの一定の漁獲率 f を入れる</a:t>
            </a:r>
          </a:p>
        </p:txBody>
      </p:sp>
      <p:sp>
        <p:nvSpPr>
          <p:cNvPr id="7" name="Rectangle 6"/>
          <p:cNvSpPr/>
          <p:nvPr/>
        </p:nvSpPr>
        <p:spPr>
          <a:xfrm>
            <a:off x="566928" y="2112264"/>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231136"/>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2</a:t>
            </a:r>
          </a:p>
        </p:txBody>
      </p:sp>
      <p:sp>
        <p:nvSpPr>
          <p:cNvPr id="9" name="TextBox 8"/>
          <p:cNvSpPr txBox="1"/>
          <p:nvPr/>
        </p:nvSpPr>
        <p:spPr>
          <a:xfrm>
            <a:off x="1344168" y="2231136"/>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T 年ぶん、時間を追って資源量を計算する</a:t>
            </a:r>
          </a:p>
        </p:txBody>
      </p:sp>
      <p:sp>
        <p:nvSpPr>
          <p:cNvPr id="10" name="Rectangle 9"/>
          <p:cNvSpPr/>
          <p:nvPr/>
        </p:nvSpPr>
        <p:spPr>
          <a:xfrm>
            <a:off x="566928" y="2898648"/>
            <a:ext cx="566928" cy="5669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3017520"/>
            <a:ext cx="566928" cy="365760"/>
          </a:xfrm>
          <a:prstGeom prst="rect">
            <a:avLst/>
          </a:prstGeom>
          <a:noFill/>
        </p:spPr>
        <p:txBody>
          <a:bodyPr wrap="square" anchor="t" lIns="0" rIns="0" tIns="0" bIns="0">
            <a:spAutoFit/>
          </a:bodyPr>
          <a:lstStyle/>
          <a:p>
            <a:pPr algn="ctr">
              <a:lnSpc>
                <a:spcPct val="132000"/>
              </a:lnSpc>
              <a:spcAft>
                <a:spcPts val="600"/>
              </a:spcAft>
            </a:pPr>
            <a:r>
              <a:rPr sz="2000" b="1">
                <a:solidFill>
                  <a:srgbClr val="FFFFFF"/>
                </a:solidFill>
                <a:latin typeface="Meiryo"/>
                <a:ea typeface="Meiryo"/>
                <a:cs typeface="Meiryo"/>
              </a:rPr>
              <a:t>3</a:t>
            </a:r>
          </a:p>
        </p:txBody>
      </p:sp>
      <p:sp>
        <p:nvSpPr>
          <p:cNvPr id="12" name="TextBox 11"/>
          <p:cNvSpPr txBox="1"/>
          <p:nvPr/>
        </p:nvSpPr>
        <p:spPr>
          <a:xfrm>
            <a:off x="1344168" y="3017520"/>
            <a:ext cx="10280599" cy="457200"/>
          </a:xfrm>
          <a:prstGeom prst="rect">
            <a:avLst/>
          </a:prstGeom>
          <a:noFill/>
        </p:spPr>
        <p:txBody>
          <a:bodyPr wrap="square" anchor="t" lIns="0" rIns="0" tIns="0" bIns="0">
            <a:spAutoFit/>
          </a:bodyPr>
          <a:lstStyle/>
          <a:p>
            <a:pPr algn="l">
              <a:lnSpc>
                <a:spcPct val="132000"/>
              </a:lnSpc>
              <a:spcAft>
                <a:spcPts val="600"/>
              </a:spcAft>
            </a:pPr>
            <a:r>
              <a:rPr sz="1800" b="0">
                <a:solidFill>
                  <a:srgbClr val="222222"/>
                </a:solidFill>
                <a:latin typeface="Meiryo"/>
                <a:ea typeface="Meiryo"/>
                <a:cs typeface="Meiryo"/>
              </a:rPr>
              <a:t>資源が減りすぎない条件を満たす f のなかで、期間平均の漁獲量を最大にする</a:t>
            </a:r>
          </a:p>
        </p:txBody>
      </p:sp>
      <p:sp>
        <p:nvSpPr>
          <p:cNvPr id="13" name="TextBox 12"/>
          <p:cNvSpPr txBox="1"/>
          <p:nvPr/>
        </p:nvSpPr>
        <p:spPr>
          <a:xfrm>
            <a:off x="1344168" y="3685032"/>
            <a:ext cx="10280599"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600" b="0" i="1" dirty="0">
                      <a:solidFill>
                        <a:srgbClr val="222222"/>
                      </a:solidFill>
                      <a:latin typeface="Cambria Math" panose="02040503050406030204" pitchFamily="18" charset="0"/>
                    </a:rPr>
                    <m:t xml:space="preserve">Y</m:t>
                  </m:r>
                  <m:r>
                    <a:rPr lang="en-US" sz="1600" b="0" i="0" dirty="0">
                      <a:solidFill>
                        <a:srgbClr val="222222"/>
                      </a:solidFill>
                      <a:latin typeface="Cambria Math" panose="02040503050406030204" pitchFamily="18" charset="0"/>
                    </a:rPr>
                    <m:t xml:space="preserve"> = </m:t>
                  </m:r>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1</m:t>
                      </m:r>
                    </m:num>
                    <m:den>
                      <m:r>
                        <a:rPr lang="en-US" sz="1600" b="0" i="1" dirty="0">
                          <a:solidFill>
                            <a:srgbClr val="222222"/>
                          </a:solidFill>
                          <a:latin typeface="Cambria Math" panose="02040503050406030204" pitchFamily="18" charset="0"/>
                        </a:rPr>
                        <m:t xml:space="preserve">T</m:t>
                      </m:r>
                    </m:den>
                  </m:f>
                  <m:nary>
                    <m:naryPr>
                      <m:chr m:val="∫"/>
                      <m:limLoc m:val="subSup"/>
                      <m:ctrlPr>
                        <a:rPr lang="en-US" sz="1600" b="0" i="1" dirty="0">
                          <a:solidFill>
                            <a:srgbClr val="222222"/>
                          </a:solidFill>
                          <a:latin typeface="Cambria Math" panose="02040503050406030204" pitchFamily="18" charset="0"/>
                        </a:rPr>
                      </m:ctrlPr>
                    </m:naryPr>
                    <m:sub>
                      <m:r>
                        <a:rPr lang="en-US" sz="1600" b="0" i="0" dirty="0">
                          <a:solidFill>
                            <a:srgbClr val="222222"/>
                          </a:solidFill>
                          <a:latin typeface="Cambria Math" panose="02040503050406030204" pitchFamily="18" charset="0"/>
                        </a:rPr>
                        <m:t xml:space="preserve">0</m:t>
                      </m:r>
                    </m:sub>
                    <m:sup>
                      <m:r>
                        <a:rPr lang="en-US" sz="1600" b="0" i="1" dirty="0">
                          <a:solidFill>
                            <a:srgbClr val="222222"/>
                          </a:solidFill>
                          <a:latin typeface="Cambria Math" panose="02040503050406030204" pitchFamily="18" charset="0"/>
                        </a:rPr>
                        <m:t xml:space="preserve">T</m:t>
                      </m:r>
                    </m:sup>
                    <m:e>
                      <m:nary>
                        <m:naryPr>
                          <m:chr m:val="∑"/>
                          <m:limLoc m:val="subSup"/>
                          <m:supHide m:val="1"/>
                          <m:ctrlPr>
                            <a:rPr lang="en-US" sz="1600" b="0" i="1" dirty="0">
                              <a:solidFill>
                                <a:srgbClr val="222222"/>
                              </a:solidFill>
                              <a:latin typeface="Cambria Math" panose="02040503050406030204" pitchFamily="18" charset="0"/>
                            </a:rPr>
                          </m:ctrlPr>
                        </m:naryPr>
                        <m:sub>
                          <m:r>
                            <a:rPr lang="en-US" sz="1600" b="0" i="1" dirty="0">
                              <a:solidFill>
                                <a:srgbClr val="222222"/>
                              </a:solidFill>
                              <a:latin typeface="Cambria Math" panose="02040503050406030204" pitchFamily="18" charset="0"/>
                            </a:rPr>
                            <m:t xml:space="preserve">i</m:t>
                          </m:r>
                        </m:sub>
                        <m:sup/>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i</m:t>
                              </m:r>
                            </m:sub>
                          </m:sSub>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e>
                      </m:nary>
                      <m:r>
                        <a:rPr lang="en-US" sz="1600" b="0" i="0" dirty="0">
                          <a:solidFill>
                            <a:srgbClr val="222222"/>
                          </a:solidFill>
                          <a:latin typeface="Cambria Math" panose="02040503050406030204" pitchFamily="18" charset="0"/>
                        </a:rPr>
                        <m:t xml:space="preserve"> </m:t>
                      </m:r>
                      <m:r>
                        <a:rPr lang="en-US" sz="1600" b="0" i="0" dirty="0">
                          <a:solidFill>
                            <a:srgbClr val="222222"/>
                          </a:solidFill>
                          <a:latin typeface="Cambria Math" panose="02040503050406030204" pitchFamily="18" charset="0"/>
                        </a:rPr>
                        <m:t xml:space="preserve">d</m:t>
                      </m:r>
                      <m:r>
                        <a:rPr lang="en-US" sz="1600" b="0" i="1" dirty="0">
                          <a:solidFill>
                            <a:srgbClr val="222222"/>
                          </a:solidFill>
                          <a:latin typeface="Cambria Math" panose="02040503050406030204" pitchFamily="18" charset="0"/>
                        </a:rPr>
                        <m:t xml:space="preserve">t</m:t>
                      </m:r>
                    </m:e>
                  </m:nary>
                </m:oMath>
              </m:oMathPara>
            </a14:m>
            <a:endParaRPr lang="en-US" sz="1600" dirty="0"/>
          </a:p>
        </p:txBody>
      </p:sp>
      <p:sp>
        <p:nvSpPr>
          <p:cNvPr id="14" name="TextBox 13"/>
          <p:cNvSpPr txBox="1"/>
          <p:nvPr/>
        </p:nvSpPr>
        <p:spPr>
          <a:xfrm>
            <a:off x="1344168" y="4425696"/>
            <a:ext cx="10280599" cy="384048"/>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f は 0 〜 0.95 を格子状に総当たり。減りすぎない条件は「最終年の資源量が初年の9割以上」を既定とする。</a:t>
            </a:r>
          </a:p>
        </p:txBody>
      </p:sp>
      <p:sp>
        <p:nvSpPr>
          <p:cNvPr id="15" name="Rectangle 14"/>
          <p:cNvSpPr/>
          <p:nvPr/>
        </p:nvSpPr>
        <p:spPr>
          <a:xfrm>
            <a:off x="566928" y="4892040"/>
            <a:ext cx="11057839" cy="132588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5047488"/>
            <a:ext cx="10655503" cy="1051560"/>
          </a:xfrm>
          <a:prstGeom prst="rect">
            <a:avLst/>
          </a:prstGeom>
          <a:noFill/>
        </p:spPr>
        <p:txBody>
          <a:bodyPr wrap="square" anchor="t" lIns="0" rIns="0" tIns="0" bIns="0">
            <a:spAutoFit/>
          </a:bodyPr>
          <a:lstStyle/>
          <a:p>
            <a:pPr algn="l">
              <a:lnSpc>
                <a:spcPct val="132000"/>
              </a:lnSpc>
              <a:spcAft>
                <a:spcPts val="600"/>
              </a:spcAft>
            </a:pPr>
            <a:r>
              <a:rPr sz="1600" b="1">
                <a:solidFill>
                  <a:srgbClr val="C0561A"/>
                </a:solidFill>
                <a:latin typeface="Meiryo"/>
                <a:ea typeface="Meiryo"/>
                <a:cs typeface="Meiryo"/>
              </a:rPr>
              <a:t>注意：トンで足し合わせることの問題</a:t>
            </a:r>
          </a:p>
          <a:p>
            <a:pPr algn="l">
              <a:lnSpc>
                <a:spcPct val="132000"/>
              </a:lnSpc>
              <a:spcAft>
                <a:spcPts val="600"/>
              </a:spcAft>
            </a:pPr>
            <a:r>
              <a:rPr sz="1500" b="0">
                <a:solidFill>
                  <a:srgbClr val="222222"/>
                </a:solidFill>
                <a:latin typeface="Meiryo"/>
                <a:ea typeface="Meiryo"/>
                <a:cs typeface="Meiryo"/>
              </a:rPr>
              <a:t>1994〜2024年の平均資源量は ブリ 257・ウルメイワシ 197・マアジ 85 千トンに対し、サワラは 4.4 千トン。そのままトンで足すと、規模の大きい魚が答えを決めてしまう。魚種ごとに割ってから足す形でのやり直しを今後の課題とする。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結果1：最適とされた漁獲率が、探索範囲の端に張り付く</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13</a:t>
            </a:r>
          </a:p>
        </p:txBody>
      </p:sp>
      <p:pic>
        <p:nvPicPr>
          <p:cNvPr id="4" name="Picture 3" descr="09_上限に張り付く.png"/>
          <p:cNvPicPr>
            <a:picLocks noChangeAspect="1"/>
          </p:cNvPicPr>
          <p:nvPr/>
        </p:nvPicPr>
        <p:blipFill>
          <a:blip r:embed="rId2"/>
          <a:stretch>
            <a:fillRect/>
          </a:stretch>
        </p:blipFill>
        <p:spPr>
          <a:xfrm>
            <a:off x="566928" y="1280160"/>
            <a:ext cx="11055096" cy="3246120"/>
          </a:xfrm>
          <a:prstGeom prst="rect">
            <a:avLst/>
          </a:prstGeom>
        </p:spPr>
      </p:pic>
      <p:sp>
        <p:nvSpPr>
          <p:cNvPr id="5" name="figlabel"/>
          <p:cNvSpPr txBox="1"/>
          <p:nvPr/>
        </p:nvSpPr>
        <p:spPr>
          <a:xfrm>
            <a:off x="2032779" y="1405798"/>
            <a:ext cx="313182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上限を上げるほど、答えも上がり続ける</a:t>
            </a:r>
          </a:p>
        </p:txBody>
      </p:sp>
      <p:sp>
        <p:nvSpPr>
          <p:cNvPr id="6" name="figlabel"/>
          <p:cNvSpPr txBox="1"/>
          <p:nvPr/>
        </p:nvSpPr>
        <p:spPr>
          <a:xfrm>
            <a:off x="2661429" y="4234129"/>
            <a:ext cx="1874519"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探索で許した漁獲率の上限</a:t>
            </a:r>
          </a:p>
        </p:txBody>
      </p:sp>
      <p:sp>
        <p:nvSpPr>
          <p:cNvPr id="7" name="figlabel"/>
          <p:cNvSpPr txBox="1"/>
          <p:nvPr/>
        </p:nvSpPr>
        <p:spPr>
          <a:xfrm>
            <a:off x="611148" y="4328947"/>
            <a:ext cx="17221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縦軸：とれる量（千トン）</a:t>
            </a:r>
          </a:p>
        </p:txBody>
      </p:sp>
      <p:sp>
        <p:nvSpPr>
          <p:cNvPr id="8" name="figlabel"/>
          <p:cNvSpPr txBox="1"/>
          <p:nvPr/>
        </p:nvSpPr>
        <p:spPr>
          <a:xfrm>
            <a:off x="1837523" y="1775224"/>
            <a:ext cx="7442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大蛇行なし</a:t>
            </a:r>
          </a:p>
        </p:txBody>
      </p:sp>
      <p:sp>
        <p:nvSpPr>
          <p:cNvPr id="9" name="figlabel"/>
          <p:cNvSpPr txBox="1"/>
          <p:nvPr/>
        </p:nvSpPr>
        <p:spPr>
          <a:xfrm>
            <a:off x="1837523" y="2003686"/>
            <a:ext cx="464820"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大蛇行</a:t>
            </a:r>
          </a:p>
        </p:txBody>
      </p:sp>
      <p:sp>
        <p:nvSpPr>
          <p:cNvPr id="10" name="figlabel"/>
          <p:cNvSpPr txBox="1"/>
          <p:nvPr/>
        </p:nvSpPr>
        <p:spPr>
          <a:xfrm>
            <a:off x="7755826" y="1405798"/>
            <a:ext cx="2884931"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4種のうち3種が端（0か上限）に寄る</a:t>
            </a:r>
          </a:p>
        </p:txBody>
      </p:sp>
      <p:sp>
        <p:nvSpPr>
          <p:cNvPr id="11" name="figlabel"/>
          <p:cNvSpPr txBox="1"/>
          <p:nvPr/>
        </p:nvSpPr>
        <p:spPr>
          <a:xfrm>
            <a:off x="7030704" y="1961482"/>
            <a:ext cx="717550" cy="208153"/>
          </a:xfrm>
          <a:prstGeom prst="rect">
            <a:avLst/>
          </a:prstGeom>
          <a:noFill/>
        </p:spPr>
        <p:txBody>
          <a:bodyPr wrap="none" anchor="ctr" lIns="0" rIns="0" tIns="0" bIns="0">
            <a:spAutoFit/>
          </a:bodyPr>
          <a:lstStyle/>
          <a:p>
            <a:pPr algn="l">
              <a:lnSpc>
                <a:spcPct val="120000"/>
              </a:lnSpc>
              <a:spcAft>
                <a:spcPts val="0"/>
              </a:spcAft>
            </a:pPr>
            <a:r>
              <a:rPr sz="1150" b="0">
                <a:solidFill>
                  <a:srgbClr val="C0561A"/>
                </a:solidFill>
                <a:latin typeface="Meiryo"/>
                <a:ea typeface="Meiryo"/>
                <a:cs typeface="Meiryo"/>
              </a:rPr>
              <a:t>上限 0.95</a:t>
            </a:r>
          </a:p>
        </p:txBody>
      </p:sp>
      <p:sp>
        <p:nvSpPr>
          <p:cNvPr id="12" name="figlabel"/>
          <p:cNvSpPr txBox="1"/>
          <p:nvPr/>
        </p:nvSpPr>
        <p:spPr>
          <a:xfrm>
            <a:off x="7253404" y="4081399"/>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マアジ</a:t>
            </a:r>
          </a:p>
        </p:txBody>
      </p:sp>
      <p:sp>
        <p:nvSpPr>
          <p:cNvPr id="13" name="figlabel"/>
          <p:cNvSpPr txBox="1"/>
          <p:nvPr/>
        </p:nvSpPr>
        <p:spPr>
          <a:xfrm>
            <a:off x="8153756" y="4081399"/>
            <a:ext cx="9601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ウルメイワシ</a:t>
            </a:r>
          </a:p>
        </p:txBody>
      </p:sp>
      <p:sp>
        <p:nvSpPr>
          <p:cNvPr id="14" name="figlabel"/>
          <p:cNvSpPr txBox="1"/>
          <p:nvPr/>
        </p:nvSpPr>
        <p:spPr>
          <a:xfrm>
            <a:off x="9587509" y="4081399"/>
            <a:ext cx="3505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ブリ</a:t>
            </a:r>
          </a:p>
        </p:txBody>
      </p:sp>
      <p:sp>
        <p:nvSpPr>
          <p:cNvPr id="15" name="figlabel"/>
          <p:cNvSpPr txBox="1"/>
          <p:nvPr/>
        </p:nvSpPr>
        <p:spPr>
          <a:xfrm>
            <a:off x="10640261" y="4081399"/>
            <a:ext cx="502920" cy="216408"/>
          </a:xfrm>
          <a:prstGeom prst="rect">
            <a:avLst/>
          </a:prstGeom>
          <a:noFill/>
        </p:spPr>
        <p:txBody>
          <a:bodyPr wrap="none" anchor="ctr" lIns="0" rIns="0" tIns="0" bIns="0">
            <a:spAutoFit/>
          </a:bodyPr>
          <a:lstStyle/>
          <a:p>
            <a:pPr algn="ctr">
              <a:lnSpc>
                <a:spcPct val="120000"/>
              </a:lnSpc>
              <a:spcAft>
                <a:spcPts val="0"/>
              </a:spcAft>
            </a:pPr>
            <a:r>
              <a:rPr sz="1200" b="0">
                <a:solidFill>
                  <a:srgbClr val="222222"/>
                </a:solidFill>
                <a:latin typeface="Meiryo"/>
                <a:ea typeface="Meiryo"/>
                <a:cs typeface="Meiryo"/>
              </a:rPr>
              <a:t>サワラ</a:t>
            </a:r>
          </a:p>
        </p:txBody>
      </p:sp>
      <p:sp>
        <p:nvSpPr>
          <p:cNvPr id="16" name="figlabel"/>
          <p:cNvSpPr txBox="1"/>
          <p:nvPr/>
        </p:nvSpPr>
        <p:spPr>
          <a:xfrm>
            <a:off x="9855683" y="4328947"/>
            <a:ext cx="1722120" cy="199898"/>
          </a:xfrm>
          <a:prstGeom prst="rect">
            <a:avLst/>
          </a:prstGeom>
          <a:noFill/>
        </p:spPr>
        <p:txBody>
          <a:bodyPr wrap="none" anchor="ctr" lIns="0" rIns="0" tIns="0" bIns="0">
            <a:spAutoFit/>
          </a:bodyPr>
          <a:lstStyle/>
          <a:p>
            <a:pPr algn="r">
              <a:lnSpc>
                <a:spcPct val="120000"/>
              </a:lnSpc>
              <a:spcAft>
                <a:spcPts val="0"/>
              </a:spcAft>
            </a:pPr>
            <a:r>
              <a:rPr sz="1100" b="0">
                <a:solidFill>
                  <a:srgbClr val="6E6E6E"/>
                </a:solidFill>
                <a:latin typeface="Meiryo"/>
                <a:ea typeface="Meiryo"/>
                <a:cs typeface="Meiryo"/>
              </a:rPr>
              <a:t>縦軸：最適とされた漁獲率</a:t>
            </a:r>
          </a:p>
        </p:txBody>
      </p:sp>
      <p:sp>
        <p:nvSpPr>
          <p:cNvPr id="17" name="Rectangle 16"/>
          <p:cNvSpPr/>
          <p:nvPr/>
        </p:nvSpPr>
        <p:spPr>
          <a:xfrm>
            <a:off x="566928" y="5257800"/>
            <a:ext cx="11057839" cy="960120"/>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68096" y="5394960"/>
            <a:ext cx="10655503" cy="731520"/>
          </a:xfrm>
          <a:prstGeom prst="rect">
            <a:avLst/>
          </a:prstGeom>
          <a:noFill/>
        </p:spPr>
        <p:txBody>
          <a:bodyPr wrap="square" anchor="t" lIns="0" rIns="0" tIns="0" bIns="0">
            <a:spAutoFit/>
          </a:bodyPr>
          <a:lstStyle/>
          <a:p>
            <a:pPr algn="l">
              <a:lnSpc>
                <a:spcPct val="132000"/>
              </a:lnSpc>
              <a:spcAft>
                <a:spcPts val="500"/>
              </a:spcAft>
            </a:pPr>
            <a:r>
              <a:rPr sz="1600" b="0">
                <a:solidFill>
                  <a:srgbClr val="222222"/>
                </a:solidFill>
                <a:latin typeface="Meiryo"/>
                <a:ea typeface="Meiryo"/>
                <a:cs typeface="Meiryo"/>
              </a:rPr>
              <a:t>探索で許す上限を 0.25 → 1.25 と上げると、答えの漁獲量も 207 → 1094 千トンと上がり続ける。</a:t>
            </a:r>
          </a:p>
          <a:p>
            <a:pPr algn="l">
              <a:lnSpc>
                <a:spcPct val="132000"/>
              </a:lnSpc>
              <a:spcAft>
                <a:spcPts val="500"/>
              </a:spcAft>
            </a:pPr>
            <a:r>
              <a:rPr sz="1600" b="0">
                <a:solidFill>
                  <a:srgbClr val="222222"/>
                </a:solidFill>
                <a:latin typeface="Meiryo"/>
                <a:ea typeface="Meiryo"/>
                <a:cs typeface="Meiryo"/>
              </a:rPr>
              <a:t>つまり最大は範囲の内側になく、これは探索の失敗ではなく、いつも起きる現象だった。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結果2：端に行く理由 ― とれる量が漁獲率の一次式になる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14</a:t>
            </a:r>
          </a:p>
        </p:txBody>
      </p:sp>
      <p:sp>
        <p:nvSpPr>
          <p:cNvPr id="4" name="TextBox 3"/>
          <p:cNvSpPr txBox="1"/>
          <p:nvPr/>
        </p:nvSpPr>
        <p:spPr>
          <a:xfrm>
            <a:off x="566928" y="1133856"/>
            <a:ext cx="580644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① 両辺を自分の資源量で割る（1匹あたりの増え方）</a:t>
            </a:r>
          </a:p>
        </p:txBody>
      </p:sp>
      <p:sp>
        <p:nvSpPr>
          <p:cNvPr id="5" name="TextBox 4"/>
          <p:cNvSpPr txBox="1"/>
          <p:nvPr/>
        </p:nvSpPr>
        <p:spPr>
          <a:xfrm>
            <a:off x="704088" y="1481328"/>
            <a:ext cx="566928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en>
                  </m:f>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2</m:t>
                      </m:r>
                    </m:sub>
                  </m:sSub>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den>
                  </m:f>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d</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num>
                    <m:den>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den>
                  </m:f>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c</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2</m:t>
                      </m:r>
                    </m:sub>
                  </m:sSub>
                </m:oMath>
              </m:oMathPara>
            </a14:m>
            <a:endParaRPr lang="en-US" sz="1500" dirty="0"/>
          </a:p>
        </p:txBody>
      </p:sp>
      <p:sp>
        <p:nvSpPr>
          <p:cNvPr id="6" name="TextBox 5"/>
          <p:cNvSpPr txBox="1"/>
          <p:nvPr/>
        </p:nvSpPr>
        <p:spPr>
          <a:xfrm>
            <a:off x="704088" y="2615184"/>
            <a:ext cx="5669280" cy="804672"/>
          </a:xfrm>
          <a:prstGeom prst="rect">
            <a:avLst/>
          </a:prstGeom>
          <a:noFill/>
        </p:spPr>
        <p:txBody>
          <a:bodyPr wrap="square" anchor="t" lIns="0" rIns="0" tIns="0" bIns="0">
            <a:spAutoFit/>
          </a:bodyPr>
          <a:lstStyle/>
          <a:p>
            <a:pPr algn="l">
              <a:lnSpc>
                <a:spcPct val="132000"/>
              </a:lnSpc>
              <a:spcAft>
                <a:spcPts val="300"/>
              </a:spcAft>
            </a:pPr>
            <a:r>
              <a:rPr sz="1400" b="1">
                <a:solidFill>
                  <a:srgbClr val="C0561A"/>
                </a:solidFill>
                <a:latin typeface="Meiryo"/>
                <a:ea typeface="Meiryo"/>
                <a:cs typeface="Meiryo"/>
              </a:rPr>
              <a:t>右辺に自分（x1）が出てこない。混み合いの項がないから。</a:t>
            </a:r>
          </a:p>
          <a:p>
            <a:pPr algn="l">
              <a:lnSpc>
                <a:spcPct val="132000"/>
              </a:lnSpc>
              <a:spcAft>
                <a:spcPts val="300"/>
              </a:spcAft>
            </a:pPr>
            <a:r>
              <a:rPr sz="1400" b="0">
                <a:solidFill>
                  <a:srgbClr val="222222"/>
                </a:solidFill>
                <a:latin typeface="Meiryo"/>
                <a:ea typeface="Meiryo"/>
                <a:cs typeface="Meiryo"/>
              </a:rPr>
              <a:t>a1 = r_x1 − f_x1（餌の漁獲率）、b1 = r_y1 + f_y1（食べる魚の漁獲率）</a:t>
            </a:r>
          </a:p>
        </p:txBody>
      </p:sp>
      <p:sp>
        <p:nvSpPr>
          <p:cNvPr id="7" name="TextBox 6"/>
          <p:cNvSpPr txBox="1"/>
          <p:nvPr/>
        </p:nvSpPr>
        <p:spPr>
          <a:xfrm>
            <a:off x="566928" y="3474720"/>
            <a:ext cx="580644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② 釣り合い（左辺＝0）を解く</a:t>
            </a:r>
          </a:p>
        </p:txBody>
      </p:sp>
      <p:sp>
        <p:nvSpPr>
          <p:cNvPr id="8" name="TextBox 7"/>
          <p:cNvSpPr txBox="1"/>
          <p:nvPr/>
        </p:nvSpPr>
        <p:spPr>
          <a:xfrm>
            <a:off x="704088" y="3785615"/>
            <a:ext cx="566928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λ</m:t>
                          </m:r>
                        </m:sub>
                      </m:sSub>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b</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C</m:t>
                          </m:r>
                        </m:sub>
                      </m:sSub>
                    </m:den>
                  </m:f>
                </m:oMath>
              </m:oMathPara>
            </a14:m>
            <a:endParaRPr lang="en-US" sz="1500" dirty="0"/>
          </a:p>
        </p:txBody>
      </p:sp>
      <p:sp>
        <p:nvSpPr>
          <p:cNvPr id="9" name="TextBox 8"/>
          <p:cNvSpPr txBox="1"/>
          <p:nvPr/>
        </p:nvSpPr>
        <p:spPr>
          <a:xfrm>
            <a:off x="704088" y="4919472"/>
            <a:ext cx="5669280" cy="603504"/>
          </a:xfrm>
          <a:prstGeom prst="rect">
            <a:avLst/>
          </a:prstGeom>
          <a:noFill/>
        </p:spPr>
        <p:txBody>
          <a:bodyPr wrap="square" anchor="t" lIns="0" rIns="0" tIns="0" bIns="0">
            <a:spAutoFit/>
          </a:bodyPr>
          <a:lstStyle/>
          <a:p>
            <a:pPr algn="l">
              <a:lnSpc>
                <a:spcPct val="132000"/>
              </a:lnSpc>
              <a:spcAft>
                <a:spcPts val="300"/>
              </a:spcAft>
            </a:pPr>
            <a:r>
              <a:rPr sz="1400" b="1">
                <a:solidFill>
                  <a:srgbClr val="C0561A"/>
                </a:solidFill>
                <a:latin typeface="Meiryo"/>
                <a:ea typeface="Meiryo"/>
                <a:cs typeface="Meiryo"/>
              </a:rPr>
              <a:t>y* は a だけ、x* は b だけで決まる。</a:t>
            </a:r>
          </a:p>
          <a:p>
            <a:pPr algn="l">
              <a:lnSpc>
                <a:spcPct val="132000"/>
              </a:lnSpc>
              <a:spcAft>
                <a:spcPts val="300"/>
              </a:spcAft>
            </a:pPr>
            <a:r>
              <a:rPr sz="1400" b="0">
                <a:solidFill>
                  <a:srgbClr val="222222"/>
                </a:solidFill>
                <a:latin typeface="Meiryo"/>
                <a:ea typeface="Meiryo"/>
                <a:cs typeface="Meiryo"/>
              </a:rPr>
              <a:t>Δλ = λ11λ22 − λ12λ21、ΔC = c1d2λ11λ22 − c2d1λ12λ21</a:t>
            </a:r>
          </a:p>
        </p:txBody>
      </p:sp>
      <p:sp>
        <p:nvSpPr>
          <p:cNvPr id="10" name="TextBox 9"/>
          <p:cNvSpPr txBox="1"/>
          <p:nvPr/>
        </p:nvSpPr>
        <p:spPr>
          <a:xfrm>
            <a:off x="6675120" y="1133856"/>
            <a:ext cx="493776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③ とれる量を書く</a:t>
            </a:r>
          </a:p>
        </p:txBody>
      </p:sp>
      <p:sp>
        <p:nvSpPr>
          <p:cNvPr id="11" name="TextBox 10"/>
          <p:cNvSpPr txBox="1"/>
          <p:nvPr/>
        </p:nvSpPr>
        <p:spPr>
          <a:xfrm>
            <a:off x="6812280" y="1481328"/>
            <a:ext cx="4800600" cy="6583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1" dirty="0">
                      <a:solidFill>
                        <a:srgbClr val="222222"/>
                      </a:solidFill>
                      <a:latin typeface="Cambria Math" panose="02040503050406030204" pitchFamily="18" charset="0"/>
                    </a:rPr>
                    <m:t xml:space="preserve">Y</m:t>
                  </m:r>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x1</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x2</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2</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y1</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f</m:t>
                      </m:r>
                    </m:e>
                    <m:sub>
                      <m:r>
                        <a:rPr lang="en-US" sz="1500" b="0" i="0" dirty="0">
                          <a:solidFill>
                            <a:srgbClr val="222222"/>
                          </a:solidFill>
                          <a:latin typeface="Cambria Math" panose="02040503050406030204" pitchFamily="18" charset="0"/>
                        </a:rPr>
                        <m:t xml:space="preserve">y2</m:t>
                      </m:r>
                    </m:sub>
                  </m:sSub>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2</m:t>
                          </m:r>
                        </m:sub>
                      </m:sSub>
                    </m:e>
                    <m:sup>
                      <m:r>
                        <a:rPr lang="en-US" sz="1500" b="0" i="0" dirty="0">
                          <a:solidFill>
                            <a:srgbClr val="222222"/>
                          </a:solidFill>
                          <a:latin typeface="Cambria Math" panose="02040503050406030204" pitchFamily="18" charset="0"/>
                        </a:rPr>
                        <m:t xml:space="preserve">*</m:t>
                      </m:r>
                    </m:sup>
                  </m:sSup>
                </m:oMath>
              </m:oMathPara>
            </a14:m>
            <a:endParaRPr lang="en-US" sz="1500" dirty="0"/>
          </a:p>
        </p:txBody>
      </p:sp>
      <p:sp>
        <p:nvSpPr>
          <p:cNvPr id="12" name="TextBox 11"/>
          <p:cNvSpPr txBox="1"/>
          <p:nvPr/>
        </p:nvSpPr>
        <p:spPr>
          <a:xfrm>
            <a:off x="6812280" y="2249424"/>
            <a:ext cx="4800600" cy="2240280"/>
          </a:xfrm>
          <a:prstGeom prst="rect">
            <a:avLst/>
          </a:prstGeom>
          <a:noFill/>
        </p:spPr>
        <p:txBody>
          <a:bodyPr wrap="square" anchor="t" lIns="0" rIns="0" tIns="0" bIns="0">
            <a:spAutoFit/>
          </a:bodyPr>
          <a:lstStyle/>
          <a:p>
            <a:pPr algn="l">
              <a:lnSpc>
                <a:spcPct val="132000"/>
              </a:lnSpc>
              <a:spcAft>
                <a:spcPts val="1000"/>
              </a:spcAft>
            </a:pPr>
            <a:r>
              <a:rPr sz="1500" b="0">
                <a:solidFill>
                  <a:srgbClr val="222222"/>
                </a:solidFill>
                <a:latin typeface="Meiryo"/>
                <a:ea typeface="Meiryo"/>
                <a:cs typeface="Meiryo"/>
              </a:rPr>
              <a:t>x1* に f_x1 は入っていない。だから f_x1 は前についた係数としてしか出てこない。</a:t>
            </a:r>
          </a:p>
          <a:p>
            <a:pPr algn="l">
              <a:lnSpc>
                <a:spcPct val="132000"/>
              </a:lnSpc>
              <a:spcAft>
                <a:spcPts val="1000"/>
              </a:spcAft>
            </a:pPr>
            <a:r>
              <a:rPr sz="1500" b="0">
                <a:solidFill>
                  <a:srgbClr val="222222"/>
                </a:solidFill>
                <a:latin typeface="Meiryo"/>
                <a:ea typeface="Meiryo"/>
                <a:cs typeface="Meiryo"/>
              </a:rPr>
              <a:t>他の3つも同じ。よって とれる量 Y は、どの漁獲率について見ても1次式（直線）になる。</a:t>
            </a:r>
          </a:p>
          <a:p>
            <a:pPr algn="l">
              <a:lnSpc>
                <a:spcPct val="132000"/>
              </a:lnSpc>
              <a:spcAft>
                <a:spcPts val="1000"/>
              </a:spcAft>
            </a:pPr>
            <a:r>
              <a:rPr sz="1500" b="1">
                <a:solidFill>
                  <a:srgbClr val="C0561A"/>
                </a:solidFill>
                <a:latin typeface="Meiryo"/>
                <a:ea typeface="Meiryo"/>
                <a:cs typeface="Meiryo"/>
              </a:rPr>
              <a:t>直線の最大は端。4つの漁獲率それぞれに当てはめると、最大は必ず箱の角（0 か上限）にある。</a:t>
            </a:r>
          </a:p>
        </p:txBody>
      </p:sp>
      <p:sp>
        <p:nvSpPr>
          <p:cNvPr id="13" name="Rectangle 12"/>
          <p:cNvSpPr/>
          <p:nvPr/>
        </p:nvSpPr>
        <p:spPr>
          <a:xfrm>
            <a:off x="6675120" y="4572000"/>
            <a:ext cx="4937760" cy="1298448"/>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39712" y="4700016"/>
            <a:ext cx="4608576" cy="114300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結論：報告される「MSY」は、探索範囲の上限をどこに置いたかで決まる数値であって、生き物の側の量ではない。これは推定値の良し悪しに左右されない。</a:t>
            </a:r>
          </a:p>
        </p:txBody>
      </p:sp>
      <p:sp>
        <p:nvSpPr>
          <p:cNvPr id="15" name="TextBox 14"/>
          <p:cNvSpPr txBox="1"/>
          <p:nvPr/>
        </p:nvSpPr>
        <p:spPr>
          <a:xfrm>
            <a:off x="566928" y="5870448"/>
            <a:ext cx="9869119" cy="411480"/>
          </a:xfrm>
          <a:prstGeom prst="rect">
            <a:avLst/>
          </a:prstGeom>
          <a:noFill/>
        </p:spPr>
        <p:txBody>
          <a:bodyPr wrap="square" anchor="t" lIns="0" rIns="0" tIns="0" bIns="0">
            <a:spAutoFit/>
          </a:bodyPr>
          <a:lstStyle/>
          <a:p>
            <a:pPr algn="l">
              <a:lnSpc>
                <a:spcPct val="132000"/>
              </a:lnSpc>
              <a:spcAft>
                <a:spcPts val="600"/>
              </a:spcAft>
            </a:pPr>
            <a:r>
              <a:rPr sz="1150" b="0">
                <a:solidFill>
                  <a:srgbClr val="6E6E6E"/>
                </a:solidFill>
                <a:latin typeface="Meiryo"/>
                <a:ea typeface="Meiryo"/>
                <a:cs typeface="Meiryo"/>
              </a:rPr>
              <a:t>釣り合いの量が自分の漁獲率に依存しない点は古典的に知られる（Volterra 1926）。本研究が述べるのは、そこから従う「最適な漁獲率が必ず端に来る」ほう。有限の期間で測っても同じになることは予備23枚目。</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結果3：そもそも、漁獲ゼロの釣り合いが正にならない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15</a:t>
            </a:r>
          </a:p>
        </p:txBody>
      </p:sp>
      <p:pic>
        <p:nvPicPr>
          <p:cNvPr id="4" name="Picture 3" descr="11_釣り合いの量が負.png"/>
          <p:cNvPicPr>
            <a:picLocks noChangeAspect="1"/>
          </p:cNvPicPr>
          <p:nvPr/>
        </p:nvPicPr>
        <p:blipFill>
          <a:blip r:embed="rId2"/>
          <a:stretch>
            <a:fillRect/>
          </a:stretch>
        </p:blipFill>
        <p:spPr>
          <a:xfrm>
            <a:off x="1892807" y="1152144"/>
            <a:ext cx="8412480" cy="2698947"/>
          </a:xfrm>
          <a:prstGeom prst="rect">
            <a:avLst/>
          </a:prstGeom>
        </p:spPr>
      </p:pic>
      <p:sp>
        <p:nvSpPr>
          <p:cNvPr id="5" name="figlabel"/>
          <p:cNvSpPr txBox="1"/>
          <p:nvPr/>
        </p:nvSpPr>
        <p:spPr>
          <a:xfrm>
            <a:off x="3863185" y="1286245"/>
            <a:ext cx="8394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大蛇行なし</a:t>
            </a:r>
          </a:p>
        </p:txBody>
      </p:sp>
      <p:sp>
        <p:nvSpPr>
          <p:cNvPr id="6" name="figlabel"/>
          <p:cNvSpPr txBox="1"/>
          <p:nvPr/>
        </p:nvSpPr>
        <p:spPr>
          <a:xfrm>
            <a:off x="2794221"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マアジ</a:t>
            </a:r>
          </a:p>
        </p:txBody>
      </p:sp>
      <p:sp>
        <p:nvSpPr>
          <p:cNvPr id="7" name="figlabel"/>
          <p:cNvSpPr txBox="1"/>
          <p:nvPr/>
        </p:nvSpPr>
        <p:spPr>
          <a:xfrm>
            <a:off x="3422197" y="3590800"/>
            <a:ext cx="8839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ウルメイワシ</a:t>
            </a:r>
          </a:p>
        </p:txBody>
      </p:sp>
      <p:sp>
        <p:nvSpPr>
          <p:cNvPr id="8" name="figlabel"/>
          <p:cNvSpPr txBox="1"/>
          <p:nvPr/>
        </p:nvSpPr>
        <p:spPr>
          <a:xfrm>
            <a:off x="4539122" y="3590800"/>
            <a:ext cx="3251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ブリ</a:t>
            </a:r>
          </a:p>
        </p:txBody>
      </p:sp>
      <p:sp>
        <p:nvSpPr>
          <p:cNvPr id="9" name="figlabel"/>
          <p:cNvSpPr txBox="1"/>
          <p:nvPr/>
        </p:nvSpPr>
        <p:spPr>
          <a:xfrm>
            <a:off x="5306798"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サワラ</a:t>
            </a:r>
          </a:p>
        </p:txBody>
      </p:sp>
      <p:sp>
        <p:nvSpPr>
          <p:cNvPr id="10" name="figlabel"/>
          <p:cNvSpPr txBox="1"/>
          <p:nvPr/>
        </p:nvSpPr>
        <p:spPr>
          <a:xfrm>
            <a:off x="8243064" y="1286245"/>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a:t>
            </a:r>
          </a:p>
        </p:txBody>
      </p:sp>
      <p:sp>
        <p:nvSpPr>
          <p:cNvPr id="11" name="figlabel"/>
          <p:cNvSpPr txBox="1"/>
          <p:nvPr/>
        </p:nvSpPr>
        <p:spPr>
          <a:xfrm>
            <a:off x="7015350"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マアジ</a:t>
            </a:r>
          </a:p>
        </p:txBody>
      </p:sp>
      <p:sp>
        <p:nvSpPr>
          <p:cNvPr id="12" name="figlabel"/>
          <p:cNvSpPr txBox="1"/>
          <p:nvPr/>
        </p:nvSpPr>
        <p:spPr>
          <a:xfrm>
            <a:off x="7643326" y="3590800"/>
            <a:ext cx="8839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ウルメイワシ</a:t>
            </a:r>
          </a:p>
        </p:txBody>
      </p:sp>
      <p:sp>
        <p:nvSpPr>
          <p:cNvPr id="13" name="figlabel"/>
          <p:cNvSpPr txBox="1"/>
          <p:nvPr/>
        </p:nvSpPr>
        <p:spPr>
          <a:xfrm>
            <a:off x="8760252" y="3590800"/>
            <a:ext cx="3251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ブリ</a:t>
            </a:r>
          </a:p>
        </p:txBody>
      </p:sp>
      <p:sp>
        <p:nvSpPr>
          <p:cNvPr id="14" name="figlabel"/>
          <p:cNvSpPr txBox="1"/>
          <p:nvPr/>
        </p:nvSpPr>
        <p:spPr>
          <a:xfrm>
            <a:off x="9527927" y="3590800"/>
            <a:ext cx="464820" cy="199898"/>
          </a:xfrm>
          <a:prstGeom prst="rect">
            <a:avLst/>
          </a:prstGeom>
          <a:noFill/>
        </p:spPr>
        <p:txBody>
          <a:bodyPr wrap="none" anchor="ctr" lIns="0" rIns="0" tIns="0" bIns="0">
            <a:spAutoFit/>
          </a:bodyPr>
          <a:lstStyle/>
          <a:p>
            <a:pPr algn="ctr">
              <a:lnSpc>
                <a:spcPct val="120000"/>
              </a:lnSpc>
              <a:spcAft>
                <a:spcPts val="0"/>
              </a:spcAft>
            </a:pPr>
            <a:r>
              <a:rPr sz="1100" b="0">
                <a:solidFill>
                  <a:srgbClr val="222222"/>
                </a:solidFill>
                <a:latin typeface="Meiryo"/>
                <a:ea typeface="Meiryo"/>
                <a:cs typeface="Meiryo"/>
              </a:rPr>
              <a:t>サワラ</a:t>
            </a:r>
          </a:p>
        </p:txBody>
      </p:sp>
      <p:sp>
        <p:nvSpPr>
          <p:cNvPr id="15" name="figlabel"/>
          <p:cNvSpPr txBox="1"/>
          <p:nvPr/>
        </p:nvSpPr>
        <p:spPr>
          <a:xfrm>
            <a:off x="2708371" y="1596114"/>
            <a:ext cx="12649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マアジがマイナス</a:t>
            </a:r>
          </a:p>
        </p:txBody>
      </p:sp>
      <p:sp>
        <p:nvSpPr>
          <p:cNvPr id="16" name="figlabel"/>
          <p:cNvSpPr txBox="1"/>
          <p:nvPr/>
        </p:nvSpPr>
        <p:spPr>
          <a:xfrm>
            <a:off x="6929501" y="1596114"/>
            <a:ext cx="1722120" cy="216408"/>
          </a:xfrm>
          <a:prstGeom prst="rect">
            <a:avLst/>
          </a:prstGeom>
          <a:noFill/>
        </p:spPr>
        <p:txBody>
          <a:bodyPr wrap="none" anchor="ctr" lIns="0" rIns="0" tIns="0" bIns="0">
            <a:spAutoFit/>
          </a:bodyPr>
          <a:lstStyle/>
          <a:p>
            <a:pPr algn="l">
              <a:lnSpc>
                <a:spcPct val="120000"/>
              </a:lnSpc>
              <a:spcAft>
                <a:spcPts val="0"/>
              </a:spcAft>
            </a:pPr>
            <a:r>
              <a:rPr sz="1200" b="0">
                <a:solidFill>
                  <a:srgbClr val="C0561A"/>
                </a:solidFill>
                <a:latin typeface="Meiryo"/>
                <a:ea typeface="Meiryo"/>
                <a:cs typeface="Meiryo"/>
              </a:rPr>
              <a:t>ウルメイワシがマイナス</a:t>
            </a:r>
          </a:p>
        </p:txBody>
      </p:sp>
      <p:sp>
        <p:nvSpPr>
          <p:cNvPr id="17" name="figlabel"/>
          <p:cNvSpPr txBox="1"/>
          <p:nvPr/>
        </p:nvSpPr>
        <p:spPr>
          <a:xfrm>
            <a:off x="1926457" y="1157538"/>
            <a:ext cx="15824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縦軸：資源量（千トン）</a:t>
            </a:r>
          </a:p>
        </p:txBody>
      </p:sp>
      <p:sp>
        <p:nvSpPr>
          <p:cNvPr id="18" name="TextBox 17"/>
          <p:cNvSpPr txBox="1"/>
          <p:nvPr/>
        </p:nvSpPr>
        <p:spPr>
          <a:xfrm>
            <a:off x="566928" y="4069080"/>
            <a:ext cx="10378440" cy="2212848"/>
          </a:xfrm>
          <a:prstGeom prst="rect">
            <a:avLst/>
          </a:prstGeom>
          <a:noFill/>
        </p:spPr>
        <p:txBody>
          <a:bodyPr wrap="square" anchor="t" lIns="0" rIns="0" tIns="0" bIns="0">
            <a:spAutoFit/>
          </a:bodyPr>
          <a:lstStyle/>
          <a:p>
            <a:pPr algn="l">
              <a:lnSpc>
                <a:spcPct val="132000"/>
              </a:lnSpc>
              <a:spcAft>
                <a:spcPts val="700"/>
              </a:spcAft>
            </a:pPr>
            <a:r>
              <a:rPr sz="1550" b="0">
                <a:solidFill>
                  <a:srgbClr val="222222"/>
                </a:solidFill>
                <a:latin typeface="Meiryo"/>
                <a:ea typeface="Meiryo"/>
                <a:cs typeface="Meiryo"/>
              </a:rPr>
              <a:t>・漁獲ゼロのときの釣り合いを計算すると、大蛇行なしではマアジが −50 千トン、大蛇行ではウルメイワシが −130 千トン。4種が同時に正で釣り合う点が、漁獲ゼロでは存在しない。</a:t>
            </a:r>
          </a:p>
          <a:p>
            <a:pPr algn="l">
              <a:lnSpc>
                <a:spcPct val="132000"/>
              </a:lnSpc>
              <a:spcAft>
                <a:spcPts val="700"/>
              </a:spcAft>
            </a:pPr>
            <a:r>
              <a:rPr sz="1550" b="0">
                <a:solidFill>
                  <a:srgbClr val="222222"/>
                </a:solidFill>
                <a:latin typeface="Meiryo"/>
                <a:ea typeface="Meiryo"/>
                <a:cs typeface="Meiryo"/>
              </a:rPr>
              <a:t>・そのため「釣り合いの量に対する比」で持続を判定するやり方は使えない。</a:t>
            </a:r>
          </a:p>
          <a:p>
            <a:pPr algn="l">
              <a:lnSpc>
                <a:spcPct val="132000"/>
              </a:lnSpc>
              <a:spcAft>
                <a:spcPts val="700"/>
              </a:spcAft>
            </a:pPr>
            <a:r>
              <a:rPr sz="1550" b="0">
                <a:solidFill>
                  <a:srgbClr val="222222"/>
                </a:solidFill>
                <a:latin typeface="Meiryo"/>
                <a:ea typeface="Meiryo"/>
                <a:cs typeface="Meiryo"/>
              </a:rPr>
              <a:t>・結果2は「仮に正の釣り合いがあっても、内側に最大はない」という話。実際はその釣り合いすら正にならない。どちらの意味でも内側の MSY は決められない。</a:t>
            </a:r>
          </a:p>
          <a:p>
            <a:pPr algn="l">
              <a:lnSpc>
                <a:spcPct val="132000"/>
              </a:lnSpc>
              <a:spcAft>
                <a:spcPts val="700"/>
              </a:spcAft>
            </a:pPr>
            <a:r>
              <a:rPr sz="1400" b="0">
                <a:solidFill>
                  <a:srgbClr val="6E6E6E"/>
                </a:solidFill>
                <a:latin typeface="Meiryo"/>
                <a:ea typeface="Meiryo"/>
                <a:cs typeface="Meiryo"/>
              </a:rPr>
              <a:t>・ただし正にならないのは漁獲ゼロのとき。漁獲率を変えると正になる点も見つかっている（角16点のうち 大蛇行なし1点／大蛇行4点）。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3654"/>
        </a:solidFill>
        <a:effectLst/>
      </p:bgPr>
    </p:bg>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800" b="1">
                <a:solidFill>
                  <a:srgbClr val="FFFFFF"/>
                </a:solidFill>
                <a:latin typeface="Meiryo"/>
                <a:ea typeface="Meiryo"/>
                <a:cs typeface="Meiryo"/>
              </a:rPr>
              <a:t>まとめ</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8FA6C0"/>
                </a:solidFill>
                <a:latin typeface="Meiryo"/>
                <a:ea typeface="Meiryo"/>
                <a:cs typeface="Meiryo"/>
              </a:rPr>
              <a:t>16</a:t>
            </a:r>
          </a:p>
        </p:txBody>
      </p:sp>
      <p:sp>
        <p:nvSpPr>
          <p:cNvPr id="4" name="Rectangle 3"/>
          <p:cNvSpPr/>
          <p:nvPr/>
        </p:nvSpPr>
        <p:spPr>
          <a:xfrm>
            <a:off x="566928" y="1325880"/>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566928" y="1417320"/>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1</a:t>
            </a:r>
          </a:p>
        </p:txBody>
      </p:sp>
      <p:sp>
        <p:nvSpPr>
          <p:cNvPr id="6" name="TextBox 5"/>
          <p:cNvSpPr txBox="1"/>
          <p:nvPr/>
        </p:nvSpPr>
        <p:spPr>
          <a:xfrm>
            <a:off x="1280160" y="1371600"/>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時期ごと・魚種のつながりを入れた「とっていい量」の計算の枠組みを作り、実データで動かした。</a:t>
            </a:r>
          </a:p>
        </p:txBody>
      </p:sp>
      <p:sp>
        <p:nvSpPr>
          <p:cNvPr id="7" name="Rectangle 6"/>
          <p:cNvSpPr/>
          <p:nvPr/>
        </p:nvSpPr>
        <p:spPr>
          <a:xfrm>
            <a:off x="566928" y="2532888"/>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66928" y="2624328"/>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2</a:t>
            </a:r>
          </a:p>
        </p:txBody>
      </p:sp>
      <p:sp>
        <p:nvSpPr>
          <p:cNvPr id="9" name="TextBox 8"/>
          <p:cNvSpPr txBox="1"/>
          <p:nvPr/>
        </p:nvSpPr>
        <p:spPr>
          <a:xfrm>
            <a:off x="1280160" y="2578608"/>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その枠組みが返すのは MSY ではなく「資源の下限を守ったうえでの最大の漁獲量」。原因は混み合いの効果がないこと。とれる量が漁獲率の一次式になるため、答えは必ず探索範囲の端に来る。</a:t>
            </a:r>
          </a:p>
        </p:txBody>
      </p:sp>
      <p:sp>
        <p:nvSpPr>
          <p:cNvPr id="10" name="Rectangle 9"/>
          <p:cNvSpPr/>
          <p:nvPr/>
        </p:nvSpPr>
        <p:spPr>
          <a:xfrm>
            <a:off x="566928" y="3739896"/>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66928" y="3831335"/>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3</a:t>
            </a:r>
          </a:p>
        </p:txBody>
      </p:sp>
      <p:sp>
        <p:nvSpPr>
          <p:cNvPr id="12" name="TextBox 11"/>
          <p:cNvSpPr txBox="1"/>
          <p:nvPr/>
        </p:nvSpPr>
        <p:spPr>
          <a:xfrm>
            <a:off x="1280160" y="3785615"/>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1種ずつの解析から借りられるのは「増える速さ」まで。借りる値を増やすほど当てはまりは単調に悪くなる（12個 → 10個 → 8個）。</a:t>
            </a:r>
          </a:p>
        </p:txBody>
      </p:sp>
      <p:sp>
        <p:nvSpPr>
          <p:cNvPr id="13" name="Rectangle 12"/>
          <p:cNvSpPr/>
          <p:nvPr/>
        </p:nvSpPr>
        <p:spPr>
          <a:xfrm>
            <a:off x="566928" y="4946904"/>
            <a:ext cx="502920" cy="502920"/>
          </a:xfrm>
          <a:prstGeom prst="rect">
            <a:avLst/>
          </a:prstGeom>
          <a:solidFill>
            <a:srgbClr val="3E66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66928" y="5038344"/>
            <a:ext cx="502920" cy="365760"/>
          </a:xfrm>
          <a:prstGeom prst="rect">
            <a:avLst/>
          </a:prstGeom>
          <a:noFill/>
        </p:spPr>
        <p:txBody>
          <a:bodyPr wrap="square" anchor="t" lIns="0" rIns="0" tIns="0" bIns="0">
            <a:spAutoFit/>
          </a:bodyPr>
          <a:lstStyle/>
          <a:p>
            <a:pPr algn="ctr">
              <a:lnSpc>
                <a:spcPct val="132000"/>
              </a:lnSpc>
              <a:spcAft>
                <a:spcPts val="600"/>
              </a:spcAft>
            </a:pPr>
            <a:r>
              <a:rPr sz="1800" b="1">
                <a:solidFill>
                  <a:srgbClr val="FFFFFF"/>
                </a:solidFill>
                <a:latin typeface="Meiryo"/>
                <a:ea typeface="Meiryo"/>
                <a:cs typeface="Meiryo"/>
              </a:rPr>
              <a:t>4</a:t>
            </a:r>
          </a:p>
        </p:txBody>
      </p:sp>
      <p:sp>
        <p:nvSpPr>
          <p:cNvPr id="15" name="TextBox 14"/>
          <p:cNvSpPr txBox="1"/>
          <p:nvPr/>
        </p:nvSpPr>
        <p:spPr>
          <a:xfrm>
            <a:off x="1280160" y="4992624"/>
            <a:ext cx="10344607" cy="1005840"/>
          </a:xfrm>
          <a:prstGeom prst="rect">
            <a:avLst/>
          </a:prstGeom>
          <a:noFill/>
        </p:spPr>
        <p:txBody>
          <a:bodyPr wrap="square" anchor="t" lIns="0" rIns="0" tIns="0" bIns="0">
            <a:spAutoFit/>
          </a:bodyPr>
          <a:lstStyle/>
          <a:p>
            <a:pPr algn="l">
              <a:lnSpc>
                <a:spcPct val="135000"/>
              </a:lnSpc>
              <a:spcAft>
                <a:spcPts val="600"/>
              </a:spcAft>
            </a:pPr>
            <a:r>
              <a:rPr sz="1700" b="0">
                <a:solidFill>
                  <a:srgbClr val="FFFFFF"/>
                </a:solidFill>
                <a:latin typeface="Meiryo"/>
                <a:ea typeface="Meiryo"/>
                <a:cs typeface="Meiryo"/>
              </a:rPr>
              <a:t>今後：内側に最大を作るには混み合いの項を戻す必要がある。また、トンでの単純な足し算をやめ、魚種ごとに割った量で測り直す。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［予備］資源が減りすぎない、の4つの決め方</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17</a:t>
            </a:r>
          </a:p>
        </p:txBody>
      </p:sp>
      <p:graphicFrame>
        <p:nvGraphicFramePr>
          <p:cNvPr id="4" name="Table 3"/>
          <p:cNvGraphicFramePr>
            <a:graphicFrameLocks noGrp="1"/>
          </p:cNvGraphicFramePr>
          <p:nvPr/>
        </p:nvGraphicFramePr>
        <p:xfrm>
          <a:off x="566928" y="1234440"/>
          <a:ext cx="11055096" cy="3044952"/>
        </p:xfrm>
        <a:graphic>
          <a:graphicData uri="http://schemas.openxmlformats.org/drawingml/2006/table">
            <a:tbl>
              <a:tblPr firstRow="1">
                <a:tableStyleId>{5C22544A-7EE6-4342-B048-85BDC9FD1C3A}</a:tableStyleId>
              </a:tblPr>
              <a:tblGrid>
                <a:gridCol w="2743200"/>
                <a:gridCol w="4480560"/>
                <a:gridCol w="3831336"/>
              </a:tblGrid>
              <a:tr h="411480">
                <a:tc>
                  <a:txBody>
                    <a:bodyPr/>
                    <a:lstStyle/>
                    <a:p>
                      <a:pPr algn="l"/>
                      <a:r>
                        <a:rPr sz="1350" b="1">
                          <a:solidFill>
                            <a:srgbClr val="FFFFFF"/>
                          </a:solidFill>
                          <a:latin typeface="Meiryo"/>
                          <a:ea typeface="Meiryo"/>
                          <a:cs typeface="Meiryo"/>
                        </a:rPr>
                        <a:t>決め方</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中身</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本研究での扱い</a:t>
                      </a:r>
                    </a:p>
                  </a:txBody>
                  <a:tcPr marL="91440" marR="73152" marT="27432" marB="27432" anchor="ctr">
                    <a:solidFill>
                      <a:srgbClr val="1F4E79"/>
                    </a:solidFill>
                  </a:tcPr>
                </a:tc>
              </a:tr>
              <a:tr h="658368">
                <a:tc>
                  <a:txBody>
                    <a:bodyPr/>
                    <a:lstStyle/>
                    <a:p>
                      <a:pPr algn="l"/>
                      <a:r>
                        <a:rPr sz="1350" b="0">
                          <a:solidFill>
                            <a:srgbClr val="222222"/>
                          </a:solidFill>
                          <a:latin typeface="Meiryo"/>
                          <a:ea typeface="Meiryo"/>
                          <a:cs typeface="Meiryo"/>
                        </a:rPr>
                        <a:t>最終年で見る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計算した最後の年の資源量が、初年の9割以上</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既定。ただし初年の値に左右される</a:t>
                      </a:r>
                    </a:p>
                  </a:txBody>
                  <a:tcPr marL="91440" marR="73152" marT="27432" marB="27432" anchor="ctr">
                    <a:solidFill>
                      <a:srgbClr val="FFFFFF"/>
                    </a:solidFill>
                  </a:tcPr>
                </a:tc>
              </a:tr>
              <a:tr h="658368">
                <a:tc>
                  <a:txBody>
                    <a:bodyPr/>
                    <a:lstStyle/>
                    <a:p>
                      <a:pPr algn="l"/>
                      <a:r>
                        <a:rPr sz="1350" b="0">
                          <a:solidFill>
                            <a:srgbClr val="222222"/>
                          </a:solidFill>
                          <a:latin typeface="Meiryo"/>
                          <a:ea typeface="Meiryo"/>
                          <a:cs typeface="Meiryo"/>
                        </a:rPr>
                        <a:t>漁獲ゼロの釣り合いと比べる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漁獲ありの釣り合いが、漁獲ゼロの釣り合いの一定割合以上</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使えない（釣り合いが正にならないため）</a:t>
                      </a:r>
                    </a:p>
                  </a:txBody>
                  <a:tcPr marL="91440" marR="73152" marT="27432" marB="27432" anchor="ctr">
                    <a:solidFill>
                      <a:srgbClr val="F2F5F9"/>
                    </a:solidFill>
                  </a:tcPr>
                </a:tc>
              </a:tr>
              <a:tr h="658368">
                <a:tc>
                  <a:txBody>
                    <a:bodyPr/>
                    <a:lstStyle/>
                    <a:p>
                      <a:pPr algn="l"/>
                      <a:r>
                        <a:rPr sz="1350" b="0">
                          <a:solidFill>
                            <a:srgbClr val="222222"/>
                          </a:solidFill>
                          <a:latin typeface="Meiryo"/>
                          <a:ea typeface="Meiryo"/>
                          <a:cs typeface="Meiryo"/>
                        </a:rPr>
                        <a:t>長期の下限で見る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長く回したときの資源量の最小値が、基準の一定割合以上</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併用できる</a:t>
                      </a:r>
                    </a:p>
                  </a:txBody>
                  <a:tcPr marL="91440" marR="73152" marT="27432" marB="27432" anchor="ctr">
                    <a:solidFill>
                      <a:srgbClr val="FFFFFF"/>
                    </a:solidFill>
                  </a:tcPr>
                </a:tc>
              </a:tr>
              <a:tr h="658368">
                <a:tc>
                  <a:txBody>
                    <a:bodyPr/>
                    <a:lstStyle/>
                    <a:p>
                      <a:pPr algn="l"/>
                      <a:r>
                        <a:rPr sz="1350" b="0">
                          <a:solidFill>
                            <a:srgbClr val="222222"/>
                          </a:solidFill>
                          <a:latin typeface="Meiryo"/>
                          <a:ea typeface="Meiryo"/>
                          <a:cs typeface="Meiryo"/>
                        </a:rPr>
                        <a:t>期間平均で見る</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期間平均の資源量が、基準の一定割合以上</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併用できる</a:t>
                      </a:r>
                    </a:p>
                  </a:txBody>
                  <a:tcPr marL="91440" marR="73152" marT="27432" marB="27432" anchor="ctr">
                    <a:solidFill>
                      <a:srgbClr val="F2F5F9"/>
                    </a:solidFill>
                  </a:tcPr>
                </a:tc>
              </a:tr>
            </a:tbl>
          </a:graphicData>
        </a:graphic>
      </p:graphicFrame>
      <p:sp>
        <p:nvSpPr>
          <p:cNvPr id="5" name="TextBox 4"/>
          <p:cNvSpPr txBox="1"/>
          <p:nvPr/>
        </p:nvSpPr>
        <p:spPr>
          <a:xfrm>
            <a:off x="566928" y="4617720"/>
            <a:ext cx="10326319" cy="457200"/>
          </a:xfrm>
          <a:prstGeom prst="rect">
            <a:avLst/>
          </a:prstGeom>
          <a:noFill/>
        </p:spPr>
        <p:txBody>
          <a:bodyPr wrap="square" anchor="t" lIns="0" rIns="0" tIns="0" bIns="0">
            <a:spAutoFit/>
          </a:bodyPr>
          <a:lstStyle/>
          <a:p>
            <a:pPr algn="l">
              <a:lnSpc>
                <a:spcPct val="132000"/>
              </a:lnSpc>
              <a:spcAft>
                <a:spcPts val="600"/>
              </a:spcAft>
            </a:pPr>
            <a:r>
              <a:rPr sz="1400" b="0">
                <a:solidFill>
                  <a:srgbClr val="6E6E6E"/>
                </a:solidFill>
                <a:latin typeface="Meiryo"/>
                <a:ea typeface="Meiryo"/>
                <a:cs typeface="Meiryo"/>
              </a:rPr>
              <a:t>既定の判定は「最終年 ÷ 初年 ≧ 0.9」。初年の値がどの位相にあるかで結果が動くという弱点がある。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［予備］角16点で、釣り合いが正になるか調べた</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18</a:t>
            </a:r>
          </a:p>
        </p:txBody>
      </p:sp>
      <p:graphicFrame>
        <p:nvGraphicFramePr>
          <p:cNvPr id="4" name="Table 3"/>
          <p:cNvGraphicFramePr>
            <a:graphicFrameLocks noGrp="1"/>
          </p:cNvGraphicFramePr>
          <p:nvPr/>
        </p:nvGraphicFramePr>
        <p:xfrm>
          <a:off x="566928" y="1280160"/>
          <a:ext cx="11055096" cy="1591056"/>
        </p:xfrm>
        <a:graphic>
          <a:graphicData uri="http://schemas.openxmlformats.org/drawingml/2006/table">
            <a:tbl>
              <a:tblPr firstRow="1">
                <a:tableStyleId>{5C22544A-7EE6-4342-B048-85BDC9FD1C3A}</a:tableStyleId>
              </a:tblPr>
              <a:tblGrid>
                <a:gridCol w="1828800"/>
                <a:gridCol w="4480560"/>
                <a:gridCol w="4745736"/>
              </a:tblGrid>
              <a:tr h="457200">
                <a:tc>
                  <a:txBody>
                    <a:bodyPr/>
                    <a:lstStyle/>
                    <a:p>
                      <a:pPr algn="l"/>
                      <a:r>
                        <a:rPr sz="1350" b="1">
                          <a:solidFill>
                            <a:srgbClr val="FFFFFF"/>
                          </a:solidFill>
                          <a:latin typeface="Meiryo"/>
                          <a:ea typeface="Meiryo"/>
                          <a:cs typeface="Meiryo"/>
                        </a:rPr>
                        <a:t>時期</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4種すべて正になる角の数</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その例（千トン）</a:t>
                      </a:r>
                    </a:p>
                  </a:txBody>
                  <a:tcPr marL="91440" marR="73152" marT="27432" marB="27432" anchor="ctr">
                    <a:solidFill>
                      <a:srgbClr val="1F4E79"/>
                    </a:solidFill>
                  </a:tcPr>
                </a:tc>
              </a:tr>
              <a:tr h="566928">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16点のうち 1点（f＝0, 0, 0.95, 0.95）</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237.1 ／ 2.1 ／ 857.8 ／ 6.3</a:t>
                      </a:r>
                    </a:p>
                  </a:txBody>
                  <a:tcPr marL="91440" marR="73152" marT="27432" marB="27432" anchor="ctr">
                    <a:solidFill>
                      <a:srgbClr val="FFFFFF"/>
                    </a:solidFill>
                  </a:tcPr>
                </a:tc>
              </a:tr>
              <a:tr h="566928">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16点のうち 4点（1つの面がまるごと）</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21.4 ／ 1494.2 ／ 390.9 ／ 9.1</a:t>
                      </a:r>
                    </a:p>
                  </a:txBody>
                  <a:tcPr marL="91440" marR="73152" marT="27432" marB="27432" anchor="ctr">
                    <a:solidFill>
                      <a:srgbClr val="F2F5F9"/>
                    </a:solidFill>
                  </a:tcPr>
                </a:tc>
              </a:tr>
            </a:tbl>
          </a:graphicData>
        </a:graphic>
      </p:graphicFrame>
      <p:sp>
        <p:nvSpPr>
          <p:cNvPr id="5" name="TextBox 4"/>
          <p:cNvSpPr txBox="1"/>
          <p:nvPr/>
        </p:nvSpPr>
        <p:spPr>
          <a:xfrm>
            <a:off x="566928" y="3154680"/>
            <a:ext cx="11057839" cy="2194560"/>
          </a:xfrm>
          <a:prstGeom prst="rect">
            <a:avLst/>
          </a:prstGeom>
          <a:noFill/>
        </p:spPr>
        <p:txBody>
          <a:bodyPr wrap="square" anchor="t" lIns="0" rIns="0" tIns="0" bIns="0">
            <a:spAutoFit/>
          </a:bodyPr>
          <a:lstStyle/>
          <a:p>
            <a:pPr algn="l">
              <a:lnSpc>
                <a:spcPct val="132000"/>
              </a:lnSpc>
              <a:spcAft>
                <a:spcPts val="900"/>
              </a:spcAft>
            </a:pPr>
            <a:r>
              <a:rPr sz="1550" b="0">
                <a:solidFill>
                  <a:srgbClr val="222222"/>
                </a:solidFill>
                <a:latin typeface="Meiryo"/>
                <a:ea typeface="Meiryo"/>
                <a:cs typeface="Meiryo"/>
              </a:rPr>
              <a:t>※「その例」の並びは マアジ／ウルメイワシ／ブリ／サワラ。</a:t>
            </a:r>
          </a:p>
          <a:p>
            <a:pPr algn="l">
              <a:lnSpc>
                <a:spcPct val="132000"/>
              </a:lnSpc>
              <a:spcAft>
                <a:spcPts val="900"/>
              </a:spcAft>
            </a:pPr>
            <a:r>
              <a:rPr sz="1550" b="0">
                <a:solidFill>
                  <a:srgbClr val="222222"/>
                </a:solidFill>
                <a:latin typeface="Meiryo"/>
                <a:ea typeface="Meiryo"/>
                <a:cs typeface="Meiryo"/>
              </a:rPr>
              <a:t>釣り合いの量は漁獲率の一次式なので、正になる漁獲率の集まりは平らな面で囲まれた領域になる。大蛇行では角4点すべてが正なので、その面はまるごと正である。</a:t>
            </a:r>
          </a:p>
          <a:p>
            <a:pPr algn="l">
              <a:lnSpc>
                <a:spcPct val="132000"/>
              </a:lnSpc>
              <a:spcAft>
                <a:spcPts val="900"/>
              </a:spcAft>
            </a:pPr>
            <a:r>
              <a:rPr sz="1550" b="0">
                <a:solidFill>
                  <a:srgbClr val="222222"/>
                </a:solidFill>
                <a:latin typeface="Meiryo"/>
                <a:ea typeface="Meiryo"/>
                <a:cs typeface="Meiryo"/>
              </a:rPr>
              <a:t>観測されている漁獲ゼロの点は、その領域の外側にある、という言い方が正確。</a:t>
            </a:r>
          </a:p>
          <a:p>
            <a:pPr algn="l">
              <a:lnSpc>
                <a:spcPct val="132000"/>
              </a:lnSpc>
              <a:spcAft>
                <a:spcPts val="900"/>
              </a:spcAft>
            </a:pPr>
            <a:r>
              <a:rPr sz="1550" b="0">
                <a:solidFill>
                  <a:srgbClr val="C0561A"/>
                </a:solidFill>
                <a:latin typeface="Meiryo"/>
                <a:ea typeface="Meiryo"/>
                <a:cs typeface="Meiryo"/>
              </a:rPr>
              <a:t>今後の課題：この「正になる領域」と、実際に持続の条件を満たすと判定される漁獲率の領域が重なるかどうかは、まだ突き合わせていない。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［予備］内側をいくら探しても、角を超えない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19</a:t>
            </a:r>
          </a:p>
        </p:txBody>
      </p:sp>
      <p:pic>
        <p:nvPicPr>
          <p:cNvPr id="4" name="Picture 3" descr="12_角と内側.png"/>
          <p:cNvPicPr>
            <a:picLocks noChangeAspect="1"/>
          </p:cNvPicPr>
          <p:nvPr/>
        </p:nvPicPr>
        <p:blipFill>
          <a:blip r:embed="rId2"/>
          <a:stretch>
            <a:fillRect/>
          </a:stretch>
        </p:blipFill>
        <p:spPr>
          <a:xfrm>
            <a:off x="2377440" y="1280160"/>
            <a:ext cx="7406640" cy="3063240"/>
          </a:xfrm>
          <a:prstGeom prst="rect">
            <a:avLst/>
          </a:prstGeom>
        </p:spPr>
      </p:pic>
      <p:sp>
        <p:nvSpPr>
          <p:cNvPr id="5" name="figlabel"/>
          <p:cNvSpPr txBox="1"/>
          <p:nvPr/>
        </p:nvSpPr>
        <p:spPr>
          <a:xfrm>
            <a:off x="4896840" y="1385133"/>
            <a:ext cx="2960370" cy="241173"/>
          </a:xfrm>
          <a:prstGeom prst="rect">
            <a:avLst/>
          </a:prstGeom>
          <a:noFill/>
        </p:spPr>
        <p:txBody>
          <a:bodyPr wrap="none" anchor="ctr" lIns="0" rIns="0" tIns="0" bIns="0">
            <a:spAutoFit/>
          </a:bodyPr>
          <a:lstStyle/>
          <a:p>
            <a:pPr algn="ctr">
              <a:lnSpc>
                <a:spcPct val="120000"/>
              </a:lnSpc>
              <a:spcAft>
                <a:spcPts val="0"/>
              </a:spcAft>
            </a:pPr>
            <a:r>
              <a:rPr sz="1350" b="0">
                <a:solidFill>
                  <a:srgbClr val="222222"/>
                </a:solidFill>
                <a:latin typeface="Meiryo"/>
                <a:ea typeface="Meiryo"/>
                <a:cs typeface="Meiryo"/>
              </a:rPr>
              <a:t>内側をいくら探しても、角を超えない</a:t>
            </a:r>
          </a:p>
        </p:txBody>
      </p:sp>
      <p:sp>
        <p:nvSpPr>
          <p:cNvPr id="6" name="figlabel"/>
          <p:cNvSpPr txBox="1"/>
          <p:nvPr/>
        </p:nvSpPr>
        <p:spPr>
          <a:xfrm>
            <a:off x="6838459" y="1705556"/>
            <a:ext cx="1655064"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内側を2万点さがした最大</a:t>
            </a:r>
          </a:p>
        </p:txBody>
      </p:sp>
      <p:sp>
        <p:nvSpPr>
          <p:cNvPr id="7" name="figlabel"/>
          <p:cNvSpPr txBox="1"/>
          <p:nvPr/>
        </p:nvSpPr>
        <p:spPr>
          <a:xfrm>
            <a:off x="6838459" y="1906811"/>
            <a:ext cx="889508" cy="199898"/>
          </a:xfrm>
          <a:prstGeom prst="rect">
            <a:avLst/>
          </a:prstGeom>
          <a:noFill/>
        </p:spPr>
        <p:txBody>
          <a:bodyPr wrap="none" anchor="ctr" lIns="0" rIns="0" tIns="0" bIns="0">
            <a:spAutoFit/>
          </a:bodyPr>
          <a:lstStyle/>
          <a:p>
            <a:pPr algn="l">
              <a:lnSpc>
                <a:spcPct val="120000"/>
              </a:lnSpc>
              <a:spcAft>
                <a:spcPts val="0"/>
              </a:spcAft>
            </a:pPr>
            <a:r>
              <a:rPr sz="1100" b="0">
                <a:solidFill>
                  <a:srgbClr val="222222"/>
                </a:solidFill>
                <a:latin typeface="Meiryo"/>
                <a:ea typeface="Meiryo"/>
                <a:cs typeface="Meiryo"/>
              </a:rPr>
              <a:t>角16点の最大</a:t>
            </a:r>
          </a:p>
        </p:txBody>
      </p:sp>
      <p:sp>
        <p:nvSpPr>
          <p:cNvPr id="8" name="figlabel"/>
          <p:cNvSpPr txBox="1"/>
          <p:nvPr/>
        </p:nvSpPr>
        <p:spPr>
          <a:xfrm>
            <a:off x="4309313" y="4052851"/>
            <a:ext cx="8394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大蛇行なし</a:t>
            </a:r>
          </a:p>
        </p:txBody>
      </p:sp>
      <p:sp>
        <p:nvSpPr>
          <p:cNvPr id="9" name="figlabel"/>
          <p:cNvSpPr txBox="1"/>
          <p:nvPr/>
        </p:nvSpPr>
        <p:spPr>
          <a:xfrm>
            <a:off x="7764017" y="4052851"/>
            <a:ext cx="521970" cy="224663"/>
          </a:xfrm>
          <a:prstGeom prst="rect">
            <a:avLst/>
          </a:prstGeom>
          <a:noFill/>
        </p:spPr>
        <p:txBody>
          <a:bodyPr wrap="none" anchor="ctr" lIns="0" rIns="0" tIns="0" bIns="0">
            <a:spAutoFit/>
          </a:bodyPr>
          <a:lstStyle/>
          <a:p>
            <a:pPr algn="ctr">
              <a:lnSpc>
                <a:spcPct val="120000"/>
              </a:lnSpc>
              <a:spcAft>
                <a:spcPts val="0"/>
              </a:spcAft>
            </a:pPr>
            <a:r>
              <a:rPr sz="1250" b="0">
                <a:solidFill>
                  <a:srgbClr val="222222"/>
                </a:solidFill>
                <a:latin typeface="Meiryo"/>
                <a:ea typeface="Meiryo"/>
                <a:cs typeface="Meiryo"/>
              </a:rPr>
              <a:t>大蛇行</a:t>
            </a:r>
          </a:p>
        </p:txBody>
      </p:sp>
      <p:sp>
        <p:nvSpPr>
          <p:cNvPr id="10" name="figlabel"/>
          <p:cNvSpPr txBox="1"/>
          <p:nvPr/>
        </p:nvSpPr>
        <p:spPr>
          <a:xfrm>
            <a:off x="2407066" y="1326108"/>
            <a:ext cx="1722120" cy="199898"/>
          </a:xfrm>
          <a:prstGeom prst="rect">
            <a:avLst/>
          </a:prstGeom>
          <a:noFill/>
        </p:spPr>
        <p:txBody>
          <a:bodyPr wrap="none" anchor="ctr" lIns="0" rIns="0" tIns="0" bIns="0">
            <a:spAutoFit/>
          </a:bodyPr>
          <a:lstStyle/>
          <a:p>
            <a:pPr algn="l">
              <a:lnSpc>
                <a:spcPct val="120000"/>
              </a:lnSpc>
              <a:spcAft>
                <a:spcPts val="0"/>
              </a:spcAft>
            </a:pPr>
            <a:r>
              <a:rPr sz="1100" b="0">
                <a:solidFill>
                  <a:srgbClr val="6E6E6E"/>
                </a:solidFill>
                <a:latin typeface="Meiryo"/>
                <a:ea typeface="Meiryo"/>
                <a:cs typeface="Meiryo"/>
              </a:rPr>
              <a:t>縦軸：とれる量（千トン）</a:t>
            </a:r>
          </a:p>
        </p:txBody>
      </p:sp>
      <p:sp>
        <p:nvSpPr>
          <p:cNvPr id="11" name="TextBox 10"/>
          <p:cNvSpPr txBox="1"/>
          <p:nvPr/>
        </p:nvSpPr>
        <p:spPr>
          <a:xfrm>
            <a:off x="566928" y="4892040"/>
            <a:ext cx="11057839" cy="1280160"/>
          </a:xfrm>
          <a:prstGeom prst="rect">
            <a:avLst/>
          </a:prstGeom>
          <a:noFill/>
        </p:spPr>
        <p:txBody>
          <a:bodyPr wrap="square" anchor="t" lIns="0" rIns="0" tIns="0" bIns="0">
            <a:spAutoFit/>
          </a:bodyPr>
          <a:lstStyle/>
          <a:p>
            <a:pPr algn="l">
              <a:lnSpc>
                <a:spcPct val="132000"/>
              </a:lnSpc>
              <a:spcAft>
                <a:spcPts val="600"/>
              </a:spcAft>
            </a:pPr>
            <a:r>
              <a:rPr sz="1600" b="0">
                <a:solidFill>
                  <a:srgbClr val="222222"/>
                </a:solidFill>
                <a:latin typeface="Meiryo"/>
                <a:ea typeface="Meiryo"/>
                <a:cs typeface="Meiryo"/>
              </a:rPr>
              <a:t>・自分の漁獲率に対する自分の釣り合いの量の変化は、両時期とも厳密に 0。</a:t>
            </a:r>
          </a:p>
          <a:p>
            <a:pPr algn="l">
              <a:lnSpc>
                <a:spcPct val="132000"/>
              </a:lnSpc>
              <a:spcAft>
                <a:spcPts val="600"/>
              </a:spcAft>
            </a:pPr>
            <a:r>
              <a:rPr sz="1600" b="0">
                <a:solidFill>
                  <a:srgbClr val="222222"/>
                </a:solidFill>
                <a:latin typeface="Meiryo"/>
                <a:ea typeface="Meiryo"/>
                <a:cs typeface="Meiryo"/>
              </a:rPr>
              <a:t>・とれる量を漁獲率の各方向で2回差分すると、計算機の精度でゼロ（＝直線）。</a:t>
            </a:r>
          </a:p>
          <a:p>
            <a:pPr algn="l">
              <a:lnSpc>
                <a:spcPct val="132000"/>
              </a:lnSpc>
              <a:spcAft>
                <a:spcPts val="600"/>
              </a:spcAft>
            </a:pPr>
            <a:r>
              <a:rPr sz="1600" b="0">
                <a:solidFill>
                  <a:srgbClr val="222222"/>
                </a:solidFill>
                <a:latin typeface="Meiryo"/>
                <a:ea typeface="Meiryo"/>
                <a:cs typeface="Meiryo"/>
              </a:rPr>
              <a:t>・角16点の最大が、内側にとった2万点の最大を上回る。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［予備］4種すべてに同じ漁獲率をかけた場合</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20</a:t>
            </a:r>
          </a:p>
        </p:txBody>
      </p:sp>
      <p:graphicFrame>
        <p:nvGraphicFramePr>
          <p:cNvPr id="4" name="Table 3"/>
          <p:cNvGraphicFramePr>
            <a:graphicFrameLocks noGrp="1"/>
          </p:cNvGraphicFramePr>
          <p:nvPr/>
        </p:nvGraphicFramePr>
        <p:xfrm>
          <a:off x="566928" y="1280160"/>
          <a:ext cx="11055096" cy="2240280"/>
        </p:xfrm>
        <a:graphic>
          <a:graphicData uri="http://schemas.openxmlformats.org/drawingml/2006/table">
            <a:tbl>
              <a:tblPr firstRow="1">
                <a:tableStyleId>{5C22544A-7EE6-4342-B048-85BDC9FD1C3A}</a:tableStyleId>
              </a:tblPr>
              <a:tblGrid>
                <a:gridCol w="2286000"/>
                <a:gridCol w="2103120"/>
                <a:gridCol w="3520440"/>
                <a:gridCol w="3145536"/>
              </a:tblGrid>
              <a:tr h="411480">
                <a:tc>
                  <a:txBody>
                    <a:bodyPr/>
                    <a:lstStyle/>
                    <a:p>
                      <a:pPr algn="l"/>
                      <a:r>
                        <a:rPr sz="1350" b="1">
                          <a:solidFill>
                            <a:srgbClr val="FFFFFF"/>
                          </a:solidFill>
                          <a:latin typeface="Meiryo"/>
                          <a:ea typeface="Meiryo"/>
                          <a:cs typeface="Meiryo"/>
                        </a:rPr>
                        <a:t>魚の組み合わせ</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時期</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最も多くとれる漁獲率</a:t>
                      </a:r>
                    </a:p>
                  </a:txBody>
                  <a:tcPr marL="91440" marR="73152" marT="27432" marB="27432" anchor="ctr">
                    <a:solidFill>
                      <a:srgbClr val="1F4E79"/>
                    </a:solidFill>
                  </a:tcPr>
                </a:tc>
                <a:tc>
                  <a:txBody>
                    <a:bodyPr/>
                    <a:lstStyle/>
                    <a:p>
                      <a:pPr algn="l"/>
                      <a:r>
                        <a:rPr sz="1350" b="1">
                          <a:solidFill>
                            <a:srgbClr val="FFFFFF"/>
                          </a:solidFill>
                          <a:latin typeface="Meiryo"/>
                          <a:ea typeface="Meiryo"/>
                          <a:cs typeface="Meiryo"/>
                        </a:rPr>
                        <a:t>そのときの量（千トン／年）</a:t>
                      </a:r>
                    </a:p>
                  </a:txBody>
                  <a:tcPr marL="91440" marR="73152" marT="27432" marB="27432" anchor="ctr">
                    <a:solidFill>
                      <a:srgbClr val="1F4E79"/>
                    </a:solidFill>
                  </a:tcPr>
                </a:tc>
              </a:tr>
              <a:tr h="457200">
                <a:tc>
                  <a:txBody>
                    <a:bodyPr/>
                    <a:lstStyle/>
                    <a:p>
                      <a:pPr algn="l"/>
                      <a:r>
                        <a:rPr sz="1350" b="0">
                          <a:solidFill>
                            <a:srgbClr val="222222"/>
                          </a:solidFill>
                          <a:latin typeface="Meiryo"/>
                          <a:ea typeface="Meiryo"/>
                          <a:cs typeface="Meiryo"/>
                        </a:rPr>
                        <a:t>マアジ版</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0.373（内側に山がある）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161.1</a:t>
                      </a:r>
                    </a:p>
                  </a:txBody>
                  <a:tcPr marL="91440" marR="73152" marT="27432" marB="27432" anchor="ctr">
                    <a:solidFill>
                      <a:srgbClr val="FFFFFF"/>
                    </a:solidFill>
                  </a:tcPr>
                </a:tc>
              </a:tr>
              <a:tr h="457200">
                <a:tc>
                  <a:txBody>
                    <a:bodyPr/>
                    <a:lstStyle/>
                    <a:p>
                      <a:pPr algn="l"/>
                      <a:r>
                        <a:rPr sz="1350" b="0">
                          <a:solidFill>
                            <a:srgbClr val="222222"/>
                          </a:solidFill>
                          <a:latin typeface="Meiryo"/>
                          <a:ea typeface="Meiryo"/>
                          <a:cs typeface="Meiryo"/>
                        </a:rPr>
                        <a:t>マアジ版</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0.95（上限に張り付く）</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232.9</a:t>
                      </a:r>
                    </a:p>
                  </a:txBody>
                  <a:tcPr marL="91440" marR="73152" marT="27432" marB="27432" anchor="ctr">
                    <a:solidFill>
                      <a:srgbClr val="F2F5F9"/>
                    </a:solidFill>
                  </a:tcPr>
                </a:tc>
              </a:tr>
              <a:tr h="457200">
                <a:tc>
                  <a:txBody>
                    <a:bodyPr/>
                    <a:lstStyle/>
                    <a:p>
                      <a:pPr algn="l"/>
                      <a:r>
                        <a:rPr sz="1350" b="0">
                          <a:solidFill>
                            <a:srgbClr val="222222"/>
                          </a:solidFill>
                          <a:latin typeface="Meiryo"/>
                          <a:ea typeface="Meiryo"/>
                          <a:cs typeface="Meiryo"/>
                        </a:rPr>
                        <a:t>マイワシ版</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大蛇行なし</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0.228（内側に山がある）</a:t>
                      </a:r>
                    </a:p>
                  </a:txBody>
                  <a:tcPr marL="91440" marR="73152" marT="27432" marB="27432" anchor="ctr">
                    <a:solidFill>
                      <a:srgbClr val="FFFFFF"/>
                    </a:solidFill>
                  </a:tcPr>
                </a:tc>
                <a:tc>
                  <a:txBody>
                    <a:bodyPr/>
                    <a:lstStyle/>
                    <a:p>
                      <a:pPr algn="l"/>
                      <a:r>
                        <a:rPr sz="1350" b="0">
                          <a:solidFill>
                            <a:srgbClr val="222222"/>
                          </a:solidFill>
                          <a:latin typeface="Meiryo"/>
                          <a:ea typeface="Meiryo"/>
                          <a:cs typeface="Meiryo"/>
                        </a:rPr>
                        <a:t>―</a:t>
                      </a:r>
                    </a:p>
                  </a:txBody>
                  <a:tcPr marL="91440" marR="73152" marT="27432" marB="27432" anchor="ctr">
                    <a:solidFill>
                      <a:srgbClr val="FFFFFF"/>
                    </a:solidFill>
                  </a:tcPr>
                </a:tc>
              </a:tr>
              <a:tr h="457200">
                <a:tc>
                  <a:txBody>
                    <a:bodyPr/>
                    <a:lstStyle/>
                    <a:p>
                      <a:pPr algn="l"/>
                      <a:r>
                        <a:rPr sz="1350" b="0">
                          <a:solidFill>
                            <a:srgbClr val="222222"/>
                          </a:solidFill>
                          <a:latin typeface="Meiryo"/>
                          <a:ea typeface="Meiryo"/>
                          <a:cs typeface="Meiryo"/>
                        </a:rPr>
                        <a:t>マイワシ版</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大蛇行</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0.95（上限に張り付く）</a:t>
                      </a:r>
                    </a:p>
                  </a:txBody>
                  <a:tcPr marL="91440" marR="73152" marT="27432" marB="27432" anchor="ctr">
                    <a:solidFill>
                      <a:srgbClr val="F2F5F9"/>
                    </a:solidFill>
                  </a:tcPr>
                </a:tc>
                <a:tc>
                  <a:txBody>
                    <a:bodyPr/>
                    <a:lstStyle/>
                    <a:p>
                      <a:pPr algn="l"/>
                      <a:r>
                        <a:rPr sz="1350" b="0">
                          <a:solidFill>
                            <a:srgbClr val="222222"/>
                          </a:solidFill>
                          <a:latin typeface="Meiryo"/>
                          <a:ea typeface="Meiryo"/>
                          <a:cs typeface="Meiryo"/>
                        </a:rPr>
                        <a:t>―</a:t>
                      </a:r>
                    </a:p>
                  </a:txBody>
                  <a:tcPr marL="91440" marR="73152" marT="27432" marB="27432" anchor="ctr">
                    <a:solidFill>
                      <a:srgbClr val="F2F5F9"/>
                    </a:solidFill>
                  </a:tcPr>
                </a:tc>
              </a:tr>
            </a:tbl>
          </a:graphicData>
        </a:graphic>
      </p:graphicFrame>
      <p:sp>
        <p:nvSpPr>
          <p:cNvPr id="5" name="TextBox 4"/>
          <p:cNvSpPr txBox="1"/>
          <p:nvPr/>
        </p:nvSpPr>
        <p:spPr>
          <a:xfrm>
            <a:off x="566928" y="3977639"/>
            <a:ext cx="11057839" cy="1737360"/>
          </a:xfrm>
          <a:prstGeom prst="rect">
            <a:avLst/>
          </a:prstGeom>
          <a:noFill/>
        </p:spPr>
        <p:txBody>
          <a:bodyPr wrap="square" anchor="t" lIns="0" rIns="0" tIns="0" bIns="0">
            <a:spAutoFit/>
          </a:bodyPr>
          <a:lstStyle/>
          <a:p>
            <a:pPr algn="l">
              <a:lnSpc>
                <a:spcPct val="132000"/>
              </a:lnSpc>
              <a:spcAft>
                <a:spcPts val="900"/>
              </a:spcAft>
            </a:pPr>
            <a:r>
              <a:rPr sz="1550" b="0">
                <a:solidFill>
                  <a:srgbClr val="222222"/>
                </a:solidFill>
                <a:latin typeface="Meiryo"/>
                <a:ea typeface="Meiryo"/>
                <a:cs typeface="Meiryo"/>
              </a:rPr>
              <a:t>4種に同じ漁獲率をかけると1つの変数の問題になり、大蛇行なしでは内側に山が現れる。しかし大蛇行では上限に張り付いたままで、山の有無が時期で逆転する。</a:t>
            </a:r>
          </a:p>
          <a:p>
            <a:pPr algn="l">
              <a:lnSpc>
                <a:spcPct val="132000"/>
              </a:lnSpc>
              <a:spcAft>
                <a:spcPts val="900"/>
              </a:spcAft>
            </a:pPr>
            <a:r>
              <a:rPr sz="1550" b="0">
                <a:solidFill>
                  <a:srgbClr val="222222"/>
                </a:solidFill>
                <a:latin typeface="Meiryo"/>
                <a:ea typeface="Meiryo"/>
                <a:cs typeface="Meiryo"/>
              </a:rPr>
              <a:t>この山は混み合いが作るものではなく、「全種同じ漁獲率」という縛りと段のつながりが作る見かけの山。魚種の重みづけ（同じ重み）の決め方しだいで動くため、生き物の側の量ではない。</a:t>
            </a:r>
          </a:p>
          <a:p>
            <a:pPr algn="l">
              <a:lnSpc>
                <a:spcPct val="132000"/>
              </a:lnSpc>
              <a:spcAft>
                <a:spcPts val="900"/>
              </a:spcAft>
            </a:pPr>
            <a:r>
              <a:rPr sz="1550" b="1">
                <a:solidFill>
                  <a:srgbClr val="C0561A"/>
                </a:solidFill>
                <a:latin typeface="Meiryo"/>
                <a:ea typeface="Meiryo"/>
                <a:cs typeface="Meiryo"/>
              </a:rPr>
              <a:t>よって、主となる MSY の定義には採らない。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［予備］餌の魚をマイワシに替えても結論は同じ</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21</a:t>
            </a:r>
          </a:p>
        </p:txBody>
      </p:sp>
      <p:sp>
        <p:nvSpPr>
          <p:cNvPr id="4" name="TextBox 3"/>
          <p:cNvSpPr txBox="1"/>
          <p:nvPr/>
        </p:nvSpPr>
        <p:spPr>
          <a:xfrm>
            <a:off x="566928" y="1280160"/>
            <a:ext cx="11057839" cy="3291840"/>
          </a:xfrm>
          <a:prstGeom prst="rect">
            <a:avLst/>
          </a:prstGeom>
          <a:noFill/>
        </p:spPr>
        <p:txBody>
          <a:bodyPr wrap="square" anchor="t" lIns="0" rIns="0" tIns="0" bIns="0">
            <a:spAutoFit/>
          </a:bodyPr>
          <a:lstStyle/>
          <a:p>
            <a:pPr algn="l">
              <a:lnSpc>
                <a:spcPct val="132000"/>
              </a:lnSpc>
              <a:spcAft>
                <a:spcPts val="1300"/>
              </a:spcAft>
            </a:pPr>
            <a:r>
              <a:rPr sz="1700" b="0">
                <a:solidFill>
                  <a:srgbClr val="222222"/>
                </a:solidFill>
                <a:latin typeface="Meiryo"/>
                <a:ea typeface="Meiryo"/>
                <a:cs typeface="Meiryo"/>
              </a:rPr>
              <a:t>・本研究では餌の魚 x1 をマアジにしているが、これはマイワシから置き換えたもの。</a:t>
            </a:r>
          </a:p>
          <a:p>
            <a:pPr algn="l">
              <a:lnSpc>
                <a:spcPct val="132000"/>
              </a:lnSpc>
              <a:spcAft>
                <a:spcPts val="1300"/>
              </a:spcAft>
            </a:pPr>
            <a:r>
              <a:rPr sz="1700" b="0">
                <a:solidFill>
                  <a:srgbClr val="222222"/>
                </a:solidFill>
                <a:latin typeface="Meiryo"/>
                <a:ea typeface="Meiryo"/>
                <a:cs typeface="Meiryo"/>
              </a:rPr>
              <a:t>・マイワシは1種ずつの解析が通常の条件で解けず、例外の設定が必要だったため置き換えた。</a:t>
            </a:r>
          </a:p>
          <a:p>
            <a:pPr algn="l">
              <a:lnSpc>
                <a:spcPct val="132000"/>
              </a:lnSpc>
              <a:spcAft>
                <a:spcPts val="1300"/>
              </a:spcAft>
            </a:pPr>
            <a:r>
              <a:rPr sz="1700" b="0">
                <a:solidFill>
                  <a:srgbClr val="222222"/>
                </a:solidFill>
                <a:latin typeface="Meiryo"/>
                <a:ea typeface="Meiryo"/>
                <a:cs typeface="Meiryo"/>
              </a:rPr>
              <a:t>・置き換える前のマイワシ版でも、後半の結論は変わらない。　上限に張り付くこと、漁獲ゼロの釣り合いが正にならないこと、いずれも同じ。</a:t>
            </a:r>
          </a:p>
          <a:p>
            <a:pPr algn="l">
              <a:lnSpc>
                <a:spcPct val="132000"/>
              </a:lnSpc>
              <a:spcAft>
                <a:spcPts val="1300"/>
              </a:spcAft>
            </a:pPr>
            <a:r>
              <a:rPr sz="1700" b="1">
                <a:solidFill>
                  <a:srgbClr val="C0561A"/>
                </a:solidFill>
                <a:latin typeface="Meiryo"/>
                <a:ea typeface="Meiryo"/>
                <a:cs typeface="Meiryo"/>
              </a:rPr>
              <a:t>・よって、結論は魚種の選び方に左右されない。</a:t>
            </a:r>
          </a:p>
        </p:txBody>
      </p:sp>
      <p:sp>
        <p:nvSpPr>
          <p:cNvPr id="5" name="Rectangle 4"/>
          <p:cNvSpPr/>
          <p:nvPr/>
        </p:nvSpPr>
        <p:spPr>
          <a:xfrm>
            <a:off x="566928" y="4709160"/>
            <a:ext cx="11057839" cy="1005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4864608"/>
            <a:ext cx="10655503" cy="731520"/>
          </a:xfrm>
          <a:prstGeom prst="rect">
            <a:avLst/>
          </a:prstGeom>
          <a:noFill/>
        </p:spPr>
        <p:txBody>
          <a:bodyPr wrap="square" anchor="t" lIns="0" rIns="0" tIns="0" bIns="0">
            <a:spAutoFit/>
          </a:bodyPr>
          <a:lstStyle/>
          <a:p>
            <a:pPr algn="l">
              <a:lnSpc>
                <a:spcPct val="132000"/>
              </a:lnSpc>
              <a:spcAft>
                <a:spcPts val="600"/>
              </a:spcAft>
            </a:pPr>
            <a:r>
              <a:rPr sz="1500" b="0">
                <a:solidFill>
                  <a:srgbClr val="222222"/>
                </a:solidFill>
                <a:latin typeface="Meiryo"/>
                <a:ea typeface="Meiryo"/>
                <a:cs typeface="Meiryo"/>
              </a:rPr>
              <a:t>マアジの資源量と漁獲量は水産研究・教育機構「令和7年度 マアジ太平洋系群の資源評価」（1982〜2024年）から取得。1種ずつの解析と多種の式で同じデータを使っている。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［予備］漁獲率 f の作り方と、上限 0.95 の扱い</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22</a:t>
            </a:r>
          </a:p>
        </p:txBody>
      </p:sp>
      <p:sp>
        <p:nvSpPr>
          <p:cNvPr id="4" name="TextBox 3"/>
          <p:cNvSpPr txBox="1"/>
          <p:nvPr/>
        </p:nvSpPr>
        <p:spPr>
          <a:xfrm>
            <a:off x="566928" y="1280160"/>
            <a:ext cx="11057839" cy="3520440"/>
          </a:xfrm>
          <a:prstGeom prst="rect">
            <a:avLst/>
          </a:prstGeom>
          <a:noFill/>
        </p:spPr>
        <p:txBody>
          <a:bodyPr wrap="square" anchor="t" lIns="0" rIns="0" tIns="0" bIns="0">
            <a:spAutoFit/>
          </a:bodyPr>
          <a:lstStyle/>
          <a:p>
            <a:pPr algn="l">
              <a:lnSpc>
                <a:spcPct val="132000"/>
              </a:lnSpc>
              <a:spcAft>
                <a:spcPts val="1300"/>
              </a:spcAft>
            </a:pPr>
            <a:r>
              <a:rPr sz="1650" b="0">
                <a:solidFill>
                  <a:srgbClr val="222222"/>
                </a:solidFill>
                <a:latin typeface="Meiryo"/>
                <a:ea typeface="Meiryo"/>
                <a:cs typeface="Meiryo"/>
              </a:rPr>
              <a:t>・f ＝ その年の漁獲量 ÷ その年の資源量。推定する値ではなく、データから直接計算する。</a:t>
            </a:r>
          </a:p>
          <a:p>
            <a:pPr algn="l">
              <a:lnSpc>
                <a:spcPct val="132000"/>
              </a:lnSpc>
              <a:spcAft>
                <a:spcPts val="1300"/>
              </a:spcAft>
            </a:pPr>
            <a:r>
              <a:rPr sz="1650" b="0">
                <a:solidFill>
                  <a:srgbClr val="222222"/>
                </a:solidFill>
                <a:latin typeface="Meiryo"/>
                <a:ea typeface="Meiryo"/>
                <a:cs typeface="Meiryo"/>
              </a:rPr>
              <a:t>・資源量は資源評価の出力なので、f の誤差は資源量の誤差と連動する。ここは限界として認める。</a:t>
            </a:r>
          </a:p>
          <a:p>
            <a:pPr algn="l">
              <a:lnSpc>
                <a:spcPct val="132000"/>
              </a:lnSpc>
              <a:spcAft>
                <a:spcPts val="1300"/>
              </a:spcAft>
            </a:pPr>
            <a:r>
              <a:rPr sz="1650" b="0">
                <a:solidFill>
                  <a:srgbClr val="222222"/>
                </a:solidFill>
                <a:latin typeface="Meiryo"/>
                <a:ea typeface="Meiryo"/>
                <a:cs typeface="Meiryo"/>
              </a:rPr>
              <a:t>・1 を超えないよう 0.95 で頭を打たせている。この 0.95 に生き物の側の根拠はない。</a:t>
            </a:r>
          </a:p>
          <a:p>
            <a:pPr algn="l">
              <a:lnSpc>
                <a:spcPct val="132000"/>
              </a:lnSpc>
              <a:spcAft>
                <a:spcPts val="1300"/>
              </a:spcAft>
            </a:pPr>
            <a:r>
              <a:rPr sz="1650" b="1">
                <a:solidFill>
                  <a:srgbClr val="C0561A"/>
                </a:solidFill>
                <a:latin typeface="Meiryo"/>
                <a:ea typeface="Meiryo"/>
                <a:cs typeface="Meiryo"/>
              </a:rPr>
              <a:t>・結果2が示すのは、まさにこの 0.95 という設定が答えを決めてしまうということ。管理の基準として使うなら、漁具や操業の物理的な上限など、根拠のある値を置く必要がある。</a:t>
            </a:r>
          </a:p>
        </p:txBody>
      </p:sp>
      <p:sp>
        <p:nvSpPr>
          <p:cNvPr id="5" name="Rectangle 4"/>
          <p:cNvSpPr/>
          <p:nvPr/>
        </p:nvSpPr>
        <p:spPr>
          <a:xfrm>
            <a:off x="566928" y="4983480"/>
            <a:ext cx="11057839" cy="9144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68096" y="5138928"/>
            <a:ext cx="10655503" cy="640080"/>
          </a:xfrm>
          <a:prstGeom prst="rect">
            <a:avLst/>
          </a:prstGeom>
          <a:noFill/>
        </p:spPr>
        <p:txBody>
          <a:bodyPr wrap="square" anchor="t" lIns="0" rIns="0" tIns="0" bIns="0">
            <a:spAutoFit/>
          </a:bodyPr>
          <a:lstStyle/>
          <a:p>
            <a:pPr algn="l">
              <a:lnSpc>
                <a:spcPct val="132000"/>
              </a:lnSpc>
              <a:spcAft>
                <a:spcPts val="600"/>
              </a:spcAft>
            </a:pPr>
            <a:r>
              <a:rPr sz="1550" b="0">
                <a:solidFill>
                  <a:srgbClr val="222222"/>
                </a:solidFill>
                <a:latin typeface="Meiryo"/>
                <a:ea typeface="Meiryo"/>
                <a:cs typeface="Meiryo"/>
              </a:rPr>
              <a:t>1994〜2024年の平均：マアジ 0.431／ウルメイワシ 0.113／ブリ 0.374／サワラ 0.363。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［予備］有限の期間 T で測っても、同じ結論になる</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23</a:t>
            </a:r>
          </a:p>
        </p:txBody>
      </p:sp>
      <p:sp>
        <p:nvSpPr>
          <p:cNvPr id="4" name="TextBox 3"/>
          <p:cNvSpPr txBox="1"/>
          <p:nvPr/>
        </p:nvSpPr>
        <p:spPr>
          <a:xfrm>
            <a:off x="566928" y="1133856"/>
            <a:ext cx="57607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① 1匹あたりの式を 0〜T で積分して T で割る</a:t>
            </a:r>
          </a:p>
        </p:txBody>
      </p:sp>
      <p:sp>
        <p:nvSpPr>
          <p:cNvPr id="5" name="TextBox 4"/>
          <p:cNvSpPr txBox="1"/>
          <p:nvPr/>
        </p:nvSpPr>
        <p:spPr>
          <a:xfrm>
            <a:off x="704088" y="1463040"/>
            <a:ext cx="5623560" cy="1627632"/>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nary>
                    <m:naryPr>
                      <m:chr m:val="∫"/>
                      <m:limLoc m:val="subSup"/>
                      <m:ctrlPr>
                        <a:rPr lang="en-US" sz="1500" b="0" i="1" dirty="0">
                          <a:solidFill>
                            <a:srgbClr val="222222"/>
                          </a:solidFill>
                          <a:latin typeface="Cambria Math" panose="02040503050406030204" pitchFamily="18" charset="0"/>
                        </a:rPr>
                      </m:ctrlPr>
                    </m:naryPr>
                    <m:sub>
                      <m:r>
                        <a:rPr lang="en-US" sz="1500" b="0" i="0" dirty="0">
                          <a:solidFill>
                            <a:srgbClr val="222222"/>
                          </a:solidFill>
                          <a:latin typeface="Cambria Math" panose="02040503050406030204" pitchFamily="18" charset="0"/>
                        </a:rPr>
                        <m:t xml:space="preserve">0</m:t>
                      </m:r>
                    </m:sub>
                    <m:sup>
                      <m:r>
                        <a:rPr lang="en-US" sz="1500" b="0" i="1" dirty="0">
                          <a:solidFill>
                            <a:srgbClr val="222222"/>
                          </a:solidFill>
                          <a:latin typeface="Cambria Math" panose="02040503050406030204" pitchFamily="18" charset="0"/>
                        </a:rPr>
                        <m:t xml:space="preserve">T</m:t>
                      </m:r>
                    </m:sup>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m:t>
                      </m:r>
                      <m:r>
                        <a:rPr lang="en-US" sz="1500" b="0" i="0" dirty="0">
                          <a:solidFill>
                            <a:srgbClr val="222222"/>
                          </a:solidFill>
                          <a:latin typeface="Cambria Math" panose="02040503050406030204" pitchFamily="18" charset="0"/>
                        </a:rPr>
                        <m:t xml:space="preserve">d</m:t>
                      </m:r>
                      <m:r>
                        <a:rPr lang="en-US" sz="1500" b="0" i="1" dirty="0">
                          <a:solidFill>
                            <a:srgbClr val="222222"/>
                          </a:solidFill>
                          <a:latin typeface="Cambria Math" panose="02040503050406030204" pitchFamily="18" charset="0"/>
                        </a:rPr>
                        <m:t xml:space="preserve">t</m:t>
                      </m:r>
                    </m:e>
                  </m:nary>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log</m:t>
                      </m:r>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log</m:t>
                      </m:r>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0" dirty="0">
                              <a:solidFill>
                                <a:srgbClr val="222222"/>
                              </a:solidFill>
                              <a:latin typeface="Cambria Math" panose="02040503050406030204" pitchFamily="18" charset="0"/>
                            </a:rPr>
                            <m:t xml:space="preserve">0</m:t>
                          </m:r>
                        </m:e>
                      </m:d>
                    </m:num>
                    <m:den>
                      <m:r>
                        <a:rPr lang="en-US" sz="1500" b="0" i="1" dirty="0">
                          <a:solidFill>
                            <a:srgbClr val="222222"/>
                          </a:solidFill>
                          <a:latin typeface="Cambria Math" panose="02040503050406030204" pitchFamily="18" charset="0"/>
                        </a:rPr>
                        <m:t xml:space="preserve">T</m:t>
                      </m:r>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11</m:t>
                      </m:r>
                    </m:sub>
                  </m:sSub>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a</m:t>
                      </m:r>
                    </m:e>
                    <m:sub>
                      <m:r>
                        <a:rPr lang="en-US" sz="1500" b="0" i="0" dirty="0">
                          <a:solidFill>
                            <a:srgbClr val="222222"/>
                          </a:solidFill>
                          <a:latin typeface="Cambria Math" panose="02040503050406030204" pitchFamily="18" charset="0"/>
                        </a:rPr>
                        <m:t xml:space="preserve">1</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oMath>
              </m:oMathPara>
            </a14:m>
            <a:endParaRPr lang="en-US" sz="1500" dirty="0"/>
          </a:p>
        </p:txBody>
      </p:sp>
      <p:sp>
        <p:nvSpPr>
          <p:cNvPr id="6" name="TextBox 5"/>
          <p:cNvSpPr txBox="1"/>
          <p:nvPr/>
        </p:nvSpPr>
        <p:spPr>
          <a:xfrm>
            <a:off x="704088" y="3145536"/>
            <a:ext cx="5623560" cy="594360"/>
          </a:xfrm>
          <a:prstGeom prst="rect">
            <a:avLst/>
          </a:prstGeom>
          <a:noFill/>
        </p:spPr>
        <p:txBody>
          <a:bodyPr wrap="square" anchor="t" lIns="0" rIns="0" tIns="0" bIns="0">
            <a:spAutoFit/>
          </a:bodyPr>
          <a:lstStyle/>
          <a:p>
            <a:pPr algn="l">
              <a:lnSpc>
                <a:spcPct val="132000"/>
              </a:lnSpc>
              <a:spcAft>
                <a:spcPts val="600"/>
              </a:spcAft>
            </a:pPr>
            <a:r>
              <a:rPr sz="1450" b="1">
                <a:solidFill>
                  <a:srgbClr val="C0561A"/>
                </a:solidFill>
                <a:latin typeface="Meiryo"/>
                <a:ea typeface="Meiryo"/>
                <a:cs typeface="Meiryo"/>
              </a:rPr>
              <a:t>釣り合いの式と同じ形。右辺が a1 から a1 − ε1(T) に変わっただけ。</a:t>
            </a:r>
          </a:p>
        </p:txBody>
      </p:sp>
      <p:sp>
        <p:nvSpPr>
          <p:cNvPr id="7" name="TextBox 6"/>
          <p:cNvSpPr txBox="1"/>
          <p:nvPr/>
        </p:nvSpPr>
        <p:spPr>
          <a:xfrm>
            <a:off x="566928" y="3803904"/>
            <a:ext cx="57607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② 同じ消去をすると、ずれがそのまま出る</a:t>
            </a:r>
          </a:p>
        </p:txBody>
      </p:sp>
      <p:sp>
        <p:nvSpPr>
          <p:cNvPr id="8" name="TextBox 7"/>
          <p:cNvSpPr txBox="1"/>
          <p:nvPr/>
        </p:nvSpPr>
        <p:spPr>
          <a:xfrm>
            <a:off x="704088" y="4114800"/>
            <a:ext cx="562356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y</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12</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λ</m:t>
                          </m:r>
                        </m:sub>
                      </m:sSub>
                    </m:den>
                  </m:f>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bar>
                        <m:barPr>
                          <m:pos m:val="top"/>
                          <m:ctrlPr>
                            <a:rPr lang="en-US" sz="1500" b="0" i="1" dirty="0">
                              <a:solidFill>
                                <a:srgbClr val="222222"/>
                              </a:solidFill>
                              <a:latin typeface="Cambria Math" panose="02040503050406030204" pitchFamily="18" charset="0"/>
                            </a:rPr>
                          </m:ctrlPr>
                        </m:barPr>
                        <m:e>
                          <m:r>
                            <a:rPr lang="en-US" sz="1500" b="0" i="1" dirty="0">
                              <a:solidFill>
                                <a:srgbClr val="222222"/>
                              </a:solidFill>
                              <a:latin typeface="Cambria Math" panose="02040503050406030204" pitchFamily="18" charset="0"/>
                            </a:rPr>
                            <m:t xml:space="preserve">x</m:t>
                          </m:r>
                        </m:e>
                      </m:ba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sSup>
                    <m:sSupPr>
                      <m:ctrlPr>
                        <a:rPr lang="en-US" sz="1500" b="0" i="1" dirty="0">
                          <a:solidFill>
                            <a:srgbClr val="222222"/>
                          </a:solidFill>
                          <a:latin typeface="Cambria Math" panose="02040503050406030204" pitchFamily="18" charset="0"/>
                        </a:rPr>
                      </m:ctrlPr>
                    </m:sSupPr>
                    <m:e>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0" dirty="0">
                              <a:solidFill>
                                <a:srgbClr val="222222"/>
                              </a:solidFill>
                              <a:latin typeface="Cambria Math" panose="02040503050406030204" pitchFamily="18" charset="0"/>
                            </a:rPr>
                            <m:t xml:space="preserve">1</m:t>
                          </m:r>
                        </m:sub>
                      </m:sSub>
                    </m:e>
                    <m:sup>
                      <m:r>
                        <a:rPr lang="en-US" sz="1500" b="0" i="0" dirty="0">
                          <a:solidFill>
                            <a:srgbClr val="222222"/>
                          </a:solidFill>
                          <a:latin typeface="Cambria Math" panose="02040503050406030204" pitchFamily="18" charset="0"/>
                        </a:rPr>
                        <m:t xml:space="preserve">*</m:t>
                      </m:r>
                    </m:sup>
                  </m:sSup>
                  <m:r>
                    <a:rPr lang="en-US" sz="1500" b="0" i="0" dirty="0">
                      <a:solidFill>
                        <a:srgbClr val="222222"/>
                      </a:solidFill>
                      <a:latin typeface="Cambria Math" panose="02040503050406030204" pitchFamily="18" charset="0"/>
                    </a:rPr>
                    <m:t xml:space="preserve"> = </m:t>
                  </m:r>
                  <m:f>
                    <m:fPr>
                      <m:ctrlPr>
                        <a:rPr lang="en-US" sz="1500" b="0" i="1" dirty="0">
                          <a:solidFill>
                            <a:srgbClr val="222222"/>
                          </a:solidFill>
                          <a:latin typeface="Cambria Math" panose="02040503050406030204" pitchFamily="18" charset="0"/>
                        </a:rPr>
                      </m:ctrlPr>
                    </m:fPr>
                    <m:num>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0" dirty="0">
                              <a:solidFill>
                                <a:srgbClr val="222222"/>
                              </a:solidFill>
                              <a:latin typeface="Cambria Math" panose="02040503050406030204" pitchFamily="18" charset="0"/>
                            </a:rPr>
                            <m:t xml:space="preserve">1</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2</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22</m:t>
                          </m:r>
                        </m:sub>
                      </m:sSub>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0" dirty="0">
                              <a:solidFill>
                                <a:srgbClr val="222222"/>
                              </a:solidFill>
                              <a:latin typeface="Cambria Math" panose="02040503050406030204" pitchFamily="18" charset="0"/>
                            </a:rPr>
                            <m:t xml:space="preserve">2</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d</m:t>
                          </m:r>
                        </m:e>
                        <m:sub>
                          <m:r>
                            <a:rPr lang="en-US" sz="1500" b="0" i="0" dirty="0">
                              <a:solidFill>
                                <a:srgbClr val="222222"/>
                              </a:solidFill>
                              <a:latin typeface="Cambria Math" panose="02040503050406030204" pitchFamily="18" charset="0"/>
                            </a:rPr>
                            <m:t xml:space="preserve">1</m:t>
                          </m:r>
                        </m:sub>
                      </m:sSub>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λ</m:t>
                          </m:r>
                        </m:e>
                        <m:sub>
                          <m:r>
                            <a:rPr lang="en-US" sz="1500" b="0" i="0" dirty="0">
                              <a:solidFill>
                                <a:srgbClr val="222222"/>
                              </a:solidFill>
                              <a:latin typeface="Cambria Math" panose="02040503050406030204" pitchFamily="18" charset="0"/>
                            </a:rPr>
                            <m:t xml:space="preserve">21</m:t>
                          </m:r>
                        </m:sub>
                      </m:sSub>
                    </m:num>
                    <m:den>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C</m:t>
                          </m:r>
                        </m:sub>
                      </m:sSub>
                    </m:den>
                  </m:f>
                </m:oMath>
              </m:oMathPara>
            </a14:m>
            <a:endParaRPr lang="en-US" sz="1500" dirty="0"/>
          </a:p>
        </p:txBody>
      </p:sp>
      <p:sp>
        <p:nvSpPr>
          <p:cNvPr id="9" name="TextBox 8"/>
          <p:cNvSpPr txBox="1"/>
          <p:nvPr/>
        </p:nvSpPr>
        <p:spPr>
          <a:xfrm>
            <a:off x="6537960" y="1133856"/>
            <a:ext cx="50749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③ 資源量が有界なら、ずれは 1/T の速さで消える</a:t>
            </a:r>
          </a:p>
        </p:txBody>
      </p:sp>
      <p:sp>
        <p:nvSpPr>
          <p:cNvPr id="10" name="TextBox 9"/>
          <p:cNvSpPr txBox="1"/>
          <p:nvPr/>
        </p:nvSpPr>
        <p:spPr>
          <a:xfrm>
            <a:off x="6675120" y="1481328"/>
            <a:ext cx="4937760" cy="1115568"/>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r>
                    <a:rPr lang="en-US" sz="1500" b="0" i="0" dirty="0">
                      <a:solidFill>
                        <a:srgbClr val="222222"/>
                      </a:solidFill>
                      <a:latin typeface="Cambria Math" panose="02040503050406030204" pitchFamily="18" charset="0"/>
                    </a:rPr>
                    <m:t xml:space="preserve">0</m:t>
                  </m:r>
                  <m:r>
                    <a:rPr lang="en-US" sz="1500" b="0" i="0" dirty="0">
                      <a:solidFill>
                        <a:srgbClr val="222222"/>
                      </a:solidFill>
                      <a:latin typeface="Cambria Math" panose="02040503050406030204" pitchFamily="18" charset="0"/>
                    </a:rPr>
                    <m:t xml:space="preserve"> &lt; </m:t>
                  </m:r>
                  <m:r>
                    <a:rPr lang="en-US" sz="1500" b="0" i="1" dirty="0">
                      <a:solidFill>
                        <a:srgbClr val="222222"/>
                      </a:solidFill>
                      <a:latin typeface="Cambria Math" panose="02040503050406030204" pitchFamily="18" charset="0"/>
                    </a:rPr>
                    <m:t xml:space="preserve">m</m:t>
                  </m:r>
                  <m:r>
                    <a:rPr lang="en-US" sz="1500" b="0" i="0" dirty="0">
                      <a:solidFill>
                        <a:srgbClr val="222222"/>
                      </a:solidFill>
                      <a:latin typeface="Cambria Math" panose="02040503050406030204" pitchFamily="18" charset="0"/>
                    </a:rPr>
                    <m:t xml:space="preserve"> ≤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x</m:t>
                      </m:r>
                    </m:e>
                    <m:sub>
                      <m:r>
                        <a:rPr lang="en-US" sz="1500" b="0" i="1" dirty="0">
                          <a:solidFill>
                            <a:srgbClr val="222222"/>
                          </a:solidFill>
                          <a:latin typeface="Cambria Math" panose="02040503050406030204" pitchFamily="18" charset="0"/>
                        </a:rPr>
                        <m:t xml:space="preserve">i</m:t>
                      </m:r>
                    </m:sub>
                  </m:sSub>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y</m:t>
                      </m:r>
                    </m:e>
                    <m:sub>
                      <m:r>
                        <a:rPr lang="en-US" sz="1500" b="0" i="1" dirty="0">
                          <a:solidFill>
                            <a:srgbClr val="222222"/>
                          </a:solidFill>
                          <a:latin typeface="Cambria Math" panose="02040503050406030204" pitchFamily="18" charset="0"/>
                        </a:rPr>
                        <m:t xml:space="preserve">j</m:t>
                      </m:r>
                    </m:sub>
                  </m:sSub>
                  <m:r>
                    <a:rPr lang="en-US" sz="1500" b="0" i="0" dirty="0">
                      <a:solidFill>
                        <a:srgbClr val="222222"/>
                      </a:solidFill>
                      <a:latin typeface="Cambria Math" panose="02040503050406030204" pitchFamily="18" charset="0"/>
                    </a:rPr>
                    <m:t xml:space="preserve"> ≤ </m:t>
                  </m:r>
                  <m:r>
                    <a:rPr lang="en-US" sz="1500" b="0" i="1" dirty="0">
                      <a:solidFill>
                        <a:srgbClr val="222222"/>
                      </a:solidFill>
                      <a:latin typeface="Cambria Math" panose="02040503050406030204" pitchFamily="18" charset="0"/>
                    </a:rPr>
                    <m:t xml:space="preserve">M</m:t>
                  </m:r>
                  <m:r>
                    <a:rPr lang="en-US" sz="1500" b="0" i="0" dirty="0">
                      <a:solidFill>
                        <a:srgbClr val="222222"/>
                      </a:solidFill>
                      <a:latin typeface="Cambria Math" panose="02040503050406030204" pitchFamily="18" charset="0"/>
                    </a:rPr>
                    <m:t xml:space="preserve"> &lt; </m:t>
                  </m:r>
                  <m:r>
                    <a:rPr lang="en-US" sz="1500" b="0" i="1" dirty="0">
                      <a:solidFill>
                        <a:srgbClr val="222222"/>
                      </a:solidFill>
                      <a:latin typeface="Cambria Math" panose="02040503050406030204" pitchFamily="18" charset="0"/>
                    </a:rPr>
                    <m:t xml:space="preserve">∞</m:t>
                  </m:r>
                </m:oMath>
              </m:oMathPara>
            </a14:m>
            <a:endParaRPr lang="en-US" sz="1500" dirty="0"/>
          </a:p>
          <a:p>
            <a:pPr marL="0" indent="0">
              <a:spcAft>
                <a:spcPts val="700"/>
              </a:spcAft>
            </a:pPr>
            <a14:m xmlns:a14="http://schemas.microsoft.com/office/drawing/2010/main">
              <m:oMathPara xmlns:m="http://schemas.openxmlformats.org/officeDocument/2006/math">
                <m:oMathParaPr>
                  <m:jc m:val="left"/>
                </m:oMathParaPr>
                <m:oMath>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ε</m:t>
                      </m:r>
                    </m:e>
                    <m:sub>
                      <m:r>
                        <a:rPr lang="en-US" sz="1500" b="0" i="1" dirty="0">
                          <a:solidFill>
                            <a:srgbClr val="222222"/>
                          </a:solidFill>
                          <a:latin typeface="Cambria Math" panose="02040503050406030204" pitchFamily="18" charset="0"/>
                        </a:rPr>
                        <m:t xml:space="preserve">i</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m:t>
                  </m:r>
                  <m:sSub>
                    <m:sSubPr>
                      <m:ctrlPr>
                        <a:rPr lang="en-US" sz="1500" b="0" i="1" dirty="0">
                          <a:solidFill>
                            <a:srgbClr val="222222"/>
                          </a:solidFill>
                          <a:latin typeface="Cambria Math" panose="02040503050406030204" pitchFamily="18" charset="0"/>
                        </a:rPr>
                      </m:ctrlPr>
                    </m:sSubPr>
                    <m:e>
                      <m:r>
                        <a:rPr lang="en-US" sz="1500" b="0" i="1" dirty="0">
                          <a:solidFill>
                            <a:srgbClr val="222222"/>
                          </a:solidFill>
                          <a:latin typeface="Cambria Math" panose="02040503050406030204" pitchFamily="18" charset="0"/>
                        </a:rPr>
                        <m:t xml:space="preserve">δ</m:t>
                      </m:r>
                    </m:e>
                    <m:sub>
                      <m:r>
                        <a:rPr lang="en-US" sz="1500" b="0" i="1" dirty="0">
                          <a:solidFill>
                            <a:srgbClr val="222222"/>
                          </a:solidFill>
                          <a:latin typeface="Cambria Math" panose="02040503050406030204" pitchFamily="18" charset="0"/>
                        </a:rPr>
                        <m:t xml:space="preserve">j</m:t>
                      </m:r>
                    </m:sub>
                  </m:sSub>
                  <m:d>
                    <m:dPr>
                      <m:begChr m:val="("/>
                      <m:endChr m:val=")"/>
                      <m:ctrlPr>
                        <a:rPr lang="en-US" sz="1500" b="0" i="1" dirty="0">
                          <a:solidFill>
                            <a:srgbClr val="222222"/>
                          </a:solidFill>
                          <a:latin typeface="Cambria Math" panose="02040503050406030204" pitchFamily="18" charset="0"/>
                        </a:rPr>
                      </m:ctrlPr>
                    </m:dPr>
                    <m:e>
                      <m:r>
                        <a:rPr lang="en-US" sz="1500" b="0" i="1" dirty="0">
                          <a:solidFill>
                            <a:srgbClr val="222222"/>
                          </a:solidFill>
                          <a:latin typeface="Cambria Math" panose="02040503050406030204" pitchFamily="18" charset="0"/>
                        </a:rPr>
                        <m:t xml:space="preserve">T</m:t>
                      </m:r>
                    </m:e>
                  </m:d>
                  <m:r>
                    <a:rPr lang="en-US" sz="1500" b="0" i="0" dirty="0">
                      <a:solidFill>
                        <a:srgbClr val="222222"/>
                      </a:solidFill>
                      <a:latin typeface="Cambria Math" panose="02040503050406030204" pitchFamily="18" charset="0"/>
                    </a:rPr>
                    <m:t xml:space="preserve"> = </m:t>
                  </m:r>
                  <m:r>
                    <a:rPr lang="en-US" sz="1500" b="0" i="0" dirty="0">
                      <a:solidFill>
                        <a:srgbClr val="222222"/>
                      </a:solidFill>
                      <a:latin typeface="Cambria Math" panose="02040503050406030204" pitchFamily="18" charset="0"/>
                    </a:rPr>
                    <m:t xml:space="preserve">O</m:t>
                  </m:r>
                  <m:d>
                    <m:dPr>
                      <m:begChr m:val="("/>
                      <m:endChr m:val=")"/>
                      <m:ctrlPr>
                        <a:rPr lang="en-US" sz="1500" b="0" i="1" dirty="0">
                          <a:solidFill>
                            <a:srgbClr val="222222"/>
                          </a:solidFill>
                          <a:latin typeface="Cambria Math" panose="02040503050406030204" pitchFamily="18" charset="0"/>
                        </a:rPr>
                      </m:ctrlPr>
                    </m:dPr>
                    <m:e>
                      <m:f>
                        <m:fPr>
                          <m:ctrlPr>
                            <a:rPr lang="en-US" sz="1500" b="0" i="1" dirty="0">
                              <a:solidFill>
                                <a:srgbClr val="222222"/>
                              </a:solidFill>
                              <a:latin typeface="Cambria Math" panose="02040503050406030204" pitchFamily="18" charset="0"/>
                            </a:rPr>
                          </m:ctrlPr>
                        </m:fPr>
                        <m:num>
                          <m:r>
                            <a:rPr lang="en-US" sz="1500" b="0" i="0" dirty="0">
                              <a:solidFill>
                                <a:srgbClr val="222222"/>
                              </a:solidFill>
                              <a:latin typeface="Cambria Math" panose="02040503050406030204" pitchFamily="18" charset="0"/>
                            </a:rPr>
                            <m:t xml:space="preserve">1</m:t>
                          </m:r>
                        </m:num>
                        <m:den>
                          <m:r>
                            <a:rPr lang="en-US" sz="1500" b="0" i="1" dirty="0">
                              <a:solidFill>
                                <a:srgbClr val="222222"/>
                              </a:solidFill>
                              <a:latin typeface="Cambria Math" panose="02040503050406030204" pitchFamily="18" charset="0"/>
                            </a:rPr>
                            <m:t xml:space="preserve">T</m:t>
                          </m:r>
                        </m:den>
                      </m:f>
                    </m:e>
                  </m:d>
                </m:oMath>
              </m:oMathPara>
            </a14:m>
            <a:endParaRPr lang="en-US" sz="1500" dirty="0"/>
          </a:p>
        </p:txBody>
      </p:sp>
      <p:sp>
        <p:nvSpPr>
          <p:cNvPr id="11" name="TextBox 10"/>
          <p:cNvSpPr txBox="1"/>
          <p:nvPr/>
        </p:nvSpPr>
        <p:spPr>
          <a:xfrm>
            <a:off x="6675120" y="2651760"/>
            <a:ext cx="4937760" cy="603504"/>
          </a:xfrm>
          <a:prstGeom prst="rect">
            <a:avLst/>
          </a:prstGeom>
          <a:noFill/>
        </p:spPr>
        <p:txBody>
          <a:bodyPr wrap="square" anchor="t" lIns="0" rIns="0" tIns="0" bIns="0">
            <a:spAutoFit/>
          </a:bodyPr>
          <a:lstStyle/>
          <a:p>
            <a:pPr algn="l">
              <a:lnSpc>
                <a:spcPct val="132000"/>
              </a:lnSpc>
              <a:spcAft>
                <a:spcPts val="600"/>
              </a:spcAft>
            </a:pPr>
            <a:r>
              <a:rPr sz="1450" b="0">
                <a:solidFill>
                  <a:srgbClr val="222222"/>
                </a:solidFill>
                <a:latin typeface="Meiryo"/>
                <a:ea typeface="Meiryo"/>
                <a:cs typeface="Meiryo"/>
              </a:rPr>
              <a:t>資源量が 0 に落ちも発散もしないかぎり、対数の差を T で割った量は小さくなる。</a:t>
            </a:r>
          </a:p>
        </p:txBody>
      </p:sp>
      <p:sp>
        <p:nvSpPr>
          <p:cNvPr id="12" name="TextBox 11"/>
          <p:cNvSpPr txBox="1"/>
          <p:nvPr/>
        </p:nvSpPr>
        <p:spPr>
          <a:xfrm>
            <a:off x="6537960" y="3328416"/>
            <a:ext cx="5074920" cy="292608"/>
          </a:xfrm>
          <a:prstGeom prst="rect">
            <a:avLst/>
          </a:prstGeom>
          <a:noFill/>
        </p:spPr>
        <p:txBody>
          <a:bodyPr wrap="square" anchor="t" lIns="0" rIns="0" tIns="0" bIns="0">
            <a:spAutoFit/>
          </a:bodyPr>
          <a:lstStyle/>
          <a:p>
            <a:pPr algn="l">
              <a:lnSpc>
                <a:spcPct val="132000"/>
              </a:lnSpc>
              <a:spcAft>
                <a:spcPts val="600"/>
              </a:spcAft>
            </a:pPr>
            <a:r>
              <a:rPr sz="1550" b="1">
                <a:solidFill>
                  <a:srgbClr val="1F4E79"/>
                </a:solidFill>
                <a:latin typeface="Meiryo"/>
                <a:ea typeface="Meiryo"/>
                <a:cs typeface="Meiryo"/>
              </a:rPr>
              <a:t>④ よって、時間平均でとれる量は</a:t>
            </a:r>
          </a:p>
        </p:txBody>
      </p:sp>
      <p:sp>
        <p:nvSpPr>
          <p:cNvPr id="13" name="TextBox 12"/>
          <p:cNvSpPr txBox="1"/>
          <p:nvPr/>
        </p:nvSpPr>
        <p:spPr>
          <a:xfrm>
            <a:off x="6675120" y="3657600"/>
            <a:ext cx="4937760" cy="777240"/>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Y</m:t>
                      </m:r>
                    </m:e>
                    <m:sub>
                      <m:r>
                        <a:rPr lang="en-US" sz="1600" b="0" i="1" dirty="0">
                          <a:solidFill>
                            <a:srgbClr val="222222"/>
                          </a:solidFill>
                          <a:latin typeface="Cambria Math" panose="02040503050406030204" pitchFamily="18" charset="0"/>
                        </a:rPr>
                        <m:t xml:space="preserve">T</m:t>
                      </m:r>
                    </m:sub>
                  </m:sSub>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Y</m:t>
                      </m:r>
                    </m:e>
                    <m:sub>
                      <m:r>
                        <a:rPr lang="en-US" sz="1600" b="0" i="0" dirty="0">
                          <a:solidFill>
                            <a:srgbClr val="222222"/>
                          </a:solidFill>
                          <a:latin typeface="Cambria Math" panose="02040503050406030204" pitchFamily="18" charset="0"/>
                        </a:rPr>
                        <m:t xml:space="preserve">eq</m:t>
                      </m:r>
                    </m:sub>
                  </m:sSub>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r>
                    <a:rPr lang="en-US" sz="1600" b="0" i="0" dirty="0">
                      <a:solidFill>
                        <a:srgbClr val="222222"/>
                      </a:solidFill>
                      <a:latin typeface="Cambria Math" panose="02040503050406030204" pitchFamily="18" charset="0"/>
                    </a:rPr>
                    <m:t xml:space="preserve">O</m:t>
                  </m:r>
                  <m:d>
                    <m:dPr>
                      <m:begChr m:val="("/>
                      <m:endChr m:val=")"/>
                      <m:ctrlPr>
                        <a:rPr lang="en-US" sz="1600" b="0" i="1" dirty="0">
                          <a:solidFill>
                            <a:srgbClr val="222222"/>
                          </a:solidFill>
                          <a:latin typeface="Cambria Math" panose="02040503050406030204" pitchFamily="18" charset="0"/>
                        </a:rPr>
                      </m:ctrlPr>
                    </m:dPr>
                    <m:e>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1</m:t>
                          </m:r>
                        </m:num>
                        <m:den>
                          <m:r>
                            <a:rPr lang="en-US" sz="1600" b="0" i="1" dirty="0">
                              <a:solidFill>
                                <a:srgbClr val="222222"/>
                              </a:solidFill>
                              <a:latin typeface="Cambria Math" panose="02040503050406030204" pitchFamily="18" charset="0"/>
                            </a:rPr>
                            <m:t xml:space="preserve">T</m:t>
                          </m:r>
                        </m:den>
                      </m:f>
                    </m:e>
                  </m:d>
                </m:oMath>
              </m:oMathPara>
            </a14:m>
            <a:endParaRPr lang="en-US" sz="1600" dirty="0"/>
          </a:p>
        </p:txBody>
      </p:sp>
      <p:sp>
        <p:nvSpPr>
          <p:cNvPr id="14" name="Rectangle 13"/>
          <p:cNvSpPr/>
          <p:nvPr/>
        </p:nvSpPr>
        <p:spPr>
          <a:xfrm>
            <a:off x="6537960" y="4535424"/>
            <a:ext cx="5074920" cy="1316736"/>
          </a:xfrm>
          <a:prstGeom prst="rect">
            <a:avLst/>
          </a:prstGeom>
          <a:solidFill>
            <a:srgbClr val="FBF1E8"/>
          </a:solidFill>
          <a:ln w="15875">
            <a:solidFill>
              <a:srgbClr val="C056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02552" y="4654296"/>
            <a:ext cx="4745736" cy="1097280"/>
          </a:xfrm>
          <a:prstGeom prst="rect">
            <a:avLst/>
          </a:prstGeom>
          <a:noFill/>
        </p:spPr>
        <p:txBody>
          <a:bodyPr wrap="square" anchor="t" lIns="0" rIns="0" tIns="0" bIns="0">
            <a:spAutoFit/>
          </a:bodyPr>
          <a:lstStyle/>
          <a:p>
            <a:pPr algn="l">
              <a:lnSpc>
                <a:spcPct val="132000"/>
              </a:lnSpc>
              <a:spcAft>
                <a:spcPts val="600"/>
              </a:spcAft>
            </a:pPr>
            <a:r>
              <a:rPr sz="1550" b="1">
                <a:solidFill>
                  <a:srgbClr val="C0561A"/>
                </a:solidFill>
                <a:latin typeface="Meiryo"/>
                <a:ea typeface="Meiryo"/>
                <a:cs typeface="Meiryo"/>
              </a:rPr>
              <a:t>有限の期間で測った漁獲量は、釣り合いで計算した量と 1/T の程度しか違わない。だから前の「一次式になる」話は、実際の計算にもそのまま効く。</a:t>
            </a:r>
          </a:p>
        </p:txBody>
      </p:sp>
      <p:sp>
        <p:nvSpPr>
          <p:cNvPr id="16" name="TextBox 15"/>
          <p:cNvSpPr txBox="1"/>
          <p:nvPr/>
        </p:nvSpPr>
        <p:spPr>
          <a:xfrm>
            <a:off x="566928" y="5925312"/>
            <a:ext cx="9869119" cy="502920"/>
          </a:xfrm>
          <a:prstGeom prst="rect">
            <a:avLst/>
          </a:prstGeom>
          <a:noFill/>
        </p:spPr>
        <p:txBody>
          <a:bodyPr wrap="square" anchor="t" lIns="0" rIns="0" tIns="0" bIns="0">
            <a:spAutoFit/>
          </a:bodyPr>
          <a:lstStyle/>
          <a:p>
            <a:pPr algn="l">
              <a:lnSpc>
                <a:spcPct val="132000"/>
              </a:lnSpc>
              <a:spcAft>
                <a:spcPts val="600"/>
              </a:spcAft>
            </a:pPr>
            <a:r>
              <a:rPr sz="1150" b="0">
                <a:solidFill>
                  <a:srgbClr val="6E6E6E"/>
                </a:solidFill>
                <a:latin typeface="Meiryo"/>
                <a:ea typeface="Meiryo"/>
                <a:cs typeface="Meiryo"/>
              </a:rPr>
              <a:t>a1 = r_x1 − f_x1、b1 = r_y1 + f_y1。ε は餌の魚、δ は食べる魚の対数の差を T で割った量。※ここまでの流れ自体は Volterra の原理の範囲。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xmlns:a14="http://schemas.microsoft.com/office/drawing/2010/main" xmlns:mc="http://schemas.openxmlformats.org/markup-compatibility/2006" mc:Ignorable="a14">
  <p:cSld>
    <p:spTree>
      <p:nvGrpSpPr>
        <p:cNvPr id="1" name=""/>
        <p:cNvGrpSpPr/>
        <p:nvPr/>
      </p:nvGrpSpPr>
      <p:grpSpPr/>
      <p:sp>
        <p:nvSpPr>
          <p:cNvPr id="2" name="TextBox 1"/>
          <p:cNvSpPr txBox="1"/>
          <p:nvPr/>
        </p:nvSpPr>
        <p:spPr>
          <a:xfrm>
            <a:off x="566928" y="329184"/>
            <a:ext cx="11057839" cy="822960"/>
          </a:xfrm>
          <a:prstGeom prst="rect">
            <a:avLst/>
          </a:prstGeom>
          <a:noFill/>
        </p:spPr>
        <p:txBody>
          <a:bodyPr wrap="square" anchor="t" lIns="0" rIns="0" tIns="0" bIns="0">
            <a:spAutoFit/>
          </a:bodyPr>
          <a:lstStyle/>
          <a:p>
            <a:pPr algn="l">
              <a:lnSpc>
                <a:spcPct val="115000"/>
              </a:lnSpc>
              <a:spcAft>
                <a:spcPts val="600"/>
              </a:spcAft>
            </a:pPr>
            <a:r>
              <a:rPr sz="2600" b="1">
                <a:solidFill>
                  <a:srgbClr val="1F4E79"/>
                </a:solidFill>
                <a:latin typeface="Meiryo"/>
                <a:ea typeface="Meiryo"/>
                <a:cs typeface="Meiryo"/>
              </a:rPr>
              <a:t>［予備］行列で見ると：効いているのは「ゼロの置き方」</a:t>
            </a:r>
          </a:p>
        </p:txBody>
      </p:sp>
      <p:sp>
        <p:nvSpPr>
          <p:cNvPr id="3" name="TextBox 2"/>
          <p:cNvSpPr txBox="1"/>
          <p:nvPr/>
        </p:nvSpPr>
        <p:spPr>
          <a:xfrm>
            <a:off x="11048695" y="6291072"/>
            <a:ext cx="640080" cy="274320"/>
          </a:xfrm>
          <a:prstGeom prst="rect">
            <a:avLst/>
          </a:prstGeom>
          <a:noFill/>
        </p:spPr>
        <p:txBody>
          <a:bodyPr wrap="none" lIns="0" rIns="0" tIns="0" bIns="0">
            <a:spAutoFit/>
          </a:bodyPr>
          <a:lstStyle/>
          <a:p>
            <a:pPr algn="r"/>
            <a:r>
              <a:rPr sz="1100" b="0">
                <a:solidFill>
                  <a:srgbClr val="6E6E6E"/>
                </a:solidFill>
                <a:latin typeface="Meiryo"/>
                <a:ea typeface="Meiryo"/>
                <a:cs typeface="Meiryo"/>
              </a:rPr>
              <a:t>24</a:t>
            </a:r>
          </a:p>
        </p:txBody>
      </p:sp>
      <p:sp>
        <p:nvSpPr>
          <p:cNvPr id="4" name="TextBox 3"/>
          <p:cNvSpPr txBox="1"/>
          <p:nvPr/>
        </p:nvSpPr>
        <p:spPr>
          <a:xfrm>
            <a:off x="566928" y="1170432"/>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① まとめて書く</a:t>
            </a:r>
          </a:p>
        </p:txBody>
      </p:sp>
      <p:sp>
        <p:nvSpPr>
          <p:cNvPr id="5" name="TextBox 4"/>
          <p:cNvSpPr txBox="1"/>
          <p:nvPr/>
        </p:nvSpPr>
        <p:spPr>
          <a:xfrm>
            <a:off x="704088" y="1499616"/>
            <a:ext cx="10783519" cy="1078992"/>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d</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num>
                    <m:den>
                      <m:r>
                        <a:rPr lang="en-US" sz="1600" b="0" i="0" dirty="0">
                          <a:solidFill>
                            <a:srgbClr val="222222"/>
                          </a:solidFill>
                          <a:latin typeface="Cambria Math" panose="02040503050406030204" pitchFamily="18" charset="0"/>
                        </a:rPr>
                        <m:t xml:space="preserve">d</m:t>
                      </m:r>
                      <m:r>
                        <a:rPr lang="en-US" sz="1600" b="0" i="1" dirty="0">
                          <a:solidFill>
                            <a:srgbClr val="222222"/>
                          </a:solidFill>
                          <a:latin typeface="Cambria Math" panose="02040503050406030204" pitchFamily="18" charset="0"/>
                        </a:rPr>
                        <m:t xml:space="preserve">t</m:t>
                      </m:r>
                    </m:den>
                  </m:f>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d>
                    <m:dPr>
                      <m:begChr m:val="("/>
                      <m:endChr m:val=")"/>
                      <m:ctrlPr>
                        <a:rPr lang="en-US" sz="1600" b="0" i="1" dirty="0">
                          <a:solidFill>
                            <a:srgbClr val="222222"/>
                          </a:solidFill>
                          <a:latin typeface="Cambria Math" panose="02040503050406030204" pitchFamily="18" charset="0"/>
                        </a:rPr>
                      </m:ctrlPr>
                    </m:dPr>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ρ</m:t>
                          </m:r>
                        </m:e>
                        <m:sub>
                          <m:r>
                            <a:rPr lang="en-US" sz="1600" b="0" i="1" dirty="0">
                              <a:solidFill>
                                <a:srgbClr val="222222"/>
                              </a:solidFill>
                              <a:latin typeface="Cambria Math" panose="02040503050406030204" pitchFamily="18" charset="0"/>
                            </a:rPr>
                            <m:t xml:space="preserve">i</m:t>
                          </m:r>
                        </m:sub>
                      </m:sSub>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i</m:t>
                          </m:r>
                        </m:sub>
                      </m:sSub>
                      <m:r>
                        <a:rPr lang="en-US" sz="1600" b="0" i="0" dirty="0">
                          <a:solidFill>
                            <a:srgbClr val="222222"/>
                          </a:solidFill>
                          <a:latin typeface="Cambria Math" panose="02040503050406030204" pitchFamily="18" charset="0"/>
                        </a:rPr>
                        <m:t xml:space="preserve"> + </m:t>
                      </m:r>
                      <m:nary>
                        <m:naryPr>
                          <m:chr m:val="∑"/>
                          <m:limLoc m:val="subSup"/>
                          <m:supHide m:val="1"/>
                          <m:ctrlPr>
                            <a:rPr lang="en-US" sz="1600" b="0" i="1" dirty="0">
                              <a:solidFill>
                                <a:srgbClr val="222222"/>
                              </a:solidFill>
                              <a:latin typeface="Cambria Math" panose="02040503050406030204" pitchFamily="18" charset="0"/>
                            </a:rPr>
                          </m:ctrlPr>
                        </m:naryPr>
                        <m:sub>
                          <m:r>
                            <a:rPr lang="en-US" sz="1600" b="0" i="1" dirty="0">
                              <a:solidFill>
                                <a:srgbClr val="222222"/>
                              </a:solidFill>
                              <a:latin typeface="Cambria Math" panose="02040503050406030204" pitchFamily="18" charset="0"/>
                            </a:rPr>
                            <m:t xml:space="preserve">j</m:t>
                          </m:r>
                        </m:sub>
                        <m:sup/>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A</m:t>
                              </m:r>
                            </m:e>
                            <m:sub>
                              <m:r>
                                <a:rPr lang="en-US" sz="1600" b="0" i="1" dirty="0">
                                  <a:solidFill>
                                    <a:srgbClr val="222222"/>
                                  </a:solidFill>
                                  <a:latin typeface="Cambria Math" panose="02040503050406030204" pitchFamily="18" charset="0"/>
                                </a:rPr>
                                <m:t xml:space="preserve">ij</m:t>
                              </m:r>
                            </m:sub>
                          </m:sSub>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j</m:t>
                              </m:r>
                            </m:sub>
                          </m:sSub>
                        </m:e>
                      </m:nary>
                    </m:e>
                  </m:d>
                </m:oMath>
              </m:oMathPara>
            </a14:m>
            <a:endParaRPr lang="en-US" sz="1600" dirty="0"/>
          </a:p>
          <a:p>
            <a:pPr marL="0" indent="0">
              <a:spcAft>
                <a:spcPts val="700"/>
              </a:spcAft>
            </a:pPr>
            <a14:m xmlns:a14="http://schemas.microsoft.com/office/drawing/2010/main">
              <m:oMathPara xmlns:m="http://schemas.openxmlformats.org/officeDocument/2006/math">
                <m:oMathParaPr>
                  <m:jc m:val="left"/>
                </m:oMathParaPr>
                <m:oMath>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1" dirty="0">
                          <a:solidFill>
                            <a:srgbClr val="222222"/>
                          </a:solidFill>
                          <a:latin typeface="Cambria Math" panose="02040503050406030204" pitchFamily="18" charset="0"/>
                        </a:rPr>
                        <m:t xml:space="preserve">f</m:t>
                      </m:r>
                    </m:e>
                  </m:d>
                  <m:r>
                    <a:rPr lang="en-US" sz="1600" b="0" i="0" dirty="0">
                      <a:solidFill>
                        <a:srgbClr val="222222"/>
                      </a:solidFill>
                      <a:latin typeface="Cambria Math" panose="02040503050406030204" pitchFamily="18" charset="0"/>
                    </a:rPr>
                    <m:t xml:space="preserve"> = </m:t>
                  </m:r>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B</m:t>
                      </m:r>
                    </m:e>
                    <m:sup>
                      <m:r>
                        <a:rPr lang="en-US" sz="1600" b="0" i="0" dirty="0">
                          <a:solidFill>
                            <a:srgbClr val="222222"/>
                          </a:solidFill>
                          <a:latin typeface="Cambria Math" panose="02040503050406030204" pitchFamily="18" charset="0"/>
                        </a:rPr>
                        <m:t xml:space="preserve">*</m:t>
                      </m:r>
                    </m:sup>
                  </m:sSup>
                  <m:d>
                    <m:dPr>
                      <m:begChr m:val="("/>
                      <m:endChr m:val=")"/>
                      <m:ctrlPr>
                        <a:rPr lang="en-US" sz="1600" b="0" i="1" dirty="0">
                          <a:solidFill>
                            <a:srgbClr val="222222"/>
                          </a:solidFill>
                          <a:latin typeface="Cambria Math" panose="02040503050406030204" pitchFamily="18" charset="0"/>
                        </a:rPr>
                      </m:ctrlPr>
                    </m:dPr>
                    <m:e>
                      <m:r>
                        <a:rPr lang="en-US" sz="1600" b="0" i="0" dirty="0">
                          <a:solidFill>
                            <a:srgbClr val="222222"/>
                          </a:solidFill>
                          <a:latin typeface="Cambria Math" panose="02040503050406030204" pitchFamily="18" charset="0"/>
                        </a:rPr>
                        <m:t xml:space="preserve">0</m:t>
                      </m:r>
                    </m:e>
                  </m:d>
                  <m:r>
                    <a:rPr lang="en-US" sz="1600" b="0" i="0" dirty="0">
                      <a:solidFill>
                        <a:srgbClr val="222222"/>
                      </a:solidFill>
                      <a:latin typeface="Cambria Math" panose="02040503050406030204" pitchFamily="18" charset="0"/>
                    </a:rPr>
                    <m:t xml:space="preserve"> + </m:t>
                  </m:r>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A</m:t>
                      </m:r>
                    </m:e>
                    <m:sup>
                      <m:r>
                        <a:rPr lang="en-US" sz="1600" b="0" i="0" dirty="0">
                          <a:solidFill>
                            <a:srgbClr val="222222"/>
                          </a:solidFill>
                          <a:latin typeface="Cambria Math" panose="02040503050406030204" pitchFamily="18" charset="0"/>
                        </a:rPr>
                        <m:t xml:space="preserve">−1</m:t>
                      </m:r>
                    </m:sup>
                  </m:sSup>
                  <m:r>
                    <a:rPr lang="en-US" sz="1600" b="0" i="0" dirty="0">
                      <a:solidFill>
                        <a:srgbClr val="222222"/>
                      </a:solidFill>
                      <a:latin typeface="Cambria Math" panose="02040503050406030204" pitchFamily="18" charset="0"/>
                    </a:rPr>
                    <m:t xml:space="preserve"> </m:t>
                  </m:r>
                  <m:r>
                    <a:rPr lang="en-US" sz="1600" b="0" i="1" dirty="0">
                      <a:solidFill>
                        <a:srgbClr val="222222"/>
                      </a:solidFill>
                      <a:latin typeface="Cambria Math" panose="02040503050406030204" pitchFamily="18" charset="0"/>
                    </a:rPr>
                    <m:t xml:space="preserve">f</m:t>
                  </m:r>
                </m:oMath>
              </m:oMathPara>
            </a14:m>
            <a:endParaRPr lang="en-US" sz="1600" dirty="0"/>
          </a:p>
        </p:txBody>
      </p:sp>
      <p:sp>
        <p:nvSpPr>
          <p:cNvPr id="6" name="TextBox 5"/>
          <p:cNvSpPr txBox="1"/>
          <p:nvPr/>
        </p:nvSpPr>
        <p:spPr>
          <a:xfrm>
            <a:off x="566928" y="2798064"/>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② 効き方は A の逆行列で決まる</a:t>
            </a:r>
          </a:p>
        </p:txBody>
      </p:sp>
      <p:sp>
        <p:nvSpPr>
          <p:cNvPr id="7" name="TextBox 6"/>
          <p:cNvSpPr txBox="1"/>
          <p:nvPr/>
        </p:nvSpPr>
        <p:spPr>
          <a:xfrm>
            <a:off x="704088" y="3127248"/>
            <a:ext cx="10783519" cy="676656"/>
          </a:xfrm>
          <a:prstGeom prst="rect">
            <a:avLst/>
          </a:prstGeom>
          <a:noFill/>
        </p:spPr>
        <p:txBody>
          <a:bodyPr wrap="square" lIns="0" rIns="0" tIns="0" bIns="0">
            <a:spAutoFit/>
          </a:bodyPr>
          <a:lstStyle/>
          <a:p>
            <a:pPr marL="0" indent="0">
              <a:spcAft>
                <a:spcPts val="700"/>
              </a:spcAft>
            </a:pPr>
            <a14:m xmlns:a14="http://schemas.microsoft.com/office/drawing/2010/main">
              <m:oMathPara xmlns:m="http://schemas.openxmlformats.org/officeDocument/2006/math">
                <m:oMathParaPr>
                  <m:jc m:val="left"/>
                </m:oMathParaPr>
                <m:oMath>
                  <m:f>
                    <m:fPr>
                      <m:ctrlPr>
                        <a:rPr lang="en-US" sz="1600" b="0" i="1" dirty="0">
                          <a:solidFill>
                            <a:srgbClr val="222222"/>
                          </a:solidFill>
                          <a:latin typeface="Cambria Math" panose="02040503050406030204" pitchFamily="18" charset="0"/>
                        </a:rPr>
                      </m:ctrlPr>
                    </m:fPr>
                    <m:num>
                      <m:r>
                        <a:rPr lang="en-US" sz="1600" b="0" i="0" dirty="0">
                          <a:solidFill>
                            <a:srgbClr val="222222"/>
                          </a:solidFill>
                          <a:latin typeface="Cambria Math" panose="02040503050406030204" pitchFamily="18" charset="0"/>
                        </a:rPr>
                        <m:t xml:space="preserve">∂</m:t>
                      </m:r>
                      <m:sSup>
                        <m:sSupPr>
                          <m:ctrlPr>
                            <a:rPr lang="en-US" sz="1600" b="0" i="1" dirty="0">
                              <a:solidFill>
                                <a:srgbClr val="222222"/>
                              </a:solidFill>
                              <a:latin typeface="Cambria Math" panose="02040503050406030204" pitchFamily="18" charset="0"/>
                            </a:rPr>
                          </m:ctrlPr>
                        </m:sSupPr>
                        <m:e>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B</m:t>
                              </m:r>
                            </m:e>
                            <m:sub>
                              <m:r>
                                <a:rPr lang="en-US" sz="1600" b="0" i="1" dirty="0">
                                  <a:solidFill>
                                    <a:srgbClr val="222222"/>
                                  </a:solidFill>
                                  <a:latin typeface="Cambria Math" panose="02040503050406030204" pitchFamily="18" charset="0"/>
                                </a:rPr>
                                <m:t xml:space="preserve">i</m:t>
                              </m:r>
                            </m:sub>
                          </m:sSub>
                        </m:e>
                        <m:sup>
                          <m:r>
                            <a:rPr lang="en-US" sz="1600" b="0" i="0" dirty="0">
                              <a:solidFill>
                                <a:srgbClr val="222222"/>
                              </a:solidFill>
                              <a:latin typeface="Cambria Math" panose="02040503050406030204" pitchFamily="18" charset="0"/>
                            </a:rPr>
                            <m:t xml:space="preserve">*</m:t>
                          </m:r>
                        </m:sup>
                      </m:sSup>
                    </m:num>
                    <m:den>
                      <m:r>
                        <a:rPr lang="en-US" sz="1600" b="0" i="0" dirty="0">
                          <a:solidFill>
                            <a:srgbClr val="222222"/>
                          </a:solidFill>
                          <a:latin typeface="Cambria Math" panose="02040503050406030204" pitchFamily="18" charset="0"/>
                        </a:rPr>
                        <m:t xml:space="preserve">∂</m:t>
                      </m:r>
                      <m:sSub>
                        <m:sSubPr>
                          <m:ctrlPr>
                            <a:rPr lang="en-US" sz="1600" b="0" i="1" dirty="0">
                              <a:solidFill>
                                <a:srgbClr val="222222"/>
                              </a:solidFill>
                              <a:latin typeface="Cambria Math" panose="02040503050406030204" pitchFamily="18" charset="0"/>
                            </a:rPr>
                          </m:ctrlPr>
                        </m:sSubPr>
                        <m:e>
                          <m:r>
                            <a:rPr lang="en-US" sz="1600" b="0" i="1" dirty="0">
                              <a:solidFill>
                                <a:srgbClr val="222222"/>
                              </a:solidFill>
                              <a:latin typeface="Cambria Math" panose="02040503050406030204" pitchFamily="18" charset="0"/>
                            </a:rPr>
                            <m:t xml:space="preserve">f</m:t>
                          </m:r>
                        </m:e>
                        <m:sub>
                          <m:r>
                            <a:rPr lang="en-US" sz="1600" b="0" i="1" dirty="0">
                              <a:solidFill>
                                <a:srgbClr val="222222"/>
                              </a:solidFill>
                              <a:latin typeface="Cambria Math" panose="02040503050406030204" pitchFamily="18" charset="0"/>
                            </a:rPr>
                            <m:t xml:space="preserve">j</m:t>
                          </m:r>
                        </m:sub>
                      </m:sSub>
                    </m:den>
                  </m:f>
                  <m:r>
                    <a:rPr lang="en-US" sz="1600" b="0" i="0" dirty="0">
                      <a:solidFill>
                        <a:srgbClr val="222222"/>
                      </a:solidFill>
                      <a:latin typeface="Cambria Math" panose="02040503050406030204" pitchFamily="18" charset="0"/>
                    </a:rPr>
                    <m:t xml:space="preserve"> = </m:t>
                  </m:r>
                  <m:sSub>
                    <m:sSubPr>
                      <m:ctrlPr>
                        <a:rPr lang="en-US" sz="1600" b="0" i="1" dirty="0">
                          <a:solidFill>
                            <a:srgbClr val="222222"/>
                          </a:solidFill>
                          <a:latin typeface="Cambria Math" panose="02040503050406030204" pitchFamily="18" charset="0"/>
                        </a:rPr>
                      </m:ctrlPr>
                    </m:sSubPr>
                    <m:e>
                      <m:d>
                        <m:dPr>
                          <m:begChr m:val="("/>
                          <m:endChr m:val=")"/>
                          <m:ctrlPr>
                            <a:rPr lang="en-US" sz="1600" b="0" i="1" dirty="0">
                              <a:solidFill>
                                <a:srgbClr val="222222"/>
                              </a:solidFill>
                              <a:latin typeface="Cambria Math" panose="02040503050406030204" pitchFamily="18" charset="0"/>
                            </a:rPr>
                          </m:ctrlPr>
                        </m:dPr>
                        <m:e>
                          <m:sSup>
                            <m:sSupPr>
                              <m:ctrlPr>
                                <a:rPr lang="en-US" sz="1600" b="0" i="1" dirty="0">
                                  <a:solidFill>
                                    <a:srgbClr val="222222"/>
                                  </a:solidFill>
                                  <a:latin typeface="Cambria Math" panose="02040503050406030204" pitchFamily="18" charset="0"/>
                                </a:rPr>
                              </m:ctrlPr>
                            </m:sSupPr>
                            <m:e>
                              <m:r>
                                <a:rPr lang="en-US" sz="1600" b="0" i="1" dirty="0">
                                  <a:solidFill>
                                    <a:srgbClr val="222222"/>
                                  </a:solidFill>
                                  <a:latin typeface="Cambria Math" panose="02040503050406030204" pitchFamily="18" charset="0"/>
                                </a:rPr>
                                <m:t xml:space="preserve">A</m:t>
                              </m:r>
                            </m:e>
                            <m:sup>
                              <m:r>
                                <a:rPr lang="en-US" sz="1600" b="0" i="0" dirty="0">
                                  <a:solidFill>
                                    <a:srgbClr val="222222"/>
                                  </a:solidFill>
                                  <a:latin typeface="Cambria Math" panose="02040503050406030204" pitchFamily="18" charset="0"/>
                                </a:rPr>
                                <m:t xml:space="preserve">−1</m:t>
                              </m:r>
                            </m:sup>
                          </m:sSup>
                        </m:e>
                      </m:d>
                    </m:e>
                    <m:sub>
                      <m:r>
                        <a:rPr lang="en-US" sz="1600" b="0" i="1" dirty="0">
                          <a:solidFill>
                            <a:srgbClr val="222222"/>
                          </a:solidFill>
                          <a:latin typeface="Cambria Math" panose="02040503050406030204" pitchFamily="18" charset="0"/>
                        </a:rPr>
                        <m:t xml:space="preserve">ij</m:t>
                      </m:r>
                    </m:sub>
                  </m:sSub>
                </m:oMath>
              </m:oMathPara>
            </a14:m>
            <a:endParaRPr lang="en-US" sz="1600" dirty="0"/>
          </a:p>
        </p:txBody>
      </p:sp>
      <p:sp>
        <p:nvSpPr>
          <p:cNvPr id="8" name="TextBox 7"/>
          <p:cNvSpPr txBox="1"/>
          <p:nvPr/>
        </p:nvSpPr>
        <p:spPr>
          <a:xfrm>
            <a:off x="566928" y="3877056"/>
            <a:ext cx="11057839" cy="1005840"/>
          </a:xfrm>
          <a:prstGeom prst="rect">
            <a:avLst/>
          </a:prstGeom>
          <a:noFill/>
        </p:spPr>
        <p:txBody>
          <a:bodyPr wrap="square" anchor="t" lIns="0" rIns="0" tIns="0" bIns="0">
            <a:spAutoFit/>
          </a:bodyPr>
          <a:lstStyle/>
          <a:p>
            <a:pPr algn="l">
              <a:lnSpc>
                <a:spcPct val="132000"/>
              </a:lnSpc>
              <a:spcAft>
                <a:spcPts val="800"/>
              </a:spcAft>
            </a:pPr>
            <a:r>
              <a:rPr sz="1550" b="0">
                <a:solidFill>
                  <a:srgbClr val="222222"/>
                </a:solidFill>
                <a:latin typeface="Meiryo"/>
                <a:ea typeface="Meiryo"/>
                <a:cs typeface="Meiryo"/>
              </a:rPr>
              <a:t>「自分の漁獲が自分に効かない」とは、A の逆行列の対角がゼロだということ。</a:t>
            </a:r>
          </a:p>
          <a:p>
            <a:pPr algn="l">
              <a:lnSpc>
                <a:spcPct val="132000"/>
              </a:lnSpc>
              <a:spcAft>
                <a:spcPts val="800"/>
              </a:spcAft>
            </a:pPr>
            <a:r>
              <a:rPr sz="1550" b="0">
                <a:solidFill>
                  <a:srgbClr val="C0561A"/>
                </a:solidFill>
                <a:latin typeface="Meiryo"/>
                <a:ea typeface="Meiryo"/>
                <a:cs typeface="Meiryo"/>
              </a:rPr>
              <a:t>注意：A の対角がゼロでも、逆行列の対角がゼロとは限らない。反例 A ＝ [[0,1,1],[1,0,1],[1,1,0]] の逆行列の対角は −1/2。</a:t>
            </a:r>
          </a:p>
        </p:txBody>
      </p:sp>
      <p:sp>
        <p:nvSpPr>
          <p:cNvPr id="9" name="TextBox 8"/>
          <p:cNvSpPr txBox="1"/>
          <p:nvPr/>
        </p:nvSpPr>
        <p:spPr>
          <a:xfrm>
            <a:off x="566928" y="4956048"/>
            <a:ext cx="11057839" cy="292608"/>
          </a:xfrm>
          <a:prstGeom prst="rect">
            <a:avLst/>
          </a:prstGeom>
          <a:noFill/>
        </p:spPr>
        <p:txBody>
          <a:bodyPr wrap="square" anchor="t" lIns="0" rIns="0" tIns="0" bIns="0">
            <a:spAutoFit/>
          </a:bodyPr>
          <a:lstStyle/>
          <a:p>
            <a:pPr algn="l">
              <a:lnSpc>
                <a:spcPct val="132000"/>
              </a:lnSpc>
              <a:spcAft>
                <a:spcPts val="600"/>
              </a:spcAft>
            </a:pPr>
            <a:r>
              <a:rPr sz="1600" b="1">
                <a:solidFill>
                  <a:srgbClr val="1F4E79"/>
                </a:solidFill>
                <a:latin typeface="Meiryo"/>
                <a:ea typeface="Meiryo"/>
                <a:cs typeface="Meiryo"/>
              </a:rPr>
              <a:t>③ 今回のモデルで成り立つ理由</a:t>
            </a:r>
          </a:p>
        </p:txBody>
      </p:sp>
      <p:sp>
        <p:nvSpPr>
          <p:cNvPr id="10" name="TextBox 9"/>
          <p:cNvSpPr txBox="1"/>
          <p:nvPr/>
        </p:nvSpPr>
        <p:spPr>
          <a:xfrm>
            <a:off x="704088" y="5266944"/>
            <a:ext cx="9966960" cy="960120"/>
          </a:xfrm>
          <a:prstGeom prst="rect">
            <a:avLst/>
          </a:prstGeom>
          <a:noFill/>
        </p:spPr>
        <p:txBody>
          <a:bodyPr wrap="square" anchor="t" lIns="0" rIns="0" tIns="0" bIns="0">
            <a:spAutoFit/>
          </a:bodyPr>
          <a:lstStyle/>
          <a:p>
            <a:pPr algn="l">
              <a:lnSpc>
                <a:spcPct val="132000"/>
              </a:lnSpc>
              <a:spcAft>
                <a:spcPts val="600"/>
              </a:spcAft>
            </a:pPr>
            <a:r>
              <a:rPr sz="1500" b="0">
                <a:solidFill>
                  <a:srgbClr val="222222"/>
                </a:solidFill>
                <a:latin typeface="Meiryo"/>
                <a:ea typeface="Meiryo"/>
                <a:cs typeface="Meiryo"/>
              </a:rPr>
              <a:t>A は餌の段と食べる段の「あいだ」にしか値がない形（5枚目の灰色の位置がゼロ）。このとき逆行列も同じ形になり、対角がゼロになる。</a:t>
            </a:r>
          </a:p>
          <a:p>
            <a:pPr algn="l">
              <a:lnSpc>
                <a:spcPct val="132000"/>
              </a:lnSpc>
              <a:spcAft>
                <a:spcPts val="600"/>
              </a:spcAft>
            </a:pPr>
            <a:r>
              <a:rPr sz="1500" b="0">
                <a:solidFill>
                  <a:srgbClr val="222222"/>
                </a:solidFill>
                <a:latin typeface="Meiryo"/>
                <a:ea typeface="Meiryo"/>
                <a:cs typeface="Meiryo"/>
              </a:rPr>
              <a:t>餌の魚どうしの取り合いを入れると対角はゼロでなくなり、内側の最大が戻りうる。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